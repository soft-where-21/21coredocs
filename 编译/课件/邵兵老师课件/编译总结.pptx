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6" r:id="rId2"/>
    <p:sldId id="266" r:id="rId3"/>
    <p:sldId id="267" r:id="rId4"/>
    <p:sldId id="268" r:id="rId5"/>
    <p:sldId id="270" r:id="rId6"/>
    <p:sldId id="271" r:id="rId7"/>
    <p:sldId id="272" r:id="rId8"/>
    <p:sldId id="274" r:id="rId9"/>
    <p:sldId id="281" r:id="rId10"/>
    <p:sldId id="275" r:id="rId11"/>
    <p:sldId id="276" r:id="rId12"/>
    <p:sldId id="280" r:id="rId13"/>
    <p:sldId id="277" r:id="rId14"/>
    <p:sldId id="283" r:id="rId15"/>
    <p:sldId id="278" r:id="rId16"/>
    <p:sldId id="279" r:id="rId17"/>
    <p:sldId id="282" r:id="rId18"/>
    <p:sldId id="284" r:id="rId19"/>
    <p:sldId id="286" r:id="rId20"/>
    <p:sldId id="285"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3" r:id="rId37"/>
    <p:sldId id="302" r:id="rId38"/>
    <p:sldId id="304" r:id="rId39"/>
    <p:sldId id="305" r:id="rId40"/>
    <p:sldId id="307" r:id="rId41"/>
    <p:sldId id="306" r:id="rId42"/>
    <p:sldId id="308" r:id="rId43"/>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anose="0201060903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anose="0201060903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anose="0201060903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anose="0201060903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楷体_GB2312" panose="0201060903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楷体_GB2312" panose="0201060903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楷体_GB2312" panose="0201060903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楷体_GB2312" panose="0201060903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楷体_GB2312" panose="0201060903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006666"/>
    <a:srgbClr val="003300"/>
    <a:srgbClr val="99FFCC"/>
    <a:srgbClr val="339933"/>
    <a:srgbClr val="CCFFCC"/>
    <a:srgbClr val="FFFFE7"/>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autoAdjust="0"/>
  </p:normalViewPr>
  <p:slideViewPr>
    <p:cSldViewPr snapToObjects="1">
      <p:cViewPr varScale="1">
        <p:scale>
          <a:sx n="87" d="100"/>
          <a:sy n="87" d="100"/>
        </p:scale>
        <p:origin x="141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1398" y="-7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921D0B8-9E8C-420D-97E5-4C23A7236C8D}"/>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ea typeface="仿宋_GB2312" pitchFamily="49" charset="-122"/>
              </a:defRPr>
            </a:lvl1pPr>
          </a:lstStyle>
          <a:p>
            <a:pPr>
              <a:defRPr/>
            </a:pPr>
            <a:endParaRPr lang="en-US" altLang="zh-CN"/>
          </a:p>
        </p:txBody>
      </p:sp>
      <p:sp>
        <p:nvSpPr>
          <p:cNvPr id="3075" name="Rectangle 3">
            <a:extLst>
              <a:ext uri="{FF2B5EF4-FFF2-40B4-BE49-F238E27FC236}">
                <a16:creationId xmlns:a16="http://schemas.microsoft.com/office/drawing/2014/main" id="{7DB9CAB9-3504-4BFB-A3A1-19B1CB488178}"/>
              </a:ext>
            </a:extLst>
          </p:cNvPr>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ea typeface="仿宋_GB2312" pitchFamily="49" charset="-122"/>
              </a:defRPr>
            </a:lvl1pPr>
          </a:lstStyle>
          <a:p>
            <a:pPr>
              <a:defRPr/>
            </a:pPr>
            <a:endParaRPr lang="en-US" altLang="zh-CN"/>
          </a:p>
        </p:txBody>
      </p:sp>
      <p:sp>
        <p:nvSpPr>
          <p:cNvPr id="3076" name="Rectangle 4">
            <a:extLst>
              <a:ext uri="{FF2B5EF4-FFF2-40B4-BE49-F238E27FC236}">
                <a16:creationId xmlns:a16="http://schemas.microsoft.com/office/drawing/2014/main" id="{7F8EAD43-FB54-4950-BBE1-D6063A1188E2}"/>
              </a:ext>
            </a:extLst>
          </p:cNvPr>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ea typeface="仿宋_GB2312" pitchFamily="49" charset="-122"/>
              </a:defRPr>
            </a:lvl1pPr>
          </a:lstStyle>
          <a:p>
            <a:pPr>
              <a:defRPr/>
            </a:pPr>
            <a:endParaRPr lang="en-US" altLang="zh-CN"/>
          </a:p>
        </p:txBody>
      </p:sp>
      <p:sp>
        <p:nvSpPr>
          <p:cNvPr id="3077" name="Rectangle 5">
            <a:extLst>
              <a:ext uri="{FF2B5EF4-FFF2-40B4-BE49-F238E27FC236}">
                <a16:creationId xmlns:a16="http://schemas.microsoft.com/office/drawing/2014/main" id="{6A94361C-5319-489C-9EF8-A3659DB874CC}"/>
              </a:ext>
            </a:extLst>
          </p:cNvPr>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ea typeface="仿宋_GB2312" panose="02010609030101010101" pitchFamily="49" charset="-122"/>
              </a:defRPr>
            </a:lvl1pPr>
          </a:lstStyle>
          <a:p>
            <a:pPr>
              <a:defRPr/>
            </a:pPr>
            <a:fld id="{49B2B10E-1C9F-4065-8F08-98EE5F5915C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4A4C3BD-1C87-4BB5-9D45-50219B54EF02}"/>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ea typeface="仿宋_GB2312" pitchFamily="49" charset="-122"/>
              </a:defRPr>
            </a:lvl1pPr>
          </a:lstStyle>
          <a:p>
            <a:pPr>
              <a:defRPr/>
            </a:pPr>
            <a:endParaRPr lang="en-US" altLang="zh-CN"/>
          </a:p>
        </p:txBody>
      </p:sp>
      <p:sp>
        <p:nvSpPr>
          <p:cNvPr id="2051" name="Rectangle 3">
            <a:extLst>
              <a:ext uri="{FF2B5EF4-FFF2-40B4-BE49-F238E27FC236}">
                <a16:creationId xmlns:a16="http://schemas.microsoft.com/office/drawing/2014/main" id="{28008E89-9E8E-4791-AAC9-7DE61AD7C1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ea typeface="仿宋_GB2312" pitchFamily="49" charset="-122"/>
              </a:defRPr>
            </a:lvl1pPr>
          </a:lstStyle>
          <a:p>
            <a:pPr>
              <a:defRPr/>
            </a:pPr>
            <a:endParaRPr lang="en-US" altLang="zh-CN"/>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a:extLst>
              <a:ext uri="{FF2B5EF4-FFF2-40B4-BE49-F238E27FC236}">
                <a16:creationId xmlns:a16="http://schemas.microsoft.com/office/drawing/2014/main" id="{4919047C-9B73-42A3-A843-D214844EE243}"/>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2D7E5972-423E-4D7B-A6C1-897725D6E036}"/>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ea typeface="仿宋_GB2312" pitchFamily="49" charset="-122"/>
              </a:defRPr>
            </a:lvl1pPr>
          </a:lstStyle>
          <a:p>
            <a:pPr>
              <a:defRPr/>
            </a:pPr>
            <a:endParaRPr lang="en-US" altLang="zh-CN"/>
          </a:p>
        </p:txBody>
      </p:sp>
      <p:sp>
        <p:nvSpPr>
          <p:cNvPr id="2055" name="Rectangle 7">
            <a:extLst>
              <a:ext uri="{FF2B5EF4-FFF2-40B4-BE49-F238E27FC236}">
                <a16:creationId xmlns:a16="http://schemas.microsoft.com/office/drawing/2014/main" id="{E70CE899-E404-48A8-A342-4B82C0CE52F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ea typeface="仿宋_GB2312" panose="02010609030101010101" pitchFamily="49" charset="-122"/>
              </a:defRPr>
            </a:lvl1pPr>
          </a:lstStyle>
          <a:p>
            <a:pPr>
              <a:defRPr/>
            </a:pPr>
            <a:fld id="{76CC3402-78E3-42D2-AD5C-DC3CA3CE206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仿宋_GB2312" pitchFamily="49"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仿宋_GB2312" pitchFamily="49"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仿宋_GB2312" pitchFamily="49"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仿宋_GB2312" pitchFamily="49"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仿宋_GB2312"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baike.baidu.com/view/364403.htm" TargetMode="External"/><Relationship Id="rId3" Type="http://schemas.openxmlformats.org/officeDocument/2006/relationships/hyperlink" Target="http://baike.baidu.com/view/6159.htm" TargetMode="External"/><Relationship Id="rId7" Type="http://schemas.openxmlformats.org/officeDocument/2006/relationships/hyperlink" Target="http://baike.baidu.com/view/552847.htm" TargetMode="External"/><Relationship Id="rId12" Type="http://schemas.openxmlformats.org/officeDocument/2006/relationships/hyperlink" Target="http://baike.baidu.com/view/159417.htm" TargetMode="External"/><Relationship Id="rId2" Type="http://schemas.openxmlformats.org/officeDocument/2006/relationships/slide" Target="../slides/slide30.xml"/><Relationship Id="rId1" Type="http://schemas.openxmlformats.org/officeDocument/2006/relationships/notesMaster" Target="../notesMasters/notesMaster1.xml"/><Relationship Id="rId6" Type="http://schemas.openxmlformats.org/officeDocument/2006/relationships/hyperlink" Target="http://baike.baidu.com/view/15061.htm" TargetMode="External"/><Relationship Id="rId11" Type="http://schemas.openxmlformats.org/officeDocument/2006/relationships/hyperlink" Target="http://baike.baidu.com/view/1418486.htm" TargetMode="External"/><Relationship Id="rId5" Type="http://schemas.openxmlformats.org/officeDocument/2006/relationships/hyperlink" Target="http://baike.baidu.com/view/93201.htm" TargetMode="External"/><Relationship Id="rId10" Type="http://schemas.openxmlformats.org/officeDocument/2006/relationships/hyperlink" Target="http://baike.baidu.com/view/178461.htm" TargetMode="External"/><Relationship Id="rId4" Type="http://schemas.openxmlformats.org/officeDocument/2006/relationships/hyperlink" Target="http://baike.baidu.com/view/487018.htm" TargetMode="External"/><Relationship Id="rId9" Type="http://schemas.openxmlformats.org/officeDocument/2006/relationships/hyperlink" Target="http://baike.baidu.com/view/1082.htm"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5EA1B65F-B1F7-454E-B9AD-CA23D5E730AB}" type="slidenum">
              <a:rPr lang="en-US" altLang="zh-CN" sz="1200" smtClean="0">
                <a:ea typeface="仿宋_GB2312" panose="02010609030101010101" pitchFamily="49" charset="-122"/>
              </a:rPr>
              <a:pPr/>
              <a:t>1</a:t>
            </a:fld>
            <a:endParaRPr lang="en-US" altLang="zh-CN" sz="1200" smtClean="0">
              <a:ea typeface="仿宋_GB2312" panose="02010609030101010101" pitchFamily="49" charset="-122"/>
            </a:endParaRPr>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ChangeArrowheads="1" noTextEdit="1"/>
          </p:cNvSpPr>
          <p:nvPr>
            <p:ph type="sldImg" idx="4294967295"/>
          </p:nvPr>
        </p:nvSpPr>
        <p:spPr>
          <a:ln/>
        </p:spPr>
      </p:sp>
      <p:sp>
        <p:nvSpPr>
          <p:cNvPr id="44035" name="备注占位符 2"/>
          <p:cNvSpPr>
            <a:spLocks noGrp="1" noChangeArrowheads="1"/>
          </p:cNvSpPr>
          <p:nvPr>
            <p:ph type="body" idx="4294967295"/>
          </p:nvPr>
        </p:nvSpPr>
        <p:spPr/>
        <p:txBody>
          <a:bodyPr>
            <a:prstTxWarp prst="textNoShape">
              <a:avLst/>
            </a:prstTxWarp>
          </a:bodyPr>
          <a:lstStyle/>
          <a:p>
            <a:r>
              <a:rPr lang="en-US" altLang="zh-CN" smtClean="0"/>
              <a:t>1</a:t>
            </a:r>
            <a:r>
              <a:rPr lang="zh-CN" altLang="zh-CN" smtClean="0"/>
              <a:t>）代码区。该区域存放目标代码。大部分程序的目标代码空间大小可以在编译过程中得知。部分面向</a:t>
            </a:r>
            <a:r>
              <a:rPr lang="en-US" altLang="zh-CN" smtClean="0"/>
              <a:t>RISC</a:t>
            </a:r>
            <a:r>
              <a:rPr lang="zh-CN" altLang="zh-CN" smtClean="0"/>
              <a:t>架构的编译器，也会把无法编入指令代码的较大常数放入代码区，作为目标代码的一部分。程序在运行过程中，可以通过指令寄存器</a:t>
            </a:r>
            <a:r>
              <a:rPr lang="en-US" altLang="zh-CN" smtClean="0"/>
              <a:t>PC</a:t>
            </a:r>
            <a:r>
              <a:rPr lang="zh-CN" altLang="zh-CN" smtClean="0"/>
              <a:t>的相对位置载入此类常数。</a:t>
            </a:r>
          </a:p>
          <a:p>
            <a:r>
              <a:rPr lang="en-US" altLang="zh-CN" smtClean="0"/>
              <a:t>2</a:t>
            </a:r>
            <a:r>
              <a:rPr lang="zh-CN" altLang="zh-CN" smtClean="0"/>
              <a:t>）静态数据区。</a:t>
            </a:r>
            <a:r>
              <a:rPr lang="en-US" altLang="zh-CN" smtClean="0"/>
              <a:t>C</a:t>
            </a:r>
            <a:r>
              <a:rPr lang="zh-CN" altLang="zh-CN" smtClean="0"/>
              <a:t>或者</a:t>
            </a:r>
            <a:r>
              <a:rPr lang="en-US" altLang="zh-CN" smtClean="0"/>
              <a:t>C++</a:t>
            </a:r>
            <a:r>
              <a:rPr lang="zh-CN" altLang="en-US" smtClean="0"/>
              <a:t>中</a:t>
            </a:r>
            <a:r>
              <a:rPr lang="zh-CN" altLang="zh-CN" smtClean="0"/>
              <a:t>，全局变量以及静态变量，将单独保存在一个数据区中。该数据区的大小在编译过程中可以得知。</a:t>
            </a:r>
            <a:endParaRPr lang="en-US" altLang="zh-CN" smtClean="0"/>
          </a:p>
          <a:p>
            <a:r>
              <a:rPr lang="zh-CN" altLang="zh-CN" smtClean="0"/>
              <a:t>静态变量由于在函数返回后仍需要保有有效数值，因此该类变量不存在于程序运行栈，而是和全局变量一起管理。</a:t>
            </a:r>
            <a:endParaRPr lang="en-US" altLang="zh-CN" smtClean="0"/>
          </a:p>
          <a:p>
            <a:r>
              <a:rPr lang="zh-CN" altLang="zh-CN" smtClean="0"/>
              <a:t>程序中的部分常量，例如一些整型或者枚举类型的常量，已经编入目标代码的指令当中，编译器不再为它们指定额外的存贮空间；其他常量，例如字符串，编译器也可将其放入静态数据区进行管理。</a:t>
            </a:r>
          </a:p>
          <a:p>
            <a:r>
              <a:rPr lang="en-US" altLang="zh-CN" smtClean="0"/>
              <a:t>3</a:t>
            </a:r>
            <a:r>
              <a:rPr lang="zh-CN" altLang="zh-CN" smtClean="0"/>
              <a:t>）动态内存区，也被称为内存堆</a:t>
            </a:r>
            <a:r>
              <a:rPr lang="en-US" altLang="zh-CN" smtClean="0"/>
              <a:t>Heap</a:t>
            </a:r>
            <a:r>
              <a:rPr lang="zh-CN" altLang="zh-CN" smtClean="0"/>
              <a:t>。程序在运行过程中，例如对象、指针动态数组等数据结构，需要动态申请和释放它们的内存空间。这些内存空间都属于内存堆的管理范围。操作系统提供接口来申请和释放空间，编译器只需在生成代码时，调用相应的接口即可。如果程序员申请了内存而忘记释放，将导致程序出现内存泄漏的现象。如果指针未申请空间便使用，或者多次释放指向同一地址的指针，则会导致程序运行错误或产生异常。对于</a:t>
            </a:r>
            <a:r>
              <a:rPr lang="en-US" altLang="zh-CN" smtClean="0"/>
              <a:t>C</a:t>
            </a:r>
            <a:r>
              <a:rPr lang="zh-CN" altLang="zh-CN" smtClean="0"/>
              <a:t>或者</a:t>
            </a:r>
            <a:r>
              <a:rPr lang="en-US" altLang="zh-CN" smtClean="0"/>
              <a:t>C++</a:t>
            </a:r>
            <a:r>
              <a:rPr lang="zh-CN" altLang="zh-CN" smtClean="0"/>
              <a:t>程序，动态数据结构和指针的管理主要依赖程序员本身，编译器只是根据指针的申请、释放或访问等不同操作生成相应代码。某些语言。例如</a:t>
            </a:r>
            <a:r>
              <a:rPr lang="en-US" altLang="zh-CN" smtClean="0"/>
              <a:t>ADA</a:t>
            </a:r>
            <a:r>
              <a:rPr lang="zh-CN" altLang="zh-CN" smtClean="0"/>
              <a:t>或者</a:t>
            </a:r>
            <a:r>
              <a:rPr lang="en-US" altLang="zh-CN" smtClean="0"/>
              <a:t>Java</a:t>
            </a:r>
            <a:r>
              <a:rPr lang="zh-CN" altLang="zh-CN" smtClean="0"/>
              <a:t>，采用内存垃圾收集器（</a:t>
            </a:r>
            <a:r>
              <a:rPr lang="en-US" altLang="zh-CN" smtClean="0"/>
              <a:t>Garbage Collector</a:t>
            </a:r>
            <a:r>
              <a:rPr lang="zh-CN" altLang="zh-CN" smtClean="0"/>
              <a:t>）来自动动态管理内存堆。在此类程序中，动态内存空间通过内存垃圾收集器，而不是程序员来管理。内存垃圾收集器将根据对象在程序将来的运行过程中是否会被再次访问来决定是否回收该对象的空间，无需程序员干预。这样的机制对提高大型程序的可靠性，降低测试成本都具有重要的意义。</a:t>
            </a:r>
          </a:p>
          <a:p>
            <a:r>
              <a:rPr lang="en-US" altLang="zh-CN" smtClean="0"/>
              <a:t>4</a:t>
            </a:r>
            <a:r>
              <a:rPr lang="zh-CN" altLang="zh-CN" smtClean="0"/>
              <a:t>）程序运行栈。本书此前介绍过活动记录的功能和意义，活动记录的存放区域就是程序运行栈。程序运行栈除了用来放置函数的活动记录，还记录了函数调用的上下文现场，其中包括为了保证被调用函数返回后，程序仍能正确运行而由调用方保存的一些临时寄存器（也被称为</a:t>
            </a:r>
            <a:r>
              <a:rPr lang="en-US" altLang="zh-CN" smtClean="0"/>
              <a:t>scratch register</a:t>
            </a:r>
            <a:r>
              <a:rPr lang="zh-CN" altLang="zh-CN" smtClean="0"/>
              <a:t>或者</a:t>
            </a:r>
            <a:r>
              <a:rPr lang="en-US" altLang="zh-CN" smtClean="0"/>
              <a:t>caller-saved register</a:t>
            </a:r>
            <a:r>
              <a:rPr lang="zh-CN" altLang="zh-CN" smtClean="0"/>
              <a:t>）和临时变量值，以及被调用方保存的一些全局寄存器（也被称为</a:t>
            </a:r>
            <a:r>
              <a:rPr lang="en-US" altLang="zh-CN" smtClean="0"/>
              <a:t>global register</a:t>
            </a:r>
            <a:r>
              <a:rPr lang="zh-CN" altLang="zh-CN" smtClean="0"/>
              <a:t>，</a:t>
            </a:r>
            <a:r>
              <a:rPr lang="en-US" altLang="zh-CN" smtClean="0"/>
              <a:t>permanent register</a:t>
            </a:r>
            <a:r>
              <a:rPr lang="zh-CN" altLang="zh-CN" smtClean="0"/>
              <a:t>或者</a:t>
            </a:r>
            <a:r>
              <a:rPr lang="en-US" altLang="zh-CN" smtClean="0"/>
              <a:t>callee-saved register </a:t>
            </a:r>
            <a:r>
              <a:rPr lang="zh-CN" altLang="zh-CN" smtClean="0"/>
              <a:t>）等。</a:t>
            </a:r>
          </a:p>
          <a:p>
            <a:r>
              <a:rPr lang="en-US" altLang="zh-CN" smtClean="0"/>
              <a:t> </a:t>
            </a:r>
            <a:endParaRPr lang="zh-CN" altLang="zh-CN" smtClean="0"/>
          </a:p>
        </p:txBody>
      </p:sp>
      <p:sp>
        <p:nvSpPr>
          <p:cNvPr id="44036"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1EE3D2EA-1DF4-4B67-9BBB-98C269005349}" type="slidenum">
              <a:rPr lang="en-US" altLang="zh-CN" sz="1800" smtClean="0"/>
              <a:pPr/>
              <a:t>25</a:t>
            </a:fld>
            <a:endParaRPr lang="en-US" altLang="zh-CN" sz="1800" smtClean="0"/>
          </a:p>
        </p:txBody>
      </p:sp>
    </p:spTree>
    <p:extLst>
      <p:ext uri="{BB962C8B-B14F-4D97-AF65-F5344CB8AC3E}">
        <p14:creationId xmlns:p14="http://schemas.microsoft.com/office/powerpoint/2010/main" val="4022056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idx="4294967295"/>
          </p:nvPr>
        </p:nvSpPr>
        <p:spPr>
          <a:ln/>
        </p:spPr>
      </p:sp>
      <p:sp>
        <p:nvSpPr>
          <p:cNvPr id="46083" name="备注占位符 2"/>
          <p:cNvSpPr>
            <a:spLocks noGrp="1" noChangeArrowheads="1"/>
          </p:cNvSpPr>
          <p:nvPr>
            <p:ph type="body" idx="4294967295"/>
          </p:nvPr>
        </p:nvSpPr>
        <p:spPr/>
        <p:txBody>
          <a:bodyPr>
            <a:prstTxWarp prst="textNoShape">
              <a:avLst/>
            </a:prstTxWarp>
          </a:bodyPr>
          <a:lstStyle/>
          <a:p>
            <a:r>
              <a:rPr lang="en-US" altLang="zh-CN" smtClean="0"/>
              <a:t>1-3</a:t>
            </a:r>
            <a:r>
              <a:rPr lang="zh-CN" altLang="en-US" smtClean="0"/>
              <a:t>行：说明在</a:t>
            </a:r>
            <a:r>
              <a:rPr lang="en-US" altLang="zh-CN" smtClean="0"/>
              <a:t>386</a:t>
            </a:r>
            <a:r>
              <a:rPr lang="zh-CN" altLang="zh-CN" smtClean="0"/>
              <a:t>保护模式下，采用</a:t>
            </a:r>
            <a:r>
              <a:rPr lang="en-US" altLang="zh-CN" smtClean="0"/>
              <a:t>FLAT</a:t>
            </a:r>
            <a:r>
              <a:rPr lang="zh-CN" altLang="zh-CN" smtClean="0"/>
              <a:t>寻址方式的汇编代码，即所有代码和数据，包括内存堆和运行栈，都在一个统一寻址的</a:t>
            </a:r>
            <a:r>
              <a:rPr lang="en-US" altLang="zh-CN" smtClean="0"/>
              <a:t>32</a:t>
            </a:r>
            <a:r>
              <a:rPr lang="zh-CN" altLang="zh-CN" smtClean="0"/>
              <a:t>位地址空间中</a:t>
            </a:r>
            <a:endParaRPr lang="en-US" altLang="zh-CN" smtClean="0"/>
          </a:p>
          <a:p>
            <a:r>
              <a:rPr lang="en-US" altLang="zh-CN" smtClean="0"/>
              <a:t>6</a:t>
            </a:r>
            <a:r>
              <a:rPr lang="zh-CN" altLang="zh-CN" smtClean="0"/>
              <a:t>～</a:t>
            </a:r>
            <a:r>
              <a:rPr lang="en-US" altLang="zh-CN" smtClean="0"/>
              <a:t>9</a:t>
            </a:r>
            <a:r>
              <a:rPr lang="zh-CN" altLang="zh-CN" smtClean="0"/>
              <a:t>行定义了一个</a:t>
            </a:r>
            <a:r>
              <a:rPr lang="en-US" altLang="zh-CN" smtClean="0"/>
              <a:t>BSS</a:t>
            </a:r>
            <a:r>
              <a:rPr lang="zh-CN" altLang="zh-CN" smtClean="0"/>
              <a:t>段，其中包含两个</a:t>
            </a:r>
            <a:r>
              <a:rPr lang="en-US" altLang="zh-CN" smtClean="0"/>
              <a:t>DWORD</a:t>
            </a:r>
            <a:r>
              <a:rPr lang="zh-CN" altLang="zh-CN" smtClean="0"/>
              <a:t>类型的变量，分别对应源代码中的全局变量</a:t>
            </a:r>
            <a:r>
              <a:rPr lang="en-US" altLang="zh-CN" smtClean="0"/>
              <a:t>global_val</a:t>
            </a:r>
            <a:r>
              <a:rPr lang="zh-CN" altLang="zh-CN" smtClean="0"/>
              <a:t>和</a:t>
            </a:r>
            <a:r>
              <a:rPr lang="en-US" altLang="zh-CN" smtClean="0"/>
              <a:t>foo</a:t>
            </a:r>
            <a:r>
              <a:rPr lang="zh-CN" altLang="zh-CN" smtClean="0"/>
              <a:t>函数中的静态变量</a:t>
            </a:r>
            <a:r>
              <a:rPr lang="en-US" altLang="zh-CN" smtClean="0"/>
              <a:t>static_val</a:t>
            </a:r>
            <a:r>
              <a:rPr lang="zh-CN" altLang="zh-CN" smtClean="0"/>
              <a:t>。注意</a:t>
            </a:r>
            <a:r>
              <a:rPr lang="en-US" altLang="zh-CN" smtClean="0"/>
              <a:t>VC</a:t>
            </a:r>
            <a:r>
              <a:rPr lang="zh-CN" altLang="zh-CN" smtClean="0"/>
              <a:t>编译器在标识符前后添加了附加符号，与源代码中的变量名有所区别。</a:t>
            </a:r>
            <a:endParaRPr lang="en-US" altLang="zh-CN" smtClean="0"/>
          </a:p>
          <a:p>
            <a:r>
              <a:rPr lang="en-US" altLang="zh-CN" smtClean="0"/>
              <a:t>13</a:t>
            </a:r>
            <a:r>
              <a:rPr lang="zh-CN" altLang="zh-CN" smtClean="0"/>
              <a:t>～</a:t>
            </a:r>
            <a:r>
              <a:rPr lang="en-US" altLang="zh-CN" smtClean="0"/>
              <a:t>15</a:t>
            </a:r>
            <a:r>
              <a:rPr lang="zh-CN" altLang="zh-CN" smtClean="0"/>
              <a:t>行，以及</a:t>
            </a:r>
            <a:r>
              <a:rPr lang="en-US" altLang="zh-CN" smtClean="0"/>
              <a:t>25</a:t>
            </a:r>
            <a:r>
              <a:rPr lang="zh-CN" altLang="zh-CN" smtClean="0"/>
              <a:t>～</a:t>
            </a:r>
            <a:r>
              <a:rPr lang="en-US" altLang="zh-CN" smtClean="0"/>
              <a:t>27</a:t>
            </a:r>
            <a:r>
              <a:rPr lang="zh-CN" altLang="zh-CN" smtClean="0"/>
              <a:t>行定义了在</a:t>
            </a:r>
            <a:r>
              <a:rPr lang="en-US" altLang="zh-CN" smtClean="0"/>
              <a:t>printf</a:t>
            </a:r>
            <a:r>
              <a:rPr lang="zh-CN" altLang="zh-CN" smtClean="0"/>
              <a:t>函数中使用的字符串常量。图</a:t>
            </a:r>
            <a:r>
              <a:rPr lang="en-US" altLang="zh-CN" smtClean="0"/>
              <a:t>12.8</a:t>
            </a:r>
            <a:r>
              <a:rPr lang="zh-CN" altLang="zh-CN" smtClean="0"/>
              <a:t>中省略了函数体。</a:t>
            </a:r>
            <a:endParaRPr lang="en-US" altLang="zh-CN" smtClean="0"/>
          </a:p>
          <a:p>
            <a:r>
              <a:rPr lang="zh-CN" altLang="zh-CN" smtClean="0"/>
              <a:t>可以看到程序的代码区（</a:t>
            </a:r>
            <a:r>
              <a:rPr lang="en-US" altLang="zh-CN" smtClean="0"/>
              <a:t>16</a:t>
            </a:r>
            <a:r>
              <a:rPr lang="zh-CN" altLang="zh-CN" smtClean="0"/>
              <a:t>～</a:t>
            </a:r>
            <a:r>
              <a:rPr lang="en-US" altLang="zh-CN" smtClean="0"/>
              <a:t>21</a:t>
            </a:r>
            <a:r>
              <a:rPr lang="zh-CN" altLang="zh-CN" smtClean="0"/>
              <a:t>行，</a:t>
            </a:r>
            <a:r>
              <a:rPr lang="en-US" altLang="zh-CN" smtClean="0"/>
              <a:t>32</a:t>
            </a:r>
            <a:r>
              <a:rPr lang="zh-CN" altLang="zh-CN" smtClean="0"/>
              <a:t>行）和静态数据区（</a:t>
            </a:r>
            <a:r>
              <a:rPr lang="en-US" altLang="zh-CN" smtClean="0"/>
              <a:t>6</a:t>
            </a:r>
            <a:r>
              <a:rPr lang="zh-CN" altLang="zh-CN" smtClean="0"/>
              <a:t>～</a:t>
            </a:r>
            <a:r>
              <a:rPr lang="en-US" altLang="zh-CN" smtClean="0"/>
              <a:t>9</a:t>
            </a:r>
            <a:r>
              <a:rPr lang="zh-CN" altLang="zh-CN" smtClean="0"/>
              <a:t>行，</a:t>
            </a:r>
            <a:r>
              <a:rPr lang="en-US" altLang="zh-CN" smtClean="0"/>
              <a:t>13</a:t>
            </a:r>
            <a:r>
              <a:rPr lang="zh-CN" altLang="zh-CN" smtClean="0"/>
              <a:t>～</a:t>
            </a:r>
            <a:r>
              <a:rPr lang="en-US" altLang="zh-CN" smtClean="0"/>
              <a:t>15</a:t>
            </a:r>
            <a:r>
              <a:rPr lang="zh-CN" altLang="zh-CN" smtClean="0"/>
              <a:t>行，</a:t>
            </a:r>
            <a:r>
              <a:rPr lang="en-US" altLang="zh-CN" smtClean="0"/>
              <a:t>25</a:t>
            </a:r>
            <a:r>
              <a:rPr lang="zh-CN" altLang="zh-CN" smtClean="0"/>
              <a:t>～</a:t>
            </a:r>
            <a:r>
              <a:rPr lang="en-US" altLang="zh-CN" smtClean="0"/>
              <a:t>27</a:t>
            </a:r>
            <a:r>
              <a:rPr lang="zh-CN" altLang="zh-CN" smtClean="0"/>
              <a:t>行）。尽管静态数据区的数据在汇编代码中是分开定义的，但在程序运行时，它们的地址通常会被安排在一起。</a:t>
            </a:r>
          </a:p>
          <a:p>
            <a:endParaRPr lang="zh-CN" altLang="en-US" smtClean="0"/>
          </a:p>
        </p:txBody>
      </p:sp>
      <p:sp>
        <p:nvSpPr>
          <p:cNvPr id="46084"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98719E97-DBE1-49CE-A267-9A41CA207FF3}" type="slidenum">
              <a:rPr lang="en-US" altLang="zh-CN" sz="1800" smtClean="0"/>
              <a:pPr/>
              <a:t>26</a:t>
            </a:fld>
            <a:endParaRPr lang="en-US" altLang="zh-CN" sz="1800" smtClean="0"/>
          </a:p>
        </p:txBody>
      </p:sp>
    </p:spTree>
    <p:extLst>
      <p:ext uri="{BB962C8B-B14F-4D97-AF65-F5344CB8AC3E}">
        <p14:creationId xmlns:p14="http://schemas.microsoft.com/office/powerpoint/2010/main" val="1798493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p:spPr>
      </p:sp>
      <p:sp>
        <p:nvSpPr>
          <p:cNvPr id="50179" name="备注占位符 2"/>
          <p:cNvSpPr>
            <a:spLocks noGrp="1" noChangeArrowheads="1"/>
          </p:cNvSpPr>
          <p:nvPr>
            <p:ph type="body" idx="1"/>
          </p:nvPr>
        </p:nvSpPr>
        <p:spPr/>
        <p:txBody>
          <a:bodyPr>
            <a:prstTxWarp prst="textNoShape">
              <a:avLst/>
            </a:prstTxWarp>
          </a:bodyPr>
          <a:lstStyle/>
          <a:p>
            <a:r>
              <a:rPr lang="zh-CN" altLang="en-US" smtClean="0"/>
              <a:t>用寄存器传递参数</a:t>
            </a:r>
          </a:p>
        </p:txBody>
      </p:sp>
      <p:sp>
        <p:nvSpPr>
          <p:cNvPr id="50180"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E2876CCD-1B9C-41ED-8B4F-5C42D62187A1}" type="slidenum">
              <a:rPr lang="en-US" altLang="zh-CN" sz="1800" smtClean="0"/>
              <a:pPr/>
              <a:t>29</a:t>
            </a:fld>
            <a:endParaRPr lang="en-US" altLang="zh-CN" sz="1800" smtClean="0"/>
          </a:p>
        </p:txBody>
      </p:sp>
    </p:spTree>
    <p:extLst>
      <p:ext uri="{BB962C8B-B14F-4D97-AF65-F5344CB8AC3E}">
        <p14:creationId xmlns:p14="http://schemas.microsoft.com/office/powerpoint/2010/main" val="2182979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ChangeArrowheads="1" noTextEdit="1"/>
          </p:cNvSpPr>
          <p:nvPr>
            <p:ph type="sldImg" idx="4294967295"/>
          </p:nvPr>
        </p:nvSpPr>
        <p:spPr>
          <a:ln/>
        </p:spPr>
      </p:sp>
      <p:sp>
        <p:nvSpPr>
          <p:cNvPr id="52227" name="备注占位符 2"/>
          <p:cNvSpPr>
            <a:spLocks noGrp="1" noChangeArrowheads="1"/>
          </p:cNvSpPr>
          <p:nvPr>
            <p:ph type="body" idx="4294967295"/>
          </p:nvPr>
        </p:nvSpPr>
        <p:spPr/>
        <p:txBody>
          <a:bodyPr>
            <a:prstTxWarp prst="textNoShape">
              <a:avLst/>
            </a:prstTxWarp>
          </a:bodyPr>
          <a:lstStyle/>
          <a:p>
            <a:r>
              <a:rPr lang="zh-CN" altLang="en-US" smtClean="0"/>
              <a:t>多了一些寄存器</a:t>
            </a:r>
            <a:endParaRPr lang="en-US" altLang="zh-CN" smtClean="0"/>
          </a:p>
          <a:p>
            <a:r>
              <a:rPr lang="en-US" altLang="zh-CN" smtClean="0"/>
              <a:t>EBP</a:t>
            </a:r>
            <a:r>
              <a:rPr lang="zh-CN" altLang="zh-CN" smtClean="0"/>
              <a:t>和</a:t>
            </a:r>
            <a:r>
              <a:rPr lang="en-US" altLang="zh-CN" smtClean="0"/>
              <a:t>ESP</a:t>
            </a:r>
            <a:r>
              <a:rPr lang="zh-CN" altLang="zh-CN" smtClean="0"/>
              <a:t>：作为指针的</a:t>
            </a:r>
            <a:r>
              <a:rPr lang="en-US" altLang="zh-CN" smtClean="0">
                <a:hlinkClick r:id="rId3"/>
              </a:rPr>
              <a:t>寄存器</a:t>
            </a:r>
            <a:r>
              <a:rPr lang="zh-CN" altLang="zh-CN" smtClean="0"/>
              <a:t>，也可作为</a:t>
            </a:r>
            <a:r>
              <a:rPr lang="en-US" altLang="zh-CN" smtClean="0"/>
              <a:t>16</a:t>
            </a:r>
            <a:r>
              <a:rPr lang="zh-CN" altLang="zh-CN" smtClean="0"/>
              <a:t>位寄存器</a:t>
            </a:r>
            <a:r>
              <a:rPr lang="en-US" altLang="zh-CN" smtClean="0"/>
              <a:t>BP, SP</a:t>
            </a:r>
            <a:r>
              <a:rPr lang="zh-CN" altLang="zh-CN" smtClean="0"/>
              <a:t>使用，常用于椎栈操作。通常，它被高级语言</a:t>
            </a:r>
            <a:r>
              <a:rPr lang="en-US" altLang="zh-CN" smtClean="0">
                <a:hlinkClick r:id="rId4"/>
              </a:rPr>
              <a:t>编译器</a:t>
            </a:r>
            <a:r>
              <a:rPr lang="zh-CN" altLang="zh-CN" smtClean="0"/>
              <a:t>用以建造</a:t>
            </a:r>
            <a:r>
              <a:rPr lang="en-US" altLang="zh-CN" smtClean="0"/>
              <a:t>‘</a:t>
            </a:r>
            <a:r>
              <a:rPr lang="en-US" altLang="zh-CN" smtClean="0">
                <a:hlinkClick r:id="rId5"/>
              </a:rPr>
              <a:t>堆栈</a:t>
            </a:r>
            <a:r>
              <a:rPr lang="zh-CN" altLang="zh-CN" smtClean="0"/>
              <a:t>帧</a:t>
            </a:r>
            <a:r>
              <a:rPr lang="en-US" altLang="zh-CN" smtClean="0"/>
              <a:t>'</a:t>
            </a:r>
            <a:r>
              <a:rPr lang="zh-CN" altLang="zh-CN" smtClean="0"/>
              <a:t>来保存</a:t>
            </a:r>
            <a:r>
              <a:rPr lang="en-US" altLang="zh-CN" smtClean="0">
                <a:hlinkClick r:id="rId6"/>
              </a:rPr>
              <a:t>函数</a:t>
            </a:r>
            <a:r>
              <a:rPr lang="zh-CN" altLang="zh-CN" smtClean="0"/>
              <a:t>或过程的</a:t>
            </a:r>
            <a:r>
              <a:rPr lang="en-US" altLang="zh-CN" smtClean="0">
                <a:hlinkClick r:id="rId7"/>
              </a:rPr>
              <a:t>局部变量</a:t>
            </a:r>
            <a:r>
              <a:rPr lang="zh-CN" altLang="zh-CN" smtClean="0"/>
              <a:t>，不过，还是那句话，你可以在其中保存你希望的任何数据。</a:t>
            </a:r>
            <a:r>
              <a:rPr lang="en-US" altLang="zh-CN" smtClean="0"/>
              <a:t>SS</a:t>
            </a:r>
            <a:r>
              <a:rPr lang="zh-CN" altLang="zh-CN" smtClean="0"/>
              <a:t>是它的默认</a:t>
            </a:r>
            <a:r>
              <a:rPr lang="en-US" altLang="zh-CN" smtClean="0">
                <a:hlinkClick r:id="rId8"/>
              </a:rPr>
              <a:t>段寄存器</a:t>
            </a:r>
            <a:r>
              <a:rPr lang="zh-CN" altLang="zh-CN" smtClean="0"/>
              <a:t>或选择器。</a:t>
            </a:r>
          </a:p>
          <a:p>
            <a:endParaRPr lang="en-US" altLang="zh-CN" smtClean="0"/>
          </a:p>
          <a:p>
            <a:r>
              <a:rPr lang="en-US" altLang="zh-CN" smtClean="0"/>
              <a:t>ESI</a:t>
            </a:r>
            <a:r>
              <a:rPr lang="zh-CN" altLang="zh-CN" smtClean="0"/>
              <a:t>：通常在</a:t>
            </a:r>
            <a:r>
              <a:rPr lang="en-US" altLang="zh-CN" smtClean="0">
                <a:hlinkClick r:id="rId9"/>
              </a:rPr>
              <a:t>内存</a:t>
            </a:r>
            <a:r>
              <a:rPr lang="zh-CN" altLang="zh-CN" smtClean="0"/>
              <a:t>操作</a:t>
            </a:r>
            <a:r>
              <a:rPr lang="en-US" altLang="zh-CN" smtClean="0">
                <a:hlinkClick r:id="rId10"/>
              </a:rPr>
              <a:t>指令</a:t>
            </a:r>
            <a:r>
              <a:rPr lang="zh-CN" altLang="zh-CN" smtClean="0"/>
              <a:t>中作为</a:t>
            </a:r>
            <a:r>
              <a:rPr lang="en-US" altLang="zh-CN" smtClean="0"/>
              <a:t>“</a:t>
            </a:r>
            <a:r>
              <a:rPr lang="zh-CN" altLang="zh-CN" smtClean="0"/>
              <a:t>源地址指针</a:t>
            </a:r>
            <a:r>
              <a:rPr lang="en-US" altLang="zh-CN" smtClean="0"/>
              <a:t>”</a:t>
            </a:r>
            <a:r>
              <a:rPr lang="zh-CN" altLang="zh-CN" smtClean="0"/>
              <a:t>使用。当然，</a:t>
            </a:r>
            <a:r>
              <a:rPr lang="en-US" altLang="zh-CN" smtClean="0"/>
              <a:t>ESI</a:t>
            </a:r>
            <a:r>
              <a:rPr lang="zh-CN" altLang="zh-CN" smtClean="0"/>
              <a:t>可以被装入任意的数值，但通常没有人</a:t>
            </a:r>
          </a:p>
          <a:p>
            <a:r>
              <a:rPr lang="zh-CN" altLang="zh-CN" smtClean="0"/>
              <a:t>把它当作</a:t>
            </a:r>
            <a:r>
              <a:rPr lang="en-US" altLang="zh-CN" smtClean="0">
                <a:hlinkClick r:id="rId11"/>
              </a:rPr>
              <a:t>通用寄存器</a:t>
            </a:r>
            <a:r>
              <a:rPr lang="zh-CN" altLang="zh-CN" smtClean="0"/>
              <a:t>来用。</a:t>
            </a:r>
            <a:r>
              <a:rPr lang="en-US" altLang="zh-CN" smtClean="0"/>
              <a:t>DS</a:t>
            </a:r>
            <a:r>
              <a:rPr lang="zh-CN" altLang="zh-CN" smtClean="0"/>
              <a:t>是默认段寄存器或选择器。</a:t>
            </a:r>
          </a:p>
          <a:p>
            <a:r>
              <a:rPr lang="en-US" altLang="zh-CN" smtClean="0"/>
              <a:t>EDI</a:t>
            </a:r>
            <a:r>
              <a:rPr lang="zh-CN" altLang="zh-CN" smtClean="0"/>
              <a:t>：通常在内存操作指令中作为</a:t>
            </a:r>
            <a:r>
              <a:rPr lang="en-US" altLang="zh-CN" smtClean="0"/>
              <a:t>“</a:t>
            </a:r>
            <a:r>
              <a:rPr lang="zh-CN" altLang="zh-CN" smtClean="0"/>
              <a:t>目的地址</a:t>
            </a:r>
            <a:r>
              <a:rPr lang="en-US" altLang="zh-CN" smtClean="0">
                <a:hlinkClick r:id="rId12"/>
              </a:rPr>
              <a:t>指针</a:t>
            </a:r>
            <a:r>
              <a:rPr lang="en-US" altLang="zh-CN" smtClean="0"/>
              <a:t>”</a:t>
            </a:r>
            <a:r>
              <a:rPr lang="zh-CN" altLang="zh-CN" smtClean="0"/>
              <a:t>使用。当然，</a:t>
            </a:r>
            <a:r>
              <a:rPr lang="en-US" altLang="zh-CN" smtClean="0"/>
              <a:t>EDI</a:t>
            </a:r>
            <a:r>
              <a:rPr lang="zh-CN" altLang="zh-CN" smtClean="0"/>
              <a:t>也可以被装入任意的数值，但通常没有人把它当作</a:t>
            </a:r>
            <a:r>
              <a:rPr lang="en-US" altLang="zh-CN" smtClean="0">
                <a:hlinkClick r:id="rId11"/>
              </a:rPr>
              <a:t>通用寄存器</a:t>
            </a:r>
            <a:r>
              <a:rPr lang="zh-CN" altLang="zh-CN" smtClean="0"/>
              <a:t>来用。</a:t>
            </a:r>
            <a:r>
              <a:rPr lang="en-US" altLang="zh-CN" smtClean="0"/>
              <a:t>ES</a:t>
            </a:r>
            <a:r>
              <a:rPr lang="zh-CN" altLang="zh-CN" smtClean="0"/>
              <a:t>是默认段寄存器或选择器。</a:t>
            </a:r>
          </a:p>
          <a:p>
            <a:r>
              <a:rPr lang="en-US" altLang="zh-CN" smtClean="0"/>
              <a:t>EAX</a:t>
            </a:r>
            <a:r>
              <a:rPr lang="zh-CN" altLang="zh-CN" smtClean="0"/>
              <a:t>：</a:t>
            </a:r>
            <a:r>
              <a:rPr lang="en-US" altLang="zh-CN" smtClean="0">
                <a:hlinkClick r:id="rId11"/>
              </a:rPr>
              <a:t>通用寄存器</a:t>
            </a:r>
            <a:r>
              <a:rPr lang="zh-CN" altLang="zh-CN" smtClean="0"/>
              <a:t>。相对其他</a:t>
            </a:r>
            <a:r>
              <a:rPr lang="en-US" altLang="zh-CN" smtClean="0">
                <a:hlinkClick r:id="rId3"/>
              </a:rPr>
              <a:t>寄存器</a:t>
            </a:r>
            <a:r>
              <a:rPr lang="zh-CN" altLang="zh-CN" smtClean="0"/>
              <a:t>，在进行运算方面比较常用。在保护模式中，也可以作为</a:t>
            </a:r>
            <a:r>
              <a:rPr lang="en-US" altLang="zh-CN" smtClean="0">
                <a:hlinkClick r:id="rId9"/>
              </a:rPr>
              <a:t>内存</a:t>
            </a:r>
            <a:r>
              <a:rPr lang="zh-CN" altLang="zh-CN" smtClean="0"/>
              <a:t>偏移指针（此时，</a:t>
            </a:r>
            <a:r>
              <a:rPr lang="en-US" altLang="zh-CN" smtClean="0"/>
              <a:t>DS</a:t>
            </a:r>
            <a:r>
              <a:rPr lang="zh-CN" altLang="zh-CN" smtClean="0"/>
              <a:t>作为段</a:t>
            </a:r>
            <a:r>
              <a:rPr lang="en-US" altLang="zh-CN" smtClean="0">
                <a:hlinkClick r:id="rId3"/>
              </a:rPr>
              <a:t>寄存器</a:t>
            </a:r>
            <a:r>
              <a:rPr lang="zh-CN" altLang="zh-CN" smtClean="0"/>
              <a:t>或选择器）</a:t>
            </a:r>
          </a:p>
          <a:p>
            <a:endParaRPr lang="zh-CN" altLang="en-US" smtClean="0"/>
          </a:p>
        </p:txBody>
      </p:sp>
      <p:sp>
        <p:nvSpPr>
          <p:cNvPr id="52228"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954B6299-E767-4D74-8F99-932142B078A9}" type="slidenum">
              <a:rPr lang="en-US" altLang="zh-CN" sz="1800" smtClean="0"/>
              <a:pPr/>
              <a:t>30</a:t>
            </a:fld>
            <a:endParaRPr lang="en-US" altLang="zh-CN" sz="1800" smtClean="0"/>
          </a:p>
        </p:txBody>
      </p:sp>
    </p:spTree>
    <p:extLst>
      <p:ext uri="{BB962C8B-B14F-4D97-AF65-F5344CB8AC3E}">
        <p14:creationId xmlns:p14="http://schemas.microsoft.com/office/powerpoint/2010/main" val="1548712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ChangeArrowheads="1" noTextEdit="1"/>
          </p:cNvSpPr>
          <p:nvPr>
            <p:ph type="sldImg" idx="4294967295"/>
          </p:nvPr>
        </p:nvSpPr>
        <p:spPr>
          <a:ln/>
        </p:spPr>
      </p:sp>
      <p:sp>
        <p:nvSpPr>
          <p:cNvPr id="55299" name="备注占位符 2"/>
          <p:cNvSpPr>
            <a:spLocks noGrp="1" noChangeArrowheads="1"/>
          </p:cNvSpPr>
          <p:nvPr>
            <p:ph type="body" idx="4294967295"/>
          </p:nvPr>
        </p:nvSpPr>
        <p:spPr/>
        <p:txBody>
          <a:bodyPr>
            <a:prstTxWarp prst="textNoShape">
              <a:avLst/>
            </a:prstTxWarp>
          </a:bodyPr>
          <a:lstStyle/>
          <a:p>
            <a:r>
              <a:rPr lang="zh-CN" altLang="zh-CN" smtClean="0"/>
              <a:t>大部分</a:t>
            </a:r>
            <a:r>
              <a:rPr lang="en-US" altLang="zh-CN" smtClean="0"/>
              <a:t>RISC</a:t>
            </a:r>
            <a:r>
              <a:rPr lang="zh-CN" altLang="zh-CN" smtClean="0"/>
              <a:t>微处理器采用寄存器传递前</a:t>
            </a:r>
            <a:r>
              <a:rPr lang="en-US" altLang="zh-CN" smtClean="0"/>
              <a:t>N</a:t>
            </a:r>
            <a:r>
              <a:rPr lang="zh-CN" altLang="zh-CN" smtClean="0"/>
              <a:t>个参数，例如前</a:t>
            </a:r>
            <a:r>
              <a:rPr lang="en-US" altLang="zh-CN" smtClean="0"/>
              <a:t>4</a:t>
            </a:r>
            <a:r>
              <a:rPr lang="zh-CN" altLang="zh-CN" smtClean="0"/>
              <a:t>个参数；函数调用指令并不把返回地址自动压入程序运行栈，而是放入一个通常被称为连接寄存器（</a:t>
            </a:r>
            <a:r>
              <a:rPr lang="en-US" altLang="zh-CN" smtClean="0"/>
              <a:t>Link Register</a:t>
            </a:r>
            <a:r>
              <a:rPr lang="zh-CN" altLang="zh-CN" smtClean="0"/>
              <a:t>）的寄存器中。但这些细节上的不同并不会导致</a:t>
            </a:r>
            <a:r>
              <a:rPr lang="en-US" altLang="zh-CN" smtClean="0"/>
              <a:t>RISC</a:t>
            </a:r>
            <a:r>
              <a:rPr lang="zh-CN" altLang="zh-CN" smtClean="0"/>
              <a:t>架构和</a:t>
            </a:r>
            <a:r>
              <a:rPr lang="en-US" altLang="zh-CN" smtClean="0"/>
              <a:t>CISC</a:t>
            </a:r>
            <a:r>
              <a:rPr lang="zh-CN" altLang="zh-CN" smtClean="0"/>
              <a:t>架构下程序运行栈之间产生本质的差异。</a:t>
            </a:r>
            <a:endParaRPr lang="zh-CN" altLang="en-US" smtClean="0"/>
          </a:p>
        </p:txBody>
      </p:sp>
      <p:sp>
        <p:nvSpPr>
          <p:cNvPr id="55300"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fld id="{3A22DC8C-2CC7-44F3-A6C0-EFEFE44ED5ED}" type="slidenum">
              <a:rPr lang="en-US" altLang="zh-CN" sz="1800" smtClean="0"/>
              <a:pPr/>
              <a:t>32</a:t>
            </a:fld>
            <a:endParaRPr lang="en-US" altLang="zh-CN" sz="1800" smtClean="0"/>
          </a:p>
        </p:txBody>
      </p:sp>
    </p:spTree>
    <p:extLst>
      <p:ext uri="{BB962C8B-B14F-4D97-AF65-F5344CB8AC3E}">
        <p14:creationId xmlns:p14="http://schemas.microsoft.com/office/powerpoint/2010/main" val="814370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23">
            <a:extLst>
              <a:ext uri="{FF2B5EF4-FFF2-40B4-BE49-F238E27FC236}">
                <a16:creationId xmlns:a16="http://schemas.microsoft.com/office/drawing/2014/main" id="{0B2D8B92-B572-4525-AE1E-85E59C6BD678}"/>
              </a:ext>
            </a:extLst>
          </p:cNvPr>
          <p:cNvSpPr>
            <a:spLocks noGrp="1" noChangeArrowheads="1"/>
          </p:cNvSpPr>
          <p:nvPr>
            <p:ph type="sldNum" sz="quarter" idx="10"/>
          </p:nvPr>
        </p:nvSpPr>
        <p:spPr>
          <a:ln/>
        </p:spPr>
        <p:txBody>
          <a:bodyPr/>
          <a:lstStyle>
            <a:lvl1pPr>
              <a:defRPr/>
            </a:lvl1pPr>
          </a:lstStyle>
          <a:p>
            <a:pPr>
              <a:defRPr/>
            </a:pPr>
            <a:fld id="{CD0368C5-636A-4366-BEF6-488E02C27B68}" type="slidenum">
              <a:rPr lang="en-US" altLang="zh-CN"/>
              <a:pPr>
                <a:defRPr/>
              </a:pPr>
              <a:t>‹#›</a:t>
            </a:fld>
            <a:endParaRPr lang="en-US" altLang="zh-CN"/>
          </a:p>
        </p:txBody>
      </p:sp>
      <p:sp>
        <p:nvSpPr>
          <p:cNvPr id="5" name="Rectangle 24">
            <a:extLst>
              <a:ext uri="{FF2B5EF4-FFF2-40B4-BE49-F238E27FC236}">
                <a16:creationId xmlns:a16="http://schemas.microsoft.com/office/drawing/2014/main" id="{53E4B2AD-A427-4226-9837-A4F9124C2166}"/>
              </a:ext>
            </a:extLst>
          </p:cNvPr>
          <p:cNvSpPr>
            <a:spLocks noGrp="1" noChangeArrowheads="1"/>
          </p:cNvSpPr>
          <p:nvPr>
            <p:ph type="dt" sz="half" idx="11"/>
          </p:nvPr>
        </p:nvSpPr>
        <p:spPr>
          <a:ln/>
        </p:spPr>
        <p:txBody>
          <a:bodyPr/>
          <a:lstStyle>
            <a:lvl1pPr>
              <a:defRPr/>
            </a:lvl1pPr>
          </a:lstStyle>
          <a:p>
            <a:pPr>
              <a:defRPr/>
            </a:pPr>
            <a:endParaRPr lang="en-US" altLang="zh-CN"/>
          </a:p>
        </p:txBody>
      </p:sp>
      <p:sp>
        <p:nvSpPr>
          <p:cNvPr id="6" name="Rectangle 25">
            <a:extLst>
              <a:ext uri="{FF2B5EF4-FFF2-40B4-BE49-F238E27FC236}">
                <a16:creationId xmlns:a16="http://schemas.microsoft.com/office/drawing/2014/main" id="{A21A1461-181D-49A6-B883-44088F88D4F7}"/>
              </a:ext>
            </a:extLst>
          </p:cNvPr>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67189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a:extLst>
              <a:ext uri="{FF2B5EF4-FFF2-40B4-BE49-F238E27FC236}">
                <a16:creationId xmlns:a16="http://schemas.microsoft.com/office/drawing/2014/main" id="{0B2D8B92-B572-4525-AE1E-85E59C6BD678}"/>
              </a:ext>
            </a:extLst>
          </p:cNvPr>
          <p:cNvSpPr>
            <a:spLocks noGrp="1" noChangeArrowheads="1"/>
          </p:cNvSpPr>
          <p:nvPr>
            <p:ph type="sldNum" sz="quarter" idx="10"/>
          </p:nvPr>
        </p:nvSpPr>
        <p:spPr>
          <a:ln/>
        </p:spPr>
        <p:txBody>
          <a:bodyPr/>
          <a:lstStyle>
            <a:lvl1pPr>
              <a:defRPr/>
            </a:lvl1pPr>
          </a:lstStyle>
          <a:p>
            <a:pPr>
              <a:defRPr/>
            </a:pPr>
            <a:fld id="{08FBE8E8-897E-4BE6-8283-A6D358320BA2}" type="slidenum">
              <a:rPr lang="en-US" altLang="zh-CN"/>
              <a:pPr>
                <a:defRPr/>
              </a:pPr>
              <a:t>‹#›</a:t>
            </a:fld>
            <a:endParaRPr lang="en-US" altLang="zh-CN"/>
          </a:p>
        </p:txBody>
      </p:sp>
      <p:sp>
        <p:nvSpPr>
          <p:cNvPr id="5" name="Rectangle 24">
            <a:extLst>
              <a:ext uri="{FF2B5EF4-FFF2-40B4-BE49-F238E27FC236}">
                <a16:creationId xmlns:a16="http://schemas.microsoft.com/office/drawing/2014/main" id="{53E4B2AD-A427-4226-9837-A4F9124C2166}"/>
              </a:ext>
            </a:extLst>
          </p:cNvPr>
          <p:cNvSpPr>
            <a:spLocks noGrp="1" noChangeArrowheads="1"/>
          </p:cNvSpPr>
          <p:nvPr>
            <p:ph type="dt" sz="half" idx="11"/>
          </p:nvPr>
        </p:nvSpPr>
        <p:spPr>
          <a:ln/>
        </p:spPr>
        <p:txBody>
          <a:bodyPr/>
          <a:lstStyle>
            <a:lvl1pPr>
              <a:defRPr/>
            </a:lvl1pPr>
          </a:lstStyle>
          <a:p>
            <a:pPr>
              <a:defRPr/>
            </a:pPr>
            <a:endParaRPr lang="en-US" altLang="zh-CN"/>
          </a:p>
        </p:txBody>
      </p:sp>
      <p:sp>
        <p:nvSpPr>
          <p:cNvPr id="6" name="Rectangle 25">
            <a:extLst>
              <a:ext uri="{FF2B5EF4-FFF2-40B4-BE49-F238E27FC236}">
                <a16:creationId xmlns:a16="http://schemas.microsoft.com/office/drawing/2014/main" id="{A21A1461-181D-49A6-B883-44088F88D4F7}"/>
              </a:ext>
            </a:extLst>
          </p:cNvPr>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08259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6E170F-1E1C-4217-9F93-B39032E2F5E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4E1E66EE-3372-45CE-A5CF-6A1F6FEF622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9E6A3B8-943F-4B1F-BAB1-5A0288703524}"/>
              </a:ext>
            </a:extLst>
          </p:cNvPr>
          <p:cNvSpPr>
            <a:spLocks noGrp="1" noChangeArrowheads="1"/>
          </p:cNvSpPr>
          <p:nvPr>
            <p:ph type="sldNum" sz="quarter" idx="12"/>
          </p:nvPr>
        </p:nvSpPr>
        <p:spPr>
          <a:ln/>
        </p:spPr>
        <p:txBody>
          <a:bodyPr/>
          <a:lstStyle>
            <a:lvl1pPr>
              <a:defRPr/>
            </a:lvl1pPr>
          </a:lstStyle>
          <a:p>
            <a:pPr>
              <a:defRPr/>
            </a:pPr>
            <a:fld id="{C980089A-1781-4B72-A592-24E854E480A7}" type="slidenum">
              <a:rPr lang="en-US" altLang="zh-CN"/>
              <a:pPr>
                <a:defRPr/>
              </a:pPr>
              <a:t>‹#›</a:t>
            </a:fld>
            <a:endParaRPr lang="en-US" altLang="zh-CN"/>
          </a:p>
        </p:txBody>
      </p:sp>
    </p:spTree>
    <p:extLst>
      <p:ext uri="{BB962C8B-B14F-4D97-AF65-F5344CB8AC3E}">
        <p14:creationId xmlns:p14="http://schemas.microsoft.com/office/powerpoint/2010/main" val="21829743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17588" y="609600"/>
            <a:ext cx="640080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smtClean="0"/>
              <a:t>单击以编辑</a:t>
            </a:r>
            <a:r>
              <a:rPr lang="zh-CN" altLang="en-US" smtClean="0"/>
              <a:t>母版标题样式</a:t>
            </a:r>
          </a:p>
        </p:txBody>
      </p:sp>
      <p:sp>
        <p:nvSpPr>
          <p:cNvPr id="1027" name="Rectangle 3"/>
          <p:cNvSpPr>
            <a:spLocks noGrp="1" noChangeArrowheads="1"/>
          </p:cNvSpPr>
          <p:nvPr>
            <p:ph type="body" idx="1"/>
          </p:nvPr>
        </p:nvSpPr>
        <p:spPr bwMode="auto">
          <a:xfrm>
            <a:off x="649288" y="1449388"/>
            <a:ext cx="7983537" cy="4725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单击以编辑母版文本样式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Line 9"/>
          <p:cNvSpPr>
            <a:spLocks noChangeShapeType="1"/>
          </p:cNvSpPr>
          <p:nvPr/>
        </p:nvSpPr>
        <p:spPr bwMode="auto">
          <a:xfrm>
            <a:off x="0" y="6281738"/>
            <a:ext cx="914400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 name="Line 18"/>
          <p:cNvSpPr>
            <a:spLocks noChangeShapeType="1"/>
          </p:cNvSpPr>
          <p:nvPr/>
        </p:nvSpPr>
        <p:spPr bwMode="auto">
          <a:xfrm>
            <a:off x="1588" y="568325"/>
            <a:ext cx="9142412"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Rectangle 23">
            <a:extLst>
              <a:ext uri="{FF2B5EF4-FFF2-40B4-BE49-F238E27FC236}">
                <a16:creationId xmlns:a16="http://schemas.microsoft.com/office/drawing/2014/main" id="{0B2D8B92-B572-4525-AE1E-85E59C6BD678}"/>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仿宋_GB2312" panose="02010609030101010101" pitchFamily="49" charset="-122"/>
              </a:defRPr>
            </a:lvl1pPr>
          </a:lstStyle>
          <a:p>
            <a:pPr>
              <a:defRPr/>
            </a:pPr>
            <a:fld id="{1D876150-15BE-4BAA-B089-1D365C363A10}" type="slidenum">
              <a:rPr lang="en-US" altLang="zh-CN"/>
              <a:pPr>
                <a:defRPr/>
              </a:pPr>
              <a:t>‹#›</a:t>
            </a:fld>
            <a:endParaRPr lang="en-US" altLang="zh-CN"/>
          </a:p>
        </p:txBody>
      </p:sp>
      <p:sp>
        <p:nvSpPr>
          <p:cNvPr id="1048" name="Rectangle 24">
            <a:extLst>
              <a:ext uri="{FF2B5EF4-FFF2-40B4-BE49-F238E27FC236}">
                <a16:creationId xmlns:a16="http://schemas.microsoft.com/office/drawing/2014/main" id="{53E4B2AD-A427-4226-9837-A4F9124C2166}"/>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mn-ea"/>
              </a:defRPr>
            </a:lvl1pPr>
          </a:lstStyle>
          <a:p>
            <a:pPr>
              <a:defRPr/>
            </a:pPr>
            <a:endParaRPr lang="en-US" altLang="zh-CN"/>
          </a:p>
        </p:txBody>
      </p:sp>
      <p:sp>
        <p:nvSpPr>
          <p:cNvPr id="1049" name="Rectangle 25">
            <a:extLst>
              <a:ext uri="{FF2B5EF4-FFF2-40B4-BE49-F238E27FC236}">
                <a16:creationId xmlns:a16="http://schemas.microsoft.com/office/drawing/2014/main" id="{A21A1461-181D-49A6-B883-44088F88D4F7}"/>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mn-ea"/>
              </a:defRPr>
            </a:lvl1pPr>
          </a:lstStyle>
          <a:p>
            <a:pPr>
              <a:defRPr/>
            </a:pPr>
            <a:endParaRPr lang="en-US" altLang="zh-CN"/>
          </a:p>
        </p:txBody>
      </p:sp>
      <p:pic>
        <p:nvPicPr>
          <p:cNvPr id="1033" name="Picture 18" descr="C:\Documents and Settings\Administrator\桌面\logo_small.jpg"/>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8900" y="34925"/>
            <a:ext cx="19145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200" b="1">
          <a:solidFill>
            <a:schemeClr val="accent2"/>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5pPr>
      <a:lvl6pPr marL="4572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6pPr>
      <a:lvl7pPr marL="9144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7pPr>
      <a:lvl8pPr marL="13716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8pPr>
      <a:lvl9pPr marL="18288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9pPr>
    </p:titleStyle>
    <p:bodyStyle>
      <a:lvl1pPr marL="342900" indent="-342900" algn="l" rtl="0" eaLnBrk="0" fontAlgn="base" hangingPunct="0">
        <a:spcBef>
          <a:spcPct val="20000"/>
        </a:spcBef>
        <a:spcAft>
          <a:spcPct val="0"/>
        </a:spcAft>
        <a:buChar char="•"/>
        <a:defRPr kumimoji="1" sz="3200" b="1">
          <a:solidFill>
            <a:schemeClr val="tx1"/>
          </a:solidFill>
          <a:latin typeface="宋体" panose="02010600030101010101" pitchFamily="2" charset="-122"/>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b="1">
          <a:solidFill>
            <a:schemeClr val="tx1"/>
          </a:solidFill>
          <a:latin typeface="宋体" panose="02010600030101010101" pitchFamily="2" charset="-122"/>
          <a:ea typeface="宋体" panose="02010600030101010101" pitchFamily="2" charset="-122"/>
        </a:defRPr>
      </a:lvl2pPr>
      <a:lvl3pPr marL="1143000" indent="-228600" algn="l" rtl="0" eaLnBrk="0" fontAlgn="base" hangingPunct="0">
        <a:spcBef>
          <a:spcPct val="20000"/>
        </a:spcBef>
        <a:spcAft>
          <a:spcPct val="0"/>
        </a:spcAft>
        <a:buChar char="•"/>
        <a:defRPr kumimoji="1" sz="2400" b="1">
          <a:solidFill>
            <a:schemeClr val="tx1"/>
          </a:solidFill>
          <a:latin typeface="宋体" panose="02010600030101010101" pitchFamily="2" charset="-122"/>
          <a:ea typeface="宋体" panose="02010600030101010101" pitchFamily="2" charset="-122"/>
        </a:defRPr>
      </a:lvl3pPr>
      <a:lvl4pPr marL="16002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4pPr>
      <a:lvl5pPr marL="20574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0"/>
          </p:nvPr>
        </p:nvSpPr>
        <p:spPr>
          <a:noFill/>
        </p:spPr>
        <p:txBody>
          <a:bodyP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fld id="{08DBFE3C-651F-463C-9D1B-DFAC9ADE14EC}" type="slidenum">
              <a:rPr lang="en-US" altLang="zh-CN" sz="1400" b="0" smtClean="0">
                <a:latin typeface="Times New Roman" panose="02020603050405020304" pitchFamily="18" charset="0"/>
                <a:ea typeface="仿宋_GB2312" panose="02010609030101010101" pitchFamily="49" charset="-122"/>
              </a:rPr>
              <a:pPr>
                <a:spcBef>
                  <a:spcPct val="0"/>
                </a:spcBef>
                <a:buFontTx/>
                <a:buNone/>
              </a:pPr>
              <a:t>1</a:t>
            </a:fld>
            <a:endParaRPr lang="en-US" altLang="zh-CN" sz="1400" b="0" smtClean="0">
              <a:latin typeface="Times New Roman" panose="02020603050405020304" pitchFamily="18" charset="0"/>
              <a:ea typeface="仿宋_GB2312" panose="02010609030101010101" pitchFamily="49" charset="-122"/>
            </a:endParaRPr>
          </a:p>
        </p:txBody>
      </p:sp>
      <p:sp>
        <p:nvSpPr>
          <p:cNvPr id="4099" name="Rectangle 2"/>
          <p:cNvSpPr>
            <a:spLocks noGrp="1" noChangeArrowheads="1"/>
          </p:cNvSpPr>
          <p:nvPr>
            <p:ph type="ctrTitle"/>
          </p:nvPr>
        </p:nvSpPr>
        <p:spPr>
          <a:xfrm>
            <a:off x="684213" y="1276350"/>
            <a:ext cx="8332787" cy="1695450"/>
          </a:xfrm>
        </p:spPr>
        <p:txBody>
          <a:bodyPr/>
          <a:lstStyle/>
          <a:p>
            <a:r>
              <a:rPr lang="zh-CN" altLang="en-US" sz="6000" b="0" smtClean="0">
                <a:latin typeface="华文行楷" panose="02010800040101010101" pitchFamily="2" charset="-122"/>
                <a:ea typeface="华文行楷" panose="02010800040101010101" pitchFamily="2" charset="-122"/>
              </a:rPr>
              <a:t>编译原理与技术</a:t>
            </a:r>
            <a:r>
              <a:rPr lang="en-US" altLang="zh-CN" sz="6000" b="0" smtClean="0">
                <a:latin typeface="华文行楷" panose="02010800040101010101" pitchFamily="2" charset="-122"/>
                <a:ea typeface="华文行楷" panose="02010800040101010101" pitchFamily="2" charset="-122"/>
              </a:rPr>
              <a:t/>
            </a:r>
            <a:br>
              <a:rPr lang="en-US" altLang="zh-CN" sz="6000" b="0" smtClean="0">
                <a:latin typeface="华文行楷" panose="02010800040101010101" pitchFamily="2" charset="-122"/>
                <a:ea typeface="华文行楷" panose="02010800040101010101" pitchFamily="2" charset="-122"/>
              </a:rPr>
            </a:br>
            <a:r>
              <a:rPr lang="zh-CN" altLang="en-US" sz="6000" b="0" smtClean="0">
                <a:latin typeface="华文行楷" panose="02010800040101010101" pitchFamily="2" charset="-122"/>
                <a:ea typeface="华文行楷" panose="02010800040101010101" pitchFamily="2" charset="-122"/>
              </a:rPr>
              <a:t>总结</a:t>
            </a:r>
            <a:endParaRPr lang="zh-CN" altLang="en-US" sz="6000" b="0" smtClean="0">
              <a:solidFill>
                <a:srgbClr val="FF5050"/>
              </a:solidFill>
              <a:latin typeface="华文行楷" panose="02010800040101010101" pitchFamily="2" charset="-122"/>
              <a:ea typeface="华文行楷" panose="02010800040101010101" pitchFamily="2" charset="-122"/>
            </a:endParaRPr>
          </a:p>
        </p:txBody>
      </p:sp>
      <p:sp>
        <p:nvSpPr>
          <p:cNvPr id="4100" name="Rectangle 3"/>
          <p:cNvSpPr>
            <a:spLocks noGrp="1" noChangeArrowheads="1"/>
          </p:cNvSpPr>
          <p:nvPr>
            <p:ph type="subTitle" idx="1"/>
          </p:nvPr>
        </p:nvSpPr>
        <p:spPr>
          <a:xfrm>
            <a:off x="4594225" y="4405313"/>
            <a:ext cx="4206875" cy="1689100"/>
          </a:xfrm>
        </p:spPr>
        <p:txBody>
          <a:bodyPr/>
          <a:lstStyle/>
          <a:p>
            <a:pPr>
              <a:lnSpc>
                <a:spcPct val="90000"/>
              </a:lnSpc>
              <a:defRPr/>
            </a:pPr>
            <a:r>
              <a:rPr lang="zh-CN" altLang="en-US" sz="4000" b="0" smtClean="0">
                <a:solidFill>
                  <a:schemeClr val="accent2"/>
                </a:solidFill>
                <a:latin typeface="华文行楷" panose="02010800040101010101" pitchFamily="2" charset="-122"/>
                <a:ea typeface="华文行楷" panose="02010800040101010101" pitchFamily="2" charset="-122"/>
              </a:rPr>
              <a:t>邵兵</a:t>
            </a:r>
          </a:p>
          <a:p>
            <a:pPr>
              <a:lnSpc>
                <a:spcPct val="90000"/>
              </a:lnSpc>
              <a:defRPr/>
            </a:pPr>
            <a:r>
              <a:rPr lang="en-US" altLang="zh-CN" sz="2800" smtClean="0">
                <a:solidFill>
                  <a:schemeClr val="accent2"/>
                </a:solidFill>
                <a:latin typeface="+mn-lt"/>
                <a:ea typeface="隶书" panose="02010509060101010101" pitchFamily="49" charset="-122"/>
              </a:rPr>
              <a:t>shaobing@buaa.edu.cn</a:t>
            </a:r>
            <a:r>
              <a:rPr lang="en-US" altLang="zh-CN" sz="2800" smtClean="0">
                <a:solidFill>
                  <a:schemeClr val="accent1"/>
                </a:solidFill>
                <a:ea typeface="隶书" panose="02010509060101010101" pitchFamily="49" charset="-122"/>
              </a:rPr>
              <a:t> </a:t>
            </a:r>
          </a:p>
        </p:txBody>
      </p:sp>
      <p:graphicFrame>
        <p:nvGraphicFramePr>
          <p:cNvPr id="4101" name="Object 6"/>
          <p:cNvGraphicFramePr>
            <a:graphicFrameLocks noChangeAspect="1"/>
          </p:cNvGraphicFramePr>
          <p:nvPr/>
        </p:nvGraphicFramePr>
        <p:xfrm>
          <a:off x="1187450" y="4106863"/>
          <a:ext cx="2109788" cy="1624012"/>
        </p:xfrm>
        <a:graphic>
          <a:graphicData uri="http://schemas.openxmlformats.org/presentationml/2006/ole">
            <mc:AlternateContent xmlns:mc="http://schemas.openxmlformats.org/markup-compatibility/2006">
              <mc:Choice xmlns:v="urn:schemas-microsoft-com:vml" Requires="v">
                <p:oleObj spid="_x0000_s4107" name="剪辑" r:id="rId4" imgW="4540250" imgH="3497263" progId="MS_ClipArt_Gallery.2">
                  <p:embed/>
                </p:oleObj>
              </mc:Choice>
              <mc:Fallback>
                <p:oleObj name="剪辑" r:id="rId4" imgW="4540250" imgH="3497263" progId="MS_ClipArt_Gallery.2">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06863"/>
                        <a:ext cx="2109788" cy="162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sz="3600" smtClean="0"/>
              <a:t>第一章 绪论</a:t>
            </a:r>
          </a:p>
        </p:txBody>
      </p:sp>
      <p:sp>
        <p:nvSpPr>
          <p:cNvPr id="3" name="内容占位符 2"/>
          <p:cNvSpPr>
            <a:spLocks noGrp="1"/>
          </p:cNvSpPr>
          <p:nvPr>
            <p:ph idx="1"/>
          </p:nvPr>
        </p:nvSpPr>
        <p:spPr>
          <a:xfrm>
            <a:off x="649288" y="1449388"/>
            <a:ext cx="8037512" cy="4725987"/>
          </a:xfrm>
        </p:spPr>
        <p:txBody>
          <a:bodyPr/>
          <a:lstStyle/>
          <a:p>
            <a:pPr marL="0" indent="0" eaLnBrk="1">
              <a:buFontTx/>
              <a:buNone/>
              <a:defRPr/>
            </a:pPr>
            <a:r>
              <a:rPr lang="en-US" altLang="zh-CN" sz="2800" smtClean="0"/>
              <a:t>1. </a:t>
            </a:r>
            <a:r>
              <a:rPr lang="zh-CN" altLang="en-US" sz="2800" smtClean="0"/>
              <a:t>主要内容</a:t>
            </a:r>
          </a:p>
          <a:p>
            <a:pPr marL="0" indent="720725" eaLnBrk="1">
              <a:buFontTx/>
              <a:buNone/>
              <a:defRPr/>
            </a:pPr>
            <a:r>
              <a:rPr lang="zh-CN" altLang="en-US" sz="2800" b="0" smtClean="0"/>
              <a:t>本章通过对编译原理课程的介绍，引出了编译程序的概念，着重讨论了</a:t>
            </a:r>
            <a:r>
              <a:rPr lang="zh-CN" altLang="en-US" sz="2800" smtClean="0">
                <a:solidFill>
                  <a:srgbClr val="FF0000"/>
                </a:solidFill>
              </a:rPr>
              <a:t>编译程序与解释程序的区别</a:t>
            </a:r>
            <a:r>
              <a:rPr lang="zh-CN" altLang="en-US" sz="2800" b="0" smtClean="0"/>
              <a:t>，揭示了</a:t>
            </a:r>
            <a:r>
              <a:rPr lang="zh-CN" altLang="en-US" sz="2800">
                <a:solidFill>
                  <a:srgbClr val="FF0000"/>
                </a:solidFill>
              </a:rPr>
              <a:t>编译程序在计算机运行时的地位和作用</a:t>
            </a:r>
            <a:r>
              <a:rPr lang="zh-CN" altLang="en-US" sz="2800" b="0" smtClean="0"/>
              <a:t>；通过本章的学习，对编译程序的词法分析、语法分析、语义分析</a:t>
            </a:r>
            <a:r>
              <a:rPr lang="zh-CN" altLang="en-US" sz="2800" b="0"/>
              <a:t>和</a:t>
            </a:r>
            <a:r>
              <a:rPr lang="zh-CN" altLang="en-US" sz="2800" b="0" smtClean="0"/>
              <a:t>中间代码生成、代码优化、目标代码生成、错误检查和处理、符号表管理等</a:t>
            </a:r>
            <a:r>
              <a:rPr lang="zh-CN" altLang="en-US" sz="2800">
                <a:solidFill>
                  <a:srgbClr val="FF0000"/>
                </a:solidFill>
              </a:rPr>
              <a:t>七</a:t>
            </a:r>
            <a:r>
              <a:rPr lang="zh-CN" altLang="en-US" sz="2800" smtClean="0">
                <a:solidFill>
                  <a:srgbClr val="FF0000"/>
                </a:solidFill>
              </a:rPr>
              <a:t>个</a:t>
            </a:r>
            <a:r>
              <a:rPr lang="zh-CN" altLang="en-US" sz="2800" b="0" smtClean="0"/>
              <a:t>部分的功能和作用有一定的了解；</a:t>
            </a:r>
            <a:endParaRPr lang="en-US" altLang="zh-CN" sz="2800" b="0" smtClean="0"/>
          </a:p>
          <a:p>
            <a:pPr marL="0" indent="720725" eaLnBrk="1">
              <a:buFontTx/>
              <a:buNone/>
              <a:defRPr/>
            </a:pPr>
            <a:r>
              <a:rPr lang="zh-CN" altLang="en-US" sz="2800" b="0" smtClean="0"/>
              <a:t>了解编译程序</a:t>
            </a:r>
            <a:r>
              <a:rPr lang="zh-CN" altLang="en-US" sz="2800">
                <a:solidFill>
                  <a:srgbClr val="FF0000"/>
                </a:solidFill>
              </a:rPr>
              <a:t>前端</a:t>
            </a:r>
            <a:r>
              <a:rPr lang="zh-CN" altLang="en-US" sz="2800" b="0" smtClean="0"/>
              <a:t>、</a:t>
            </a:r>
            <a:r>
              <a:rPr lang="zh-CN" altLang="en-US" sz="2800">
                <a:solidFill>
                  <a:srgbClr val="FF0000"/>
                </a:solidFill>
              </a:rPr>
              <a:t>后端</a:t>
            </a:r>
            <a:r>
              <a:rPr lang="zh-CN" altLang="en-US" sz="2800" b="0" smtClean="0"/>
              <a:t>，执行“</a:t>
            </a:r>
            <a:r>
              <a:rPr lang="zh-CN" altLang="en-US" sz="2800">
                <a:solidFill>
                  <a:srgbClr val="FF0000"/>
                </a:solidFill>
              </a:rPr>
              <a:t>遍</a:t>
            </a:r>
            <a:r>
              <a:rPr lang="zh-CN" altLang="en-US" sz="2800" b="0" smtClean="0"/>
              <a:t>”概念。</a:t>
            </a:r>
          </a:p>
        </p:txBody>
      </p:sp>
      <p:sp>
        <p:nvSpPr>
          <p:cNvPr id="614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CAC757F1-806D-46E7-8E0E-07B08F40A6B5}" type="slidenum">
              <a:rPr lang="en-US" altLang="zh-CN" sz="1400" smtClean="0">
                <a:ea typeface="仿宋_GB2312" panose="02010609030101010101" pitchFamily="49" charset="-122"/>
              </a:rPr>
              <a:pPr/>
              <a:t>2</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sz="3600" smtClean="0"/>
              <a:t>第一章 绪论</a:t>
            </a:r>
          </a:p>
        </p:txBody>
      </p:sp>
      <p:sp>
        <p:nvSpPr>
          <p:cNvPr id="7171" name="内容占位符 2"/>
          <p:cNvSpPr>
            <a:spLocks noGrp="1"/>
          </p:cNvSpPr>
          <p:nvPr>
            <p:ph idx="1"/>
          </p:nvPr>
        </p:nvSpPr>
        <p:spPr/>
        <p:txBody>
          <a:bodyPr/>
          <a:lstStyle/>
          <a:p>
            <a:pPr marL="0" indent="0">
              <a:buFontTx/>
              <a:buNone/>
            </a:pPr>
            <a:r>
              <a:rPr lang="en-US" altLang="zh-CN" sz="2800" smtClean="0"/>
              <a:t>2. </a:t>
            </a:r>
            <a:r>
              <a:rPr lang="zh-CN" altLang="en-US" sz="2800" smtClean="0"/>
              <a:t>学习要求</a:t>
            </a:r>
          </a:p>
          <a:p>
            <a:pPr marL="0" indent="0">
              <a:buFontTx/>
              <a:buNone/>
            </a:pPr>
            <a:r>
              <a:rPr lang="zh-CN" altLang="en-US" sz="2800" b="0" smtClean="0"/>
              <a:t>    编译程序的概念、编译程序与解释程序的区别，明确编译程序的七个组成部分，了解七个组成部分的功能和作用。了解遍、前端和后端等概念。</a:t>
            </a:r>
            <a:endParaRPr lang="en-US" altLang="zh-CN" sz="2800" b="0" smtClean="0"/>
          </a:p>
          <a:p>
            <a:pPr marL="0" indent="0">
              <a:buFontTx/>
              <a:buNone/>
            </a:pPr>
            <a:endParaRPr lang="zh-CN" altLang="en-US" sz="2800" b="0" smtClean="0"/>
          </a:p>
          <a:p>
            <a:pPr marL="0" indent="0">
              <a:buFontTx/>
              <a:buNone/>
            </a:pPr>
            <a:r>
              <a:rPr lang="en-US" altLang="zh-CN" sz="2800" smtClean="0"/>
              <a:t>3. </a:t>
            </a:r>
            <a:r>
              <a:rPr lang="zh-CN" altLang="en-US" sz="2800" smtClean="0"/>
              <a:t>重点、难点</a:t>
            </a:r>
          </a:p>
          <a:p>
            <a:pPr marL="0" indent="0">
              <a:buFontTx/>
              <a:buNone/>
            </a:pPr>
            <a:r>
              <a:rPr lang="zh-CN" altLang="en-US" sz="2800" b="0" smtClean="0"/>
              <a:t>    重点掌握编译程序的概念和编程程序的七个组成部分。</a:t>
            </a:r>
          </a:p>
        </p:txBody>
      </p:sp>
      <p:sp>
        <p:nvSpPr>
          <p:cNvPr id="7172"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B9B03F29-78F2-4429-9359-5A45E4DEFC57}" type="slidenum">
              <a:rPr lang="en-US" altLang="zh-CN" sz="1400" smtClean="0">
                <a:ea typeface="仿宋_GB2312" panose="02010609030101010101" pitchFamily="49" charset="-122"/>
              </a:rPr>
              <a:pPr/>
              <a:t>3</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sz="3600" smtClean="0"/>
              <a:t>第一章 绪论</a:t>
            </a:r>
          </a:p>
        </p:txBody>
      </p:sp>
      <p:sp>
        <p:nvSpPr>
          <p:cNvPr id="8195"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896E8FAA-16B6-4ED5-A2D7-1531D43C07F0}" type="slidenum">
              <a:rPr lang="en-US" altLang="zh-CN" sz="1400" smtClean="0">
                <a:ea typeface="仿宋_GB2312" panose="02010609030101010101" pitchFamily="49" charset="-122"/>
              </a:rPr>
              <a:pPr/>
              <a:t>4</a:t>
            </a:fld>
            <a:endParaRPr lang="en-US" altLang="zh-CN" sz="1400" smtClean="0">
              <a:ea typeface="仿宋_GB2312" panose="02010609030101010101" pitchFamily="49" charset="-122"/>
            </a:endParaRPr>
          </a:p>
        </p:txBody>
      </p:sp>
      <p:sp>
        <p:nvSpPr>
          <p:cNvPr id="5" name="内容占位符 4"/>
          <p:cNvSpPr>
            <a:spLocks noGrp="1"/>
          </p:cNvSpPr>
          <p:nvPr>
            <p:ph idx="1"/>
          </p:nvPr>
        </p:nvSpPr>
        <p:spPr/>
        <p:txBody>
          <a:bodyPr/>
          <a:lstStyle/>
          <a:p>
            <a:pPr marL="0" indent="0">
              <a:buFontTx/>
              <a:buNone/>
              <a:defRPr/>
            </a:pPr>
            <a:r>
              <a:rPr lang="zh-CN" altLang="en-US">
                <a:solidFill>
                  <a:srgbClr val="FF0000"/>
                </a:solidFill>
              </a:rPr>
              <a:t>典型的编译程序具有</a:t>
            </a:r>
            <a:r>
              <a:rPr lang="en-US" altLang="zh-CN" smtClean="0">
                <a:solidFill>
                  <a:srgbClr val="FF0000"/>
                </a:solidFill>
                <a:latin typeface="+mn-lt"/>
              </a:rPr>
              <a:t>7(8)</a:t>
            </a:r>
            <a:r>
              <a:rPr lang="zh-CN" altLang="en-US" smtClean="0">
                <a:solidFill>
                  <a:srgbClr val="FF0000"/>
                </a:solidFill>
              </a:rPr>
              <a:t>个</a:t>
            </a:r>
            <a:r>
              <a:rPr lang="zh-CN" altLang="en-US">
                <a:solidFill>
                  <a:srgbClr val="FF0000"/>
                </a:solidFill>
              </a:rPr>
              <a:t>逻辑</a:t>
            </a:r>
            <a:r>
              <a:rPr lang="zh-CN" altLang="en-US" smtClean="0">
                <a:solidFill>
                  <a:srgbClr val="FF0000"/>
                </a:solidFill>
              </a:rPr>
              <a:t>部分</a:t>
            </a:r>
            <a:endParaRPr lang="zh-CN" altLang="en-US">
              <a:solidFill>
                <a:srgbClr val="FF0000"/>
              </a:solidFill>
            </a:endParaRPr>
          </a:p>
        </p:txBody>
      </p:sp>
      <p:sp>
        <p:nvSpPr>
          <p:cNvPr id="7" name="AutoShape 9"/>
          <p:cNvSpPr>
            <a:spLocks noChangeArrowheads="1"/>
          </p:cNvSpPr>
          <p:nvPr/>
        </p:nvSpPr>
        <p:spPr bwMode="auto">
          <a:xfrm>
            <a:off x="3976688" y="2192338"/>
            <a:ext cx="1428750" cy="547687"/>
          </a:xfrm>
          <a:prstGeom prst="downArrow">
            <a:avLst>
              <a:gd name="adj1" fmla="val 50000"/>
              <a:gd name="adj2" fmla="val 25000"/>
            </a:avLst>
          </a:prstGeom>
          <a:solidFill>
            <a:srgbClr val="9966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a:latin typeface="Times New Roman" panose="02020603050405020304" pitchFamily="18" charset="0"/>
                <a:ea typeface="楷体_GB2312" panose="02010609030101010101" pitchFamily="49" charset="-122"/>
              </a:rPr>
              <a:t>S.P</a:t>
            </a:r>
            <a:endParaRPr lang="en-US" altLang="zh-CN" sz="2400" b="0">
              <a:latin typeface="Times New Roman" panose="02020603050405020304" pitchFamily="18" charset="0"/>
              <a:ea typeface="楷体_GB2312" panose="02010609030101010101" pitchFamily="49" charset="-122"/>
            </a:endParaRPr>
          </a:p>
        </p:txBody>
      </p:sp>
      <p:sp>
        <p:nvSpPr>
          <p:cNvPr id="8" name="AutoShape 10"/>
          <p:cNvSpPr>
            <a:spLocks noChangeArrowheads="1"/>
          </p:cNvSpPr>
          <p:nvPr/>
        </p:nvSpPr>
        <p:spPr bwMode="auto">
          <a:xfrm>
            <a:off x="3987800" y="6105525"/>
            <a:ext cx="1428750" cy="441325"/>
          </a:xfrm>
          <a:prstGeom prst="downArrow">
            <a:avLst>
              <a:gd name="adj1" fmla="val 50000"/>
              <a:gd name="adj2" fmla="val 25000"/>
            </a:avLst>
          </a:prstGeom>
          <a:solidFill>
            <a:srgbClr val="FF330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a:latin typeface="Times New Roman" panose="02020603050405020304" pitchFamily="18" charset="0"/>
                <a:ea typeface="楷体_GB2312" panose="02010609030101010101" pitchFamily="49" charset="-122"/>
              </a:rPr>
              <a:t>O.P</a:t>
            </a:r>
            <a:endParaRPr lang="en-US" altLang="zh-CN" sz="2400" b="0">
              <a:latin typeface="Times New Roman" panose="02020603050405020304" pitchFamily="18" charset="0"/>
              <a:ea typeface="楷体_GB2312" panose="02010609030101010101" pitchFamily="49" charset="-122"/>
            </a:endParaRPr>
          </a:p>
        </p:txBody>
      </p:sp>
      <p:grpSp>
        <p:nvGrpSpPr>
          <p:cNvPr id="9" name="Group 54"/>
          <p:cNvGrpSpPr>
            <a:grpSpLocks/>
          </p:cNvGrpSpPr>
          <p:nvPr/>
        </p:nvGrpSpPr>
        <p:grpSpPr bwMode="auto">
          <a:xfrm>
            <a:off x="2403475" y="2760663"/>
            <a:ext cx="4575175" cy="3271837"/>
            <a:chOff x="1437" y="1236"/>
            <a:chExt cx="2882" cy="2061"/>
          </a:xfrm>
        </p:grpSpPr>
        <p:grpSp>
          <p:nvGrpSpPr>
            <p:cNvPr id="8214" name="Group 43"/>
            <p:cNvGrpSpPr>
              <a:grpSpLocks/>
            </p:cNvGrpSpPr>
            <p:nvPr/>
          </p:nvGrpSpPr>
          <p:grpSpPr bwMode="auto">
            <a:xfrm>
              <a:off x="1437" y="1956"/>
              <a:ext cx="2882" cy="422"/>
              <a:chOff x="1437" y="1956"/>
              <a:chExt cx="2882" cy="422"/>
            </a:xfrm>
          </p:grpSpPr>
          <p:sp>
            <p:nvSpPr>
              <p:cNvPr id="8225" name="Rectangle 4"/>
              <p:cNvSpPr>
                <a:spLocks noChangeArrowheads="1"/>
              </p:cNvSpPr>
              <p:nvPr/>
            </p:nvSpPr>
            <p:spPr bwMode="auto">
              <a:xfrm>
                <a:off x="1437" y="2154"/>
                <a:ext cx="2882" cy="224"/>
              </a:xfrm>
              <a:prstGeom prst="rect">
                <a:avLst/>
              </a:prstGeom>
              <a:solidFill>
                <a:srgbClr val="D6DDF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语义分析、生成中间代码</a:t>
                </a:r>
              </a:p>
            </p:txBody>
          </p:sp>
          <p:sp>
            <p:nvSpPr>
              <p:cNvPr id="8226" name="AutoShape 12"/>
              <p:cNvSpPr>
                <a:spLocks noChangeArrowheads="1"/>
              </p:cNvSpPr>
              <p:nvPr/>
            </p:nvSpPr>
            <p:spPr bwMode="auto">
              <a:xfrm>
                <a:off x="2465" y="1956"/>
                <a:ext cx="826" cy="210"/>
              </a:xfrm>
              <a:prstGeom prst="downArrow">
                <a:avLst>
                  <a:gd name="adj1" fmla="val 56778"/>
                  <a:gd name="adj2" fmla="val 56667"/>
                </a:avLst>
              </a:prstGeom>
              <a:solidFill>
                <a:srgbClr val="FF9900">
                  <a:alpha val="50195"/>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zh-CN" sz="2400">
                  <a:latin typeface="Times New Roman" panose="02020603050405020304" pitchFamily="18" charset="0"/>
                  <a:ea typeface="楷体_GB2312" panose="02010609030101010101" pitchFamily="49" charset="-122"/>
                </a:endParaRPr>
              </a:p>
            </p:txBody>
          </p:sp>
        </p:grpSp>
        <p:grpSp>
          <p:nvGrpSpPr>
            <p:cNvPr id="8215" name="Group 48"/>
            <p:cNvGrpSpPr>
              <a:grpSpLocks/>
            </p:cNvGrpSpPr>
            <p:nvPr/>
          </p:nvGrpSpPr>
          <p:grpSpPr bwMode="auto">
            <a:xfrm>
              <a:off x="1437" y="2856"/>
              <a:ext cx="2882" cy="441"/>
              <a:chOff x="1437" y="2856"/>
              <a:chExt cx="2882" cy="441"/>
            </a:xfrm>
          </p:grpSpPr>
          <p:sp>
            <p:nvSpPr>
              <p:cNvPr id="8223" name="Rectangle 6"/>
              <p:cNvSpPr>
                <a:spLocks noChangeArrowheads="1"/>
              </p:cNvSpPr>
              <p:nvPr/>
            </p:nvSpPr>
            <p:spPr bwMode="auto">
              <a:xfrm>
                <a:off x="1437" y="3073"/>
                <a:ext cx="2882" cy="224"/>
              </a:xfrm>
              <a:prstGeom prst="rect">
                <a:avLst/>
              </a:prstGeom>
              <a:solidFill>
                <a:srgbClr val="D6DDF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生成目标程序</a:t>
                </a:r>
              </a:p>
            </p:txBody>
          </p:sp>
          <p:sp>
            <p:nvSpPr>
              <p:cNvPr id="8224" name="AutoShape 13"/>
              <p:cNvSpPr>
                <a:spLocks noChangeArrowheads="1"/>
              </p:cNvSpPr>
              <p:nvPr/>
            </p:nvSpPr>
            <p:spPr bwMode="auto">
              <a:xfrm>
                <a:off x="2465" y="2856"/>
                <a:ext cx="826" cy="210"/>
              </a:xfrm>
              <a:prstGeom prst="downArrow">
                <a:avLst>
                  <a:gd name="adj1" fmla="val 56778"/>
                  <a:gd name="adj2" fmla="val 56667"/>
                </a:avLst>
              </a:prstGeom>
              <a:solidFill>
                <a:srgbClr val="FF9900">
                  <a:alpha val="50195"/>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zh-CN" sz="2400">
                  <a:latin typeface="Times New Roman" panose="02020603050405020304" pitchFamily="18" charset="0"/>
                  <a:ea typeface="楷体_GB2312" panose="02010609030101010101" pitchFamily="49" charset="-122"/>
                </a:endParaRPr>
              </a:p>
            </p:txBody>
          </p:sp>
        </p:grpSp>
        <p:grpSp>
          <p:nvGrpSpPr>
            <p:cNvPr id="8216" name="Group 46"/>
            <p:cNvGrpSpPr>
              <a:grpSpLocks/>
            </p:cNvGrpSpPr>
            <p:nvPr/>
          </p:nvGrpSpPr>
          <p:grpSpPr bwMode="auto">
            <a:xfrm>
              <a:off x="1437" y="2391"/>
              <a:ext cx="2882" cy="446"/>
              <a:chOff x="1437" y="2391"/>
              <a:chExt cx="2882" cy="446"/>
            </a:xfrm>
          </p:grpSpPr>
          <p:sp>
            <p:nvSpPr>
              <p:cNvPr id="8221" name="Rectangle 5"/>
              <p:cNvSpPr>
                <a:spLocks noChangeArrowheads="1"/>
              </p:cNvSpPr>
              <p:nvPr/>
            </p:nvSpPr>
            <p:spPr bwMode="auto">
              <a:xfrm>
                <a:off x="1437" y="2613"/>
                <a:ext cx="2882" cy="224"/>
              </a:xfrm>
              <a:prstGeom prst="rect">
                <a:avLst/>
              </a:prstGeom>
              <a:solidFill>
                <a:srgbClr val="D6DDF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lnSpc>
                    <a:spcPct val="80000"/>
                  </a:lnSpc>
                  <a:spcBef>
                    <a:spcPct val="50000"/>
                  </a:spcBef>
                  <a:buFontTx/>
                  <a:buNone/>
                </a:pPr>
                <a:r>
                  <a:rPr lang="zh-CN" altLang="en-US" sz="2400">
                    <a:solidFill>
                      <a:schemeClr val="accent2"/>
                    </a:solidFill>
                    <a:latin typeface="楷体_GB2312" panose="02010609030101010101" pitchFamily="49" charset="-122"/>
                    <a:ea typeface="楷体_GB2312" panose="02010609030101010101" pitchFamily="49" charset="-122"/>
                  </a:rPr>
                  <a:t>代码优化</a:t>
                </a:r>
              </a:p>
            </p:txBody>
          </p:sp>
          <p:sp>
            <p:nvSpPr>
              <p:cNvPr id="8222" name="AutoShape 14"/>
              <p:cNvSpPr>
                <a:spLocks noChangeArrowheads="1"/>
              </p:cNvSpPr>
              <p:nvPr/>
            </p:nvSpPr>
            <p:spPr bwMode="auto">
              <a:xfrm>
                <a:off x="2465" y="2391"/>
                <a:ext cx="826" cy="210"/>
              </a:xfrm>
              <a:prstGeom prst="downArrow">
                <a:avLst>
                  <a:gd name="adj1" fmla="val 56778"/>
                  <a:gd name="adj2" fmla="val 56667"/>
                </a:avLst>
              </a:prstGeom>
              <a:solidFill>
                <a:srgbClr val="FF9900">
                  <a:alpha val="50195"/>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zh-CN" sz="2400">
                  <a:latin typeface="Times New Roman" panose="02020603050405020304" pitchFamily="18" charset="0"/>
                  <a:ea typeface="楷体_GB2312" panose="02010609030101010101" pitchFamily="49" charset="-122"/>
                </a:endParaRPr>
              </a:p>
            </p:txBody>
          </p:sp>
        </p:grpSp>
        <p:grpSp>
          <p:nvGrpSpPr>
            <p:cNvPr id="8217" name="Group 41"/>
            <p:cNvGrpSpPr>
              <a:grpSpLocks/>
            </p:cNvGrpSpPr>
            <p:nvPr/>
          </p:nvGrpSpPr>
          <p:grpSpPr bwMode="auto">
            <a:xfrm>
              <a:off x="1437" y="1485"/>
              <a:ext cx="2882" cy="434"/>
              <a:chOff x="1437" y="1485"/>
              <a:chExt cx="2882" cy="434"/>
            </a:xfrm>
          </p:grpSpPr>
          <p:sp>
            <p:nvSpPr>
              <p:cNvPr id="8219" name="Rectangle 3"/>
              <p:cNvSpPr>
                <a:spLocks noChangeArrowheads="1"/>
              </p:cNvSpPr>
              <p:nvPr/>
            </p:nvSpPr>
            <p:spPr bwMode="auto">
              <a:xfrm>
                <a:off x="1437" y="1695"/>
                <a:ext cx="2882" cy="224"/>
              </a:xfrm>
              <a:prstGeom prst="rect">
                <a:avLst/>
              </a:prstGeom>
              <a:solidFill>
                <a:srgbClr val="D6DDF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语法分析程序</a:t>
                </a:r>
              </a:p>
            </p:txBody>
          </p:sp>
          <p:sp>
            <p:nvSpPr>
              <p:cNvPr id="8220" name="AutoShape 11"/>
              <p:cNvSpPr>
                <a:spLocks noChangeArrowheads="1"/>
              </p:cNvSpPr>
              <p:nvPr/>
            </p:nvSpPr>
            <p:spPr bwMode="auto">
              <a:xfrm>
                <a:off x="2465" y="1485"/>
                <a:ext cx="826" cy="210"/>
              </a:xfrm>
              <a:prstGeom prst="downArrow">
                <a:avLst>
                  <a:gd name="adj1" fmla="val 56778"/>
                  <a:gd name="adj2" fmla="val 56667"/>
                </a:avLst>
              </a:prstGeom>
              <a:solidFill>
                <a:srgbClr val="FF9900">
                  <a:alpha val="50195"/>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zh-CN" sz="2400">
                  <a:latin typeface="Times New Roman" panose="02020603050405020304" pitchFamily="18" charset="0"/>
                  <a:ea typeface="楷体_GB2312" panose="02010609030101010101" pitchFamily="49" charset="-122"/>
                </a:endParaRPr>
              </a:p>
            </p:txBody>
          </p:sp>
        </p:grpSp>
        <p:sp>
          <p:nvSpPr>
            <p:cNvPr id="8218" name="Rectangle 2"/>
            <p:cNvSpPr>
              <a:spLocks noChangeArrowheads="1"/>
            </p:cNvSpPr>
            <p:nvPr/>
          </p:nvSpPr>
          <p:spPr bwMode="auto">
            <a:xfrm>
              <a:off x="1437" y="1236"/>
              <a:ext cx="2882" cy="224"/>
            </a:xfrm>
            <a:prstGeom prst="rect">
              <a:avLst/>
            </a:prstGeom>
            <a:solidFill>
              <a:srgbClr val="D6DDF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词法分析程序</a:t>
              </a:r>
            </a:p>
          </p:txBody>
        </p:sp>
      </p:grpSp>
      <p:grpSp>
        <p:nvGrpSpPr>
          <p:cNvPr id="23" name="Group 53"/>
          <p:cNvGrpSpPr>
            <a:grpSpLocks/>
          </p:cNvGrpSpPr>
          <p:nvPr/>
        </p:nvGrpSpPr>
        <p:grpSpPr bwMode="auto">
          <a:xfrm>
            <a:off x="696913" y="2919413"/>
            <a:ext cx="8064500" cy="2946400"/>
            <a:chOff x="362" y="1336"/>
            <a:chExt cx="5080" cy="1856"/>
          </a:xfrm>
        </p:grpSpPr>
        <p:sp>
          <p:nvSpPr>
            <p:cNvPr id="8201" name="Rectangle 16"/>
            <p:cNvSpPr>
              <a:spLocks noChangeArrowheads="1"/>
            </p:cNvSpPr>
            <p:nvPr/>
          </p:nvSpPr>
          <p:spPr bwMode="auto">
            <a:xfrm>
              <a:off x="5156" y="1466"/>
              <a:ext cx="286" cy="1723"/>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出</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错</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处</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理</a:t>
              </a:r>
            </a:p>
          </p:txBody>
        </p:sp>
        <p:sp>
          <p:nvSpPr>
            <p:cNvPr id="8202" name="AutoShape 33"/>
            <p:cNvSpPr>
              <a:spLocks noChangeArrowheads="1"/>
            </p:cNvSpPr>
            <p:nvPr/>
          </p:nvSpPr>
          <p:spPr bwMode="auto">
            <a:xfrm flipH="1">
              <a:off x="4366" y="1736"/>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03" name="AutoShape 34"/>
            <p:cNvSpPr>
              <a:spLocks noChangeArrowheads="1"/>
            </p:cNvSpPr>
            <p:nvPr/>
          </p:nvSpPr>
          <p:spPr bwMode="auto">
            <a:xfrm flipH="1">
              <a:off x="4366" y="2197"/>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04" name="AutoShape 35"/>
            <p:cNvSpPr>
              <a:spLocks noChangeArrowheads="1"/>
            </p:cNvSpPr>
            <p:nvPr/>
          </p:nvSpPr>
          <p:spPr bwMode="auto">
            <a:xfrm flipH="1">
              <a:off x="4367" y="2625"/>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05" name="AutoShape 36"/>
            <p:cNvSpPr>
              <a:spLocks noChangeArrowheads="1"/>
            </p:cNvSpPr>
            <p:nvPr/>
          </p:nvSpPr>
          <p:spPr bwMode="auto">
            <a:xfrm rot="20871196" flipH="1">
              <a:off x="4366" y="3034"/>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grpSp>
          <p:nvGrpSpPr>
            <p:cNvPr id="8206" name="Group 52"/>
            <p:cNvGrpSpPr>
              <a:grpSpLocks/>
            </p:cNvGrpSpPr>
            <p:nvPr/>
          </p:nvGrpSpPr>
          <p:grpSpPr bwMode="auto">
            <a:xfrm>
              <a:off x="362" y="1336"/>
              <a:ext cx="1021" cy="1856"/>
              <a:chOff x="362" y="1336"/>
              <a:chExt cx="1021" cy="1856"/>
            </a:xfrm>
          </p:grpSpPr>
          <p:sp>
            <p:nvSpPr>
              <p:cNvPr id="8208" name="AutoShape 21"/>
              <p:cNvSpPr>
                <a:spLocks noChangeArrowheads="1"/>
              </p:cNvSpPr>
              <p:nvPr/>
            </p:nvSpPr>
            <p:spPr bwMode="auto">
              <a:xfrm>
                <a:off x="716" y="1752"/>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09" name="AutoShape 27"/>
              <p:cNvSpPr>
                <a:spLocks noChangeArrowheads="1"/>
              </p:cNvSpPr>
              <p:nvPr/>
            </p:nvSpPr>
            <p:spPr bwMode="auto">
              <a:xfrm>
                <a:off x="716" y="2197"/>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10" name="AutoShape 28"/>
              <p:cNvSpPr>
                <a:spLocks noChangeArrowheads="1"/>
              </p:cNvSpPr>
              <p:nvPr/>
            </p:nvSpPr>
            <p:spPr bwMode="auto">
              <a:xfrm>
                <a:off x="715" y="2641"/>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11" name="AutoShape 29"/>
              <p:cNvSpPr>
                <a:spLocks noChangeArrowheads="1"/>
              </p:cNvSpPr>
              <p:nvPr/>
            </p:nvSpPr>
            <p:spPr bwMode="auto">
              <a:xfrm rot="728804">
                <a:off x="716" y="3050"/>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sp>
            <p:nvSpPr>
              <p:cNvPr id="8212" name="Rectangle 17"/>
              <p:cNvSpPr>
                <a:spLocks noChangeArrowheads="1"/>
              </p:cNvSpPr>
              <p:nvPr/>
            </p:nvSpPr>
            <p:spPr bwMode="auto">
              <a:xfrm>
                <a:off x="362" y="1488"/>
                <a:ext cx="286" cy="1641"/>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符</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号</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表</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管</a:t>
                </a:r>
              </a:p>
              <a:p>
                <a:pPr algn="ctr" eaLnBrk="1" hangingPunct="1">
                  <a:spcBef>
                    <a:spcPct val="0"/>
                  </a:spcBef>
                  <a:buFontTx/>
                  <a:buNone/>
                </a:pPr>
                <a:r>
                  <a:rPr lang="zh-CN" altLang="en-US" sz="2400">
                    <a:solidFill>
                      <a:schemeClr val="accent2"/>
                    </a:solidFill>
                    <a:latin typeface="楷体_GB2312" panose="02010609030101010101" pitchFamily="49" charset="-122"/>
                    <a:ea typeface="楷体_GB2312" panose="02010609030101010101" pitchFamily="49" charset="-122"/>
                  </a:rPr>
                  <a:t>理</a:t>
                </a:r>
              </a:p>
            </p:txBody>
          </p:sp>
          <p:sp>
            <p:nvSpPr>
              <p:cNvPr id="8213" name="AutoShape 30"/>
              <p:cNvSpPr>
                <a:spLocks noChangeArrowheads="1"/>
              </p:cNvSpPr>
              <p:nvPr/>
            </p:nvSpPr>
            <p:spPr bwMode="auto">
              <a:xfrm rot="-1080848">
                <a:off x="716" y="1336"/>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grpSp>
        <p:sp>
          <p:nvSpPr>
            <p:cNvPr id="8207" name="AutoShape 37"/>
            <p:cNvSpPr>
              <a:spLocks noChangeArrowheads="1"/>
            </p:cNvSpPr>
            <p:nvPr/>
          </p:nvSpPr>
          <p:spPr bwMode="auto">
            <a:xfrm rot="1080848" flipH="1">
              <a:off x="4366" y="1336"/>
              <a:ext cx="667" cy="142"/>
            </a:xfrm>
            <a:prstGeom prst="rightArrow">
              <a:avLst>
                <a:gd name="adj1" fmla="val 50000"/>
                <a:gd name="adj2" fmla="val 117430"/>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spcBef>
                  <a:spcPct val="0"/>
                </a:spcBef>
                <a:buFontTx/>
                <a:buNone/>
              </a:pPr>
              <a:endParaRPr lang="zh-CN" altLang="en-US" sz="2400" b="0">
                <a:latin typeface="Times New Roman" panose="02020603050405020304" pitchFamily="18" charset="0"/>
                <a:ea typeface="楷体_GB2312" panose="02010609030101010101" pitchFamily="49"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nodeType="afterGroup">
                            <p:stCondLst>
                              <p:cond delay="1000"/>
                            </p:stCondLst>
                            <p:childTnLst>
                              <p:par>
                                <p:cTn id="13" presetID="16" presetClass="entr" presetSubtype="21"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barn(inVertical)">
                                      <p:cBhvr>
                                        <p:cTn id="15" dur="500"/>
                                        <p:tgtEl>
                                          <p:spTgt spid="23"/>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sz="3600" smtClean="0"/>
              <a:t>第二章 文法和语言</a:t>
            </a:r>
          </a:p>
        </p:txBody>
      </p:sp>
      <p:sp>
        <p:nvSpPr>
          <p:cNvPr id="3" name="内容占位符 2"/>
          <p:cNvSpPr>
            <a:spLocks noGrp="1"/>
          </p:cNvSpPr>
          <p:nvPr>
            <p:ph idx="1"/>
          </p:nvPr>
        </p:nvSpPr>
        <p:spPr>
          <a:xfrm>
            <a:off x="649288" y="1268413"/>
            <a:ext cx="7983537" cy="4881336"/>
          </a:xfrm>
        </p:spPr>
        <p:txBody>
          <a:bodyPr>
            <a:spAutoFit/>
          </a:bodyPr>
          <a:lstStyle/>
          <a:p>
            <a:pPr marL="0" indent="0" eaLnBrk="1">
              <a:buFontTx/>
              <a:buNone/>
              <a:defRPr/>
            </a:pPr>
            <a:r>
              <a:rPr lang="en-US" altLang="zh-CN" sz="2800" smtClean="0">
                <a:latin typeface="+mn-lt"/>
              </a:rPr>
              <a:t>1. </a:t>
            </a:r>
            <a:r>
              <a:rPr lang="zh-CN" altLang="en-US" sz="2800" smtClean="0">
                <a:latin typeface="+mn-lt"/>
              </a:rPr>
              <a:t>主要内容</a:t>
            </a:r>
          </a:p>
          <a:p>
            <a:pPr marL="0" indent="720725" eaLnBrk="1">
              <a:buFontTx/>
              <a:buNone/>
              <a:defRPr/>
            </a:pPr>
            <a:r>
              <a:rPr lang="zh-CN" altLang="en-US" sz="2400" b="0" smtClean="0">
                <a:latin typeface="+mn-lt"/>
              </a:rPr>
              <a:t>本章介绍</a:t>
            </a:r>
            <a:r>
              <a:rPr lang="zh-CN" altLang="en-US" sz="2400" b="0">
                <a:latin typeface="+mn-lt"/>
              </a:rPr>
              <a:t>了字母表、符号串和符号串集等概念，并介绍了求符号串</a:t>
            </a:r>
            <a:r>
              <a:rPr lang="zh-CN" altLang="en-US" sz="2400" b="0" smtClean="0">
                <a:latin typeface="+mn-lt"/>
              </a:rPr>
              <a:t>的子</a:t>
            </a:r>
            <a:r>
              <a:rPr lang="zh-CN" altLang="en-US" sz="2400" b="0">
                <a:latin typeface="+mn-lt"/>
              </a:rPr>
              <a:t>串、长度、连接、方幂和字符串集的和、积、闭包</a:t>
            </a:r>
            <a:r>
              <a:rPr lang="zh-CN" altLang="en-US" sz="2400" b="0" smtClean="0">
                <a:latin typeface="+mn-lt"/>
              </a:rPr>
              <a:t>的运算；</a:t>
            </a:r>
            <a:r>
              <a:rPr lang="zh-CN" altLang="en-US" sz="2400" b="0">
                <a:latin typeface="+mn-lt"/>
              </a:rPr>
              <a:t>通过文法推导的例子，引出了</a:t>
            </a:r>
            <a:r>
              <a:rPr lang="zh-CN" altLang="en-US" sz="2400">
                <a:solidFill>
                  <a:srgbClr val="FF0000"/>
                </a:solidFill>
                <a:latin typeface="+mn-lt"/>
              </a:rPr>
              <a:t>文法</a:t>
            </a:r>
            <a:r>
              <a:rPr lang="zh-CN" altLang="en-US" sz="2400" b="0">
                <a:latin typeface="+mn-lt"/>
              </a:rPr>
              <a:t>、</a:t>
            </a:r>
            <a:r>
              <a:rPr lang="zh-CN" altLang="en-US" sz="2400">
                <a:solidFill>
                  <a:srgbClr val="FF0000"/>
                </a:solidFill>
                <a:latin typeface="+mn-lt"/>
              </a:rPr>
              <a:t>语言</a:t>
            </a:r>
            <a:r>
              <a:rPr lang="zh-CN" altLang="en-US" sz="2400" b="0">
                <a:latin typeface="+mn-lt"/>
              </a:rPr>
              <a:t>、</a:t>
            </a:r>
            <a:r>
              <a:rPr lang="en-US" altLang="zh-CN" sz="2400">
                <a:solidFill>
                  <a:srgbClr val="FF0000"/>
                </a:solidFill>
                <a:latin typeface="+mn-lt"/>
              </a:rPr>
              <a:t>BNF</a:t>
            </a:r>
            <a:r>
              <a:rPr lang="zh-CN" altLang="en-US" sz="2400">
                <a:solidFill>
                  <a:srgbClr val="FF0000"/>
                </a:solidFill>
                <a:latin typeface="+mn-lt"/>
              </a:rPr>
              <a:t>范式</a:t>
            </a:r>
            <a:r>
              <a:rPr lang="zh-CN" altLang="en-US" sz="2400" b="0">
                <a:latin typeface="+mn-lt"/>
              </a:rPr>
              <a:t>、</a:t>
            </a:r>
            <a:r>
              <a:rPr lang="zh-CN" altLang="en-US" sz="2400">
                <a:solidFill>
                  <a:srgbClr val="FF0000"/>
                </a:solidFill>
                <a:latin typeface="+mn-lt"/>
              </a:rPr>
              <a:t>推导</a:t>
            </a:r>
            <a:r>
              <a:rPr lang="zh-CN" altLang="en-US" sz="2400" b="0">
                <a:latin typeface="+mn-lt"/>
              </a:rPr>
              <a:t>、</a:t>
            </a:r>
            <a:r>
              <a:rPr lang="zh-CN" altLang="en-US" sz="2400">
                <a:solidFill>
                  <a:srgbClr val="FF0000"/>
                </a:solidFill>
                <a:latin typeface="+mn-lt"/>
              </a:rPr>
              <a:t>归约</a:t>
            </a:r>
            <a:r>
              <a:rPr lang="zh-CN" altLang="en-US" sz="2400" b="0">
                <a:latin typeface="+mn-lt"/>
              </a:rPr>
              <a:t>的概念，说明了</a:t>
            </a:r>
            <a:r>
              <a:rPr lang="zh-CN" altLang="en-US" sz="2400">
                <a:solidFill>
                  <a:srgbClr val="FF0000"/>
                </a:solidFill>
                <a:latin typeface="+mn-lt"/>
              </a:rPr>
              <a:t>文法和语言的关系</a:t>
            </a:r>
            <a:r>
              <a:rPr lang="zh-CN" altLang="en-US" sz="2400" b="0">
                <a:latin typeface="+mn-lt"/>
              </a:rPr>
              <a:t>，介绍</a:t>
            </a:r>
            <a:r>
              <a:rPr lang="zh-CN" altLang="en-US" sz="2400" b="0" smtClean="0">
                <a:latin typeface="+mn-lt"/>
              </a:rPr>
              <a:t>了</a:t>
            </a:r>
            <a:r>
              <a:rPr lang="zh-CN" altLang="en-US" sz="2400">
                <a:solidFill>
                  <a:srgbClr val="FF0000"/>
                </a:solidFill>
                <a:latin typeface="+mn-lt"/>
              </a:rPr>
              <a:t>规范推导</a:t>
            </a:r>
            <a:r>
              <a:rPr lang="zh-CN" altLang="en-US" sz="2400" b="0">
                <a:latin typeface="+mn-lt"/>
              </a:rPr>
              <a:t>、</a:t>
            </a:r>
            <a:r>
              <a:rPr lang="zh-CN" altLang="en-US" sz="2400">
                <a:solidFill>
                  <a:srgbClr val="FF0000"/>
                </a:solidFill>
                <a:latin typeface="+mn-lt"/>
              </a:rPr>
              <a:t>规范归约</a:t>
            </a:r>
            <a:r>
              <a:rPr lang="zh-CN" altLang="en-US" sz="2400" b="0" smtClean="0">
                <a:latin typeface="+mn-lt"/>
              </a:rPr>
              <a:t>；</a:t>
            </a:r>
            <a:endParaRPr lang="en-US" altLang="zh-CN" sz="2400" b="0" smtClean="0">
              <a:latin typeface="+mn-lt"/>
            </a:endParaRPr>
          </a:p>
          <a:p>
            <a:pPr marL="0" indent="720725" eaLnBrk="1">
              <a:buFontTx/>
              <a:buNone/>
              <a:defRPr/>
            </a:pPr>
            <a:r>
              <a:rPr lang="zh-CN" altLang="en-US" sz="2400" b="0" smtClean="0">
                <a:latin typeface="+mn-lt"/>
              </a:rPr>
              <a:t>通过</a:t>
            </a:r>
            <a:r>
              <a:rPr lang="zh-CN" altLang="en-US" sz="2400" b="0">
                <a:latin typeface="+mn-lt"/>
              </a:rPr>
              <a:t>递归的概念，介绍了</a:t>
            </a:r>
            <a:r>
              <a:rPr lang="zh-CN" altLang="en-US" sz="2400">
                <a:solidFill>
                  <a:srgbClr val="FF0000"/>
                </a:solidFill>
                <a:latin typeface="+mn-lt"/>
              </a:rPr>
              <a:t>递归文法</a:t>
            </a:r>
            <a:r>
              <a:rPr lang="zh-CN" altLang="en-US" sz="2400" b="0">
                <a:latin typeface="+mn-lt"/>
              </a:rPr>
              <a:t>的定义</a:t>
            </a:r>
            <a:r>
              <a:rPr lang="zh-CN" altLang="en-US" sz="2400" b="0" smtClean="0">
                <a:latin typeface="+mn-lt"/>
              </a:rPr>
              <a:t>；</a:t>
            </a:r>
            <a:endParaRPr lang="en-US" altLang="zh-CN" sz="2400" b="0" smtClean="0">
              <a:latin typeface="+mn-lt"/>
            </a:endParaRPr>
          </a:p>
          <a:p>
            <a:pPr marL="0" indent="720725" eaLnBrk="1">
              <a:buFontTx/>
              <a:buNone/>
              <a:defRPr/>
            </a:pPr>
            <a:r>
              <a:rPr lang="zh-CN" altLang="en-US" sz="2400" b="0" smtClean="0">
                <a:latin typeface="+mn-lt"/>
              </a:rPr>
              <a:t>通过</a:t>
            </a:r>
            <a:r>
              <a:rPr lang="zh-CN" altLang="en-US" sz="2400" b="0">
                <a:latin typeface="+mn-lt"/>
              </a:rPr>
              <a:t>树的概念，引出了</a:t>
            </a:r>
            <a:r>
              <a:rPr lang="zh-CN" altLang="en-US" sz="2400">
                <a:solidFill>
                  <a:srgbClr val="FF0000"/>
                </a:solidFill>
                <a:latin typeface="+mn-lt"/>
              </a:rPr>
              <a:t>语法树</a:t>
            </a:r>
            <a:r>
              <a:rPr lang="zh-CN" altLang="en-US" sz="2400" b="0">
                <a:latin typeface="+mn-lt"/>
              </a:rPr>
              <a:t>、</a:t>
            </a:r>
            <a:r>
              <a:rPr lang="zh-CN" altLang="en-US" sz="2400">
                <a:solidFill>
                  <a:srgbClr val="FF0000"/>
                </a:solidFill>
                <a:latin typeface="+mn-lt"/>
              </a:rPr>
              <a:t>子树</a:t>
            </a:r>
            <a:r>
              <a:rPr lang="zh-CN" altLang="en-US" sz="2400" b="0">
                <a:latin typeface="+mn-lt"/>
              </a:rPr>
              <a:t>、</a:t>
            </a:r>
            <a:r>
              <a:rPr lang="zh-CN" altLang="en-US" sz="2400">
                <a:solidFill>
                  <a:srgbClr val="FF0000"/>
                </a:solidFill>
                <a:latin typeface="+mn-lt"/>
              </a:rPr>
              <a:t>短语</a:t>
            </a:r>
            <a:r>
              <a:rPr lang="zh-CN" altLang="en-US" sz="2400" b="0">
                <a:latin typeface="+mn-lt"/>
              </a:rPr>
              <a:t>、</a:t>
            </a:r>
            <a:r>
              <a:rPr lang="zh-CN" altLang="en-US" sz="2400">
                <a:solidFill>
                  <a:srgbClr val="FF0000"/>
                </a:solidFill>
                <a:latin typeface="+mn-lt"/>
              </a:rPr>
              <a:t>简单短语</a:t>
            </a:r>
            <a:r>
              <a:rPr lang="zh-CN" altLang="en-US" sz="2400" b="0">
                <a:latin typeface="+mn-lt"/>
              </a:rPr>
              <a:t>、</a:t>
            </a:r>
            <a:r>
              <a:rPr lang="zh-CN" altLang="en-US" sz="2400">
                <a:solidFill>
                  <a:srgbClr val="FF0000"/>
                </a:solidFill>
                <a:latin typeface="+mn-lt"/>
              </a:rPr>
              <a:t>句柄</a:t>
            </a:r>
            <a:r>
              <a:rPr lang="zh-CN" altLang="en-US" sz="2400" b="0">
                <a:latin typeface="+mn-lt"/>
              </a:rPr>
              <a:t>、</a:t>
            </a:r>
            <a:r>
              <a:rPr lang="zh-CN" altLang="en-US" sz="2400">
                <a:solidFill>
                  <a:srgbClr val="FF0000"/>
                </a:solidFill>
                <a:latin typeface="+mn-lt"/>
              </a:rPr>
              <a:t>二义性</a:t>
            </a:r>
            <a:r>
              <a:rPr lang="zh-CN" altLang="en-US" sz="2400" b="0">
                <a:latin typeface="+mn-lt"/>
              </a:rPr>
              <a:t>的概念，并介绍了通过语法树求短语、句柄、简单短语，</a:t>
            </a:r>
            <a:r>
              <a:rPr lang="zh-CN" altLang="en-US" sz="2400">
                <a:solidFill>
                  <a:srgbClr val="FF0000"/>
                </a:solidFill>
                <a:latin typeface="+mn-lt"/>
              </a:rPr>
              <a:t>文法二义性</a:t>
            </a:r>
            <a:r>
              <a:rPr lang="zh-CN" altLang="en-US" sz="2400" b="0">
                <a:latin typeface="+mn-lt"/>
              </a:rPr>
              <a:t>的算法，通过推导和归约的方法求出语法树的方法</a:t>
            </a:r>
            <a:r>
              <a:rPr lang="zh-CN" altLang="en-US" sz="2400" b="0" smtClean="0">
                <a:latin typeface="+mn-lt"/>
              </a:rPr>
              <a:t>；</a:t>
            </a:r>
            <a:endParaRPr lang="en-US" altLang="zh-CN" sz="2400" b="0" smtClean="0">
              <a:latin typeface="+mn-lt"/>
            </a:endParaRPr>
          </a:p>
          <a:p>
            <a:pPr marL="0" indent="720725" eaLnBrk="1">
              <a:buFontTx/>
              <a:buNone/>
              <a:defRPr/>
            </a:pPr>
            <a:r>
              <a:rPr lang="zh-CN" altLang="en-US" sz="2400" b="0" smtClean="0">
                <a:latin typeface="+mn-lt"/>
              </a:rPr>
              <a:t>本章</a:t>
            </a:r>
            <a:r>
              <a:rPr lang="zh-CN" altLang="en-US" sz="2400" b="0">
                <a:latin typeface="+mn-lt"/>
              </a:rPr>
              <a:t>最后介绍了</a:t>
            </a:r>
            <a:r>
              <a:rPr lang="zh-CN" altLang="en-US" sz="2400">
                <a:solidFill>
                  <a:srgbClr val="FF0000"/>
                </a:solidFill>
                <a:latin typeface="+mn-lt"/>
              </a:rPr>
              <a:t>文法</a:t>
            </a:r>
            <a:r>
              <a:rPr lang="zh-CN" altLang="en-US" sz="2400" smtClean="0">
                <a:solidFill>
                  <a:srgbClr val="FF0000"/>
                </a:solidFill>
                <a:latin typeface="+mn-lt"/>
              </a:rPr>
              <a:t>的乔姆斯基分类</a:t>
            </a:r>
            <a:r>
              <a:rPr lang="zh-CN" altLang="en-US" sz="2400" b="0" smtClean="0">
                <a:latin typeface="+mn-lt"/>
              </a:rPr>
              <a:t>。</a:t>
            </a:r>
            <a:endParaRPr lang="zh-CN" altLang="en-US" sz="2800" b="0">
              <a:latin typeface="+mn-lt"/>
            </a:endParaRPr>
          </a:p>
        </p:txBody>
      </p:sp>
      <p:sp>
        <p:nvSpPr>
          <p:cNvPr id="9220"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491E0199-4A23-45A6-9D31-91A99CD5A76F}" type="slidenum">
              <a:rPr lang="en-US" altLang="zh-CN" sz="1400" smtClean="0">
                <a:ea typeface="仿宋_GB2312" panose="02010609030101010101" pitchFamily="49" charset="-122"/>
              </a:rPr>
              <a:pPr/>
              <a:t>5</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sz="3600" smtClean="0"/>
              <a:t>第二章 文法和语言</a:t>
            </a:r>
          </a:p>
        </p:txBody>
      </p:sp>
      <p:sp>
        <p:nvSpPr>
          <p:cNvPr id="3" name="内容占位符 2"/>
          <p:cNvSpPr>
            <a:spLocks noGrp="1"/>
          </p:cNvSpPr>
          <p:nvPr>
            <p:ph idx="1"/>
          </p:nvPr>
        </p:nvSpPr>
        <p:spPr>
          <a:xfrm>
            <a:off x="649288" y="1268413"/>
            <a:ext cx="7983537" cy="4438138"/>
          </a:xfrm>
        </p:spPr>
        <p:txBody>
          <a:bodyPr>
            <a:spAutoFit/>
          </a:bodyPr>
          <a:lstStyle/>
          <a:p>
            <a:pPr marL="0" indent="0" eaLnBrk="1">
              <a:buFontTx/>
              <a:buNone/>
              <a:defRPr/>
            </a:pPr>
            <a:r>
              <a:rPr lang="en-US" altLang="zh-CN" sz="2800" smtClean="0">
                <a:latin typeface="+mn-lt"/>
              </a:rPr>
              <a:t>2. </a:t>
            </a:r>
            <a:r>
              <a:rPr lang="zh-CN" altLang="en-US" sz="2800" smtClean="0">
                <a:latin typeface="+mn-lt"/>
              </a:rPr>
              <a:t>学习要求</a:t>
            </a:r>
          </a:p>
          <a:p>
            <a:pPr marL="0" indent="717550" eaLnBrk="1">
              <a:buFontTx/>
              <a:buNone/>
              <a:defRPr/>
            </a:pPr>
            <a:r>
              <a:rPr lang="zh-CN" altLang="en-US" sz="2400" b="0" smtClean="0">
                <a:latin typeface="+mn-lt"/>
              </a:rPr>
              <a:t>了解</a:t>
            </a:r>
            <a:r>
              <a:rPr lang="zh-CN" altLang="en-US" sz="2400" smtClean="0">
                <a:solidFill>
                  <a:srgbClr val="FF0000"/>
                </a:solidFill>
                <a:latin typeface="+mn-lt"/>
              </a:rPr>
              <a:t>字母表</a:t>
            </a:r>
            <a:r>
              <a:rPr lang="zh-CN" altLang="en-US" sz="2400" b="0" smtClean="0">
                <a:latin typeface="+mn-lt"/>
              </a:rPr>
              <a:t>、</a:t>
            </a:r>
            <a:r>
              <a:rPr lang="zh-CN" altLang="en-US" sz="2400">
                <a:solidFill>
                  <a:srgbClr val="FF0000"/>
                </a:solidFill>
                <a:latin typeface="+mn-lt"/>
              </a:rPr>
              <a:t>符号串</a:t>
            </a:r>
            <a:r>
              <a:rPr lang="zh-CN" altLang="en-US" sz="2400" b="0" smtClean="0">
                <a:latin typeface="+mn-lt"/>
              </a:rPr>
              <a:t>、</a:t>
            </a:r>
            <a:r>
              <a:rPr lang="zh-CN" altLang="en-US" sz="2400">
                <a:solidFill>
                  <a:srgbClr val="FF0000"/>
                </a:solidFill>
                <a:latin typeface="+mn-lt"/>
              </a:rPr>
              <a:t>符号串集</a:t>
            </a:r>
            <a:r>
              <a:rPr lang="zh-CN" altLang="en-US" sz="2400" b="0" smtClean="0">
                <a:latin typeface="+mn-lt"/>
              </a:rPr>
              <a:t>、</a:t>
            </a:r>
            <a:r>
              <a:rPr lang="zh-CN" altLang="en-US" sz="2400">
                <a:solidFill>
                  <a:srgbClr val="FF0000"/>
                </a:solidFill>
                <a:latin typeface="+mn-lt"/>
              </a:rPr>
              <a:t>递归</a:t>
            </a:r>
            <a:r>
              <a:rPr lang="zh-CN" altLang="en-US" sz="2400" b="0" smtClean="0">
                <a:latin typeface="+mn-lt"/>
              </a:rPr>
              <a:t>、</a:t>
            </a:r>
            <a:r>
              <a:rPr lang="en-US" altLang="zh-CN" sz="2400">
                <a:solidFill>
                  <a:srgbClr val="FF0000"/>
                </a:solidFill>
                <a:latin typeface="+mn-lt"/>
              </a:rPr>
              <a:t>BNF</a:t>
            </a:r>
            <a:r>
              <a:rPr lang="zh-CN" altLang="en-US" sz="2400">
                <a:solidFill>
                  <a:srgbClr val="FF0000"/>
                </a:solidFill>
                <a:latin typeface="+mn-lt"/>
              </a:rPr>
              <a:t>范式</a:t>
            </a:r>
            <a:r>
              <a:rPr lang="zh-CN" altLang="en-US" sz="2400" b="0" smtClean="0">
                <a:latin typeface="+mn-lt"/>
              </a:rPr>
              <a:t>、</a:t>
            </a:r>
            <a:r>
              <a:rPr lang="zh-CN" altLang="en-US" sz="2400">
                <a:solidFill>
                  <a:srgbClr val="FF0000"/>
                </a:solidFill>
                <a:latin typeface="+mn-lt"/>
              </a:rPr>
              <a:t>推导</a:t>
            </a:r>
            <a:r>
              <a:rPr lang="zh-CN" altLang="en-US" sz="2400" b="0" smtClean="0">
                <a:latin typeface="+mn-lt"/>
              </a:rPr>
              <a:t>、</a:t>
            </a:r>
            <a:r>
              <a:rPr lang="zh-CN" altLang="en-US" sz="2400">
                <a:solidFill>
                  <a:srgbClr val="FF0000"/>
                </a:solidFill>
                <a:latin typeface="+mn-lt"/>
              </a:rPr>
              <a:t>归约</a:t>
            </a:r>
            <a:r>
              <a:rPr lang="zh-CN" altLang="en-US" sz="2400" b="0" smtClean="0">
                <a:latin typeface="+mn-lt"/>
              </a:rPr>
              <a:t>、</a:t>
            </a:r>
            <a:r>
              <a:rPr lang="zh-CN" altLang="en-US" sz="2400">
                <a:solidFill>
                  <a:srgbClr val="FF0000"/>
                </a:solidFill>
                <a:latin typeface="+mn-lt"/>
              </a:rPr>
              <a:t>句子</a:t>
            </a:r>
            <a:r>
              <a:rPr lang="zh-CN" altLang="en-US" sz="2400" b="0" smtClean="0">
                <a:latin typeface="+mn-lt"/>
              </a:rPr>
              <a:t>、</a:t>
            </a:r>
            <a:r>
              <a:rPr lang="zh-CN" altLang="en-US" sz="2400">
                <a:solidFill>
                  <a:srgbClr val="FF0000"/>
                </a:solidFill>
                <a:latin typeface="+mn-lt"/>
              </a:rPr>
              <a:t>句型</a:t>
            </a:r>
            <a:r>
              <a:rPr lang="zh-CN" altLang="en-US" sz="2400" b="0" smtClean="0">
                <a:latin typeface="+mn-lt"/>
              </a:rPr>
              <a:t>等概念，了解符号串的前缀、后缀、</a:t>
            </a:r>
            <a:r>
              <a:rPr lang="zh-CN" altLang="en-US" sz="2400">
                <a:solidFill>
                  <a:srgbClr val="FF0000"/>
                </a:solidFill>
                <a:latin typeface="+mn-lt"/>
              </a:rPr>
              <a:t>子串</a:t>
            </a:r>
            <a:r>
              <a:rPr lang="zh-CN" altLang="en-US" sz="2400" b="0" smtClean="0">
                <a:latin typeface="+mn-lt"/>
              </a:rPr>
              <a:t>、</a:t>
            </a:r>
            <a:r>
              <a:rPr lang="zh-CN" altLang="en-US" sz="2400">
                <a:solidFill>
                  <a:srgbClr val="FF0000"/>
                </a:solidFill>
                <a:latin typeface="+mn-lt"/>
              </a:rPr>
              <a:t>长度</a:t>
            </a:r>
            <a:r>
              <a:rPr lang="zh-CN" altLang="en-US" sz="2400" b="0" smtClean="0">
                <a:latin typeface="+mn-lt"/>
              </a:rPr>
              <a:t>、</a:t>
            </a:r>
            <a:r>
              <a:rPr lang="zh-CN" altLang="en-US" sz="2400">
                <a:solidFill>
                  <a:srgbClr val="FF0000"/>
                </a:solidFill>
                <a:latin typeface="+mn-lt"/>
              </a:rPr>
              <a:t>连接</a:t>
            </a:r>
            <a:r>
              <a:rPr lang="zh-CN" altLang="en-US" sz="2400" b="0" smtClean="0">
                <a:latin typeface="+mn-lt"/>
              </a:rPr>
              <a:t>、</a:t>
            </a:r>
            <a:r>
              <a:rPr lang="zh-CN" altLang="en-US" sz="2400">
                <a:solidFill>
                  <a:srgbClr val="FF0000"/>
                </a:solidFill>
                <a:latin typeface="+mn-lt"/>
              </a:rPr>
              <a:t>方幂</a:t>
            </a:r>
            <a:r>
              <a:rPr lang="zh-CN" altLang="en-US" sz="2400" b="0" smtClean="0">
                <a:latin typeface="+mn-lt"/>
              </a:rPr>
              <a:t>和字符串集的</a:t>
            </a:r>
            <a:r>
              <a:rPr lang="zh-CN" altLang="en-US" sz="2400">
                <a:solidFill>
                  <a:srgbClr val="FF0000"/>
                </a:solidFill>
                <a:latin typeface="+mn-lt"/>
              </a:rPr>
              <a:t>和</a:t>
            </a:r>
            <a:r>
              <a:rPr lang="zh-CN" altLang="en-US" sz="2400" b="0" smtClean="0">
                <a:latin typeface="+mn-lt"/>
              </a:rPr>
              <a:t>、</a:t>
            </a:r>
            <a:r>
              <a:rPr lang="zh-CN" altLang="en-US" sz="2400">
                <a:solidFill>
                  <a:srgbClr val="FF0000"/>
                </a:solidFill>
                <a:latin typeface="+mn-lt"/>
              </a:rPr>
              <a:t>积</a:t>
            </a:r>
            <a:r>
              <a:rPr lang="zh-CN" altLang="en-US" sz="2400" b="0" smtClean="0">
                <a:latin typeface="+mn-lt"/>
              </a:rPr>
              <a:t>、</a:t>
            </a:r>
            <a:r>
              <a:rPr lang="zh-CN" altLang="en-US" sz="2400">
                <a:solidFill>
                  <a:srgbClr val="FF0000"/>
                </a:solidFill>
                <a:latin typeface="+mn-lt"/>
              </a:rPr>
              <a:t>闭包</a:t>
            </a:r>
            <a:r>
              <a:rPr lang="zh-CN" altLang="en-US" sz="2400" b="0" smtClean="0">
                <a:latin typeface="+mn-lt"/>
              </a:rPr>
              <a:t>的求法；掌握</a:t>
            </a:r>
            <a:r>
              <a:rPr lang="zh-CN" altLang="en-US" sz="2400">
                <a:solidFill>
                  <a:srgbClr val="FF0000"/>
                </a:solidFill>
                <a:latin typeface="+mn-lt"/>
              </a:rPr>
              <a:t>文法</a:t>
            </a:r>
            <a:r>
              <a:rPr lang="zh-CN" altLang="en-US" sz="2400" b="0" smtClean="0">
                <a:latin typeface="+mn-lt"/>
              </a:rPr>
              <a:t>、</a:t>
            </a:r>
            <a:r>
              <a:rPr lang="zh-CN" altLang="en-US" sz="2400">
                <a:solidFill>
                  <a:srgbClr val="FF0000"/>
                </a:solidFill>
                <a:latin typeface="+mn-lt"/>
              </a:rPr>
              <a:t>语言</a:t>
            </a:r>
            <a:r>
              <a:rPr lang="zh-CN" altLang="en-US" sz="2400" b="0" smtClean="0">
                <a:latin typeface="+mn-lt"/>
              </a:rPr>
              <a:t>的定义；理解</a:t>
            </a:r>
            <a:r>
              <a:rPr lang="zh-CN" altLang="en-US" sz="2400">
                <a:solidFill>
                  <a:srgbClr val="FF0000"/>
                </a:solidFill>
                <a:latin typeface="+mn-lt"/>
              </a:rPr>
              <a:t>文法和语言的关系</a:t>
            </a:r>
            <a:r>
              <a:rPr lang="zh-CN" altLang="en-US" sz="2400" b="0" smtClean="0">
                <a:latin typeface="+mn-lt"/>
              </a:rPr>
              <a:t>；理解什么是</a:t>
            </a:r>
            <a:r>
              <a:rPr lang="zh-CN" altLang="en-US" sz="2400">
                <a:solidFill>
                  <a:srgbClr val="FF0000"/>
                </a:solidFill>
                <a:latin typeface="+mn-lt"/>
              </a:rPr>
              <a:t>规范推导</a:t>
            </a:r>
            <a:r>
              <a:rPr lang="zh-CN" altLang="en-US" sz="2400" b="0" smtClean="0">
                <a:latin typeface="+mn-lt"/>
              </a:rPr>
              <a:t>、</a:t>
            </a:r>
            <a:r>
              <a:rPr lang="zh-CN" altLang="en-US" sz="2400">
                <a:solidFill>
                  <a:srgbClr val="FF0000"/>
                </a:solidFill>
                <a:latin typeface="+mn-lt"/>
              </a:rPr>
              <a:t>规范归约</a:t>
            </a:r>
            <a:r>
              <a:rPr lang="zh-CN" altLang="en-US" sz="2400" b="0" smtClean="0">
                <a:latin typeface="+mn-lt"/>
              </a:rPr>
              <a:t>；掌握</a:t>
            </a:r>
            <a:r>
              <a:rPr lang="zh-CN" altLang="en-US" sz="2400">
                <a:solidFill>
                  <a:srgbClr val="FF0000"/>
                </a:solidFill>
                <a:latin typeface="+mn-lt"/>
              </a:rPr>
              <a:t>规范推导、规范归约的算法</a:t>
            </a:r>
            <a:r>
              <a:rPr lang="zh-CN" altLang="en-US" sz="2400" b="0" smtClean="0">
                <a:latin typeface="+mn-lt"/>
              </a:rPr>
              <a:t>，并能够求出对应的语法树；熟练掌握</a:t>
            </a:r>
            <a:r>
              <a:rPr lang="zh-CN" altLang="en-US" sz="2400">
                <a:solidFill>
                  <a:srgbClr val="FF0000"/>
                </a:solidFill>
                <a:latin typeface="+mn-lt"/>
              </a:rPr>
              <a:t>根据语法树求短语</a:t>
            </a:r>
            <a:r>
              <a:rPr lang="zh-CN" altLang="en-US" sz="2400" b="0" smtClean="0">
                <a:latin typeface="+mn-lt"/>
              </a:rPr>
              <a:t>、</a:t>
            </a:r>
            <a:r>
              <a:rPr lang="zh-CN" altLang="en-US" sz="2400">
                <a:solidFill>
                  <a:srgbClr val="FF0000"/>
                </a:solidFill>
                <a:latin typeface="+mn-lt"/>
              </a:rPr>
              <a:t>简单短语</a:t>
            </a:r>
            <a:r>
              <a:rPr lang="zh-CN" altLang="en-US" sz="2400" b="0" smtClean="0">
                <a:latin typeface="+mn-lt"/>
              </a:rPr>
              <a:t>、</a:t>
            </a:r>
            <a:r>
              <a:rPr lang="zh-CN" altLang="en-US" sz="2400">
                <a:solidFill>
                  <a:srgbClr val="FF0000"/>
                </a:solidFill>
                <a:latin typeface="+mn-lt"/>
              </a:rPr>
              <a:t>句柄</a:t>
            </a:r>
            <a:r>
              <a:rPr lang="zh-CN" altLang="en-US" sz="2400" b="0" smtClean="0">
                <a:latin typeface="+mn-lt"/>
              </a:rPr>
              <a:t>的算法；</a:t>
            </a:r>
            <a:endParaRPr lang="en-US" altLang="zh-CN" sz="2400" b="0" smtClean="0">
              <a:latin typeface="+mn-lt"/>
            </a:endParaRPr>
          </a:p>
          <a:p>
            <a:pPr marL="0" indent="717550" eaLnBrk="1">
              <a:buFontTx/>
              <a:buNone/>
              <a:defRPr/>
            </a:pPr>
            <a:r>
              <a:rPr lang="zh-CN" altLang="en-US" sz="2400" b="0" smtClean="0">
                <a:latin typeface="+mn-lt"/>
              </a:rPr>
              <a:t>通过给定文法，掌握</a:t>
            </a:r>
            <a:r>
              <a:rPr lang="zh-CN" altLang="en-US" sz="2400">
                <a:solidFill>
                  <a:srgbClr val="FF0000"/>
                </a:solidFill>
                <a:latin typeface="+mn-lt"/>
              </a:rPr>
              <a:t>求文法二义性</a:t>
            </a:r>
            <a:r>
              <a:rPr lang="zh-CN" altLang="en-US" sz="2400" b="0" smtClean="0">
                <a:latin typeface="+mn-lt"/>
              </a:rPr>
              <a:t>的方法；</a:t>
            </a:r>
            <a:endParaRPr lang="en-US" altLang="zh-CN" sz="2400" b="0" smtClean="0">
              <a:latin typeface="+mn-lt"/>
            </a:endParaRPr>
          </a:p>
          <a:p>
            <a:pPr marL="0" indent="717550" eaLnBrk="1">
              <a:buFontTx/>
              <a:buNone/>
              <a:defRPr/>
            </a:pPr>
            <a:r>
              <a:rPr lang="zh-CN" altLang="en-US" sz="2400" b="0" smtClean="0">
                <a:latin typeface="+mn-lt"/>
              </a:rPr>
              <a:t>了解</a:t>
            </a:r>
            <a:r>
              <a:rPr lang="zh-CN" altLang="en-US" sz="2400">
                <a:solidFill>
                  <a:srgbClr val="FF0000"/>
                </a:solidFill>
                <a:latin typeface="+mn-lt"/>
              </a:rPr>
              <a:t>文法的分类</a:t>
            </a:r>
            <a:r>
              <a:rPr lang="zh-CN" altLang="en-US" sz="2400" b="0" smtClean="0">
                <a:latin typeface="+mn-lt"/>
              </a:rPr>
              <a:t>，并重点掌握</a:t>
            </a:r>
            <a:r>
              <a:rPr lang="en-US" altLang="zh-CN" sz="2400" b="0" smtClean="0">
                <a:latin typeface="+mn-lt"/>
              </a:rPr>
              <a:t>2</a:t>
            </a:r>
            <a:r>
              <a:rPr lang="zh-CN" altLang="en-US" sz="2400" b="0" smtClean="0">
                <a:latin typeface="+mn-lt"/>
              </a:rPr>
              <a:t>型文法和</a:t>
            </a:r>
            <a:r>
              <a:rPr lang="en-US" altLang="zh-CN" sz="2400" b="0" smtClean="0">
                <a:latin typeface="+mn-lt"/>
              </a:rPr>
              <a:t>3</a:t>
            </a:r>
            <a:r>
              <a:rPr lang="zh-CN" altLang="en-US" sz="2400" b="0" smtClean="0">
                <a:latin typeface="+mn-lt"/>
              </a:rPr>
              <a:t>型文法的定义。</a:t>
            </a:r>
          </a:p>
        </p:txBody>
      </p:sp>
      <p:sp>
        <p:nvSpPr>
          <p:cNvPr id="10244"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D655E4C7-6EC5-4FC6-860F-BA73437DDA73}" type="slidenum">
              <a:rPr lang="en-US" altLang="zh-CN" sz="1400" smtClean="0">
                <a:ea typeface="仿宋_GB2312" panose="02010609030101010101" pitchFamily="49" charset="-122"/>
              </a:rPr>
              <a:pPr/>
              <a:t>6</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sz="3600" smtClean="0"/>
              <a:t>第二章 文法和语言</a:t>
            </a:r>
          </a:p>
        </p:txBody>
      </p:sp>
      <p:sp>
        <p:nvSpPr>
          <p:cNvPr id="3" name="内容占位符 2"/>
          <p:cNvSpPr>
            <a:spLocks noGrp="1"/>
          </p:cNvSpPr>
          <p:nvPr>
            <p:ph idx="1"/>
          </p:nvPr>
        </p:nvSpPr>
        <p:spPr>
          <a:xfrm>
            <a:off x="649288" y="1268413"/>
            <a:ext cx="7983537" cy="4697412"/>
          </a:xfrm>
        </p:spPr>
        <p:txBody>
          <a:bodyPr>
            <a:spAutoFit/>
          </a:bodyPr>
          <a:lstStyle/>
          <a:p>
            <a:pPr marL="0" indent="0" eaLnBrk="1">
              <a:buFontTx/>
              <a:buNone/>
              <a:defRPr/>
            </a:pPr>
            <a:r>
              <a:rPr lang="en-US" altLang="zh-CN" sz="2800" smtClean="0">
                <a:latin typeface="+mn-lt"/>
              </a:rPr>
              <a:t>3. </a:t>
            </a:r>
            <a:r>
              <a:rPr lang="zh-CN" altLang="en-US" sz="2800" smtClean="0">
                <a:latin typeface="+mn-lt"/>
              </a:rPr>
              <a:t>重点、难点</a:t>
            </a:r>
          </a:p>
          <a:p>
            <a:pPr marL="0" indent="717550" eaLnBrk="1">
              <a:lnSpc>
                <a:spcPct val="150000"/>
              </a:lnSpc>
              <a:buFontTx/>
              <a:buNone/>
              <a:defRPr/>
            </a:pPr>
            <a:r>
              <a:rPr lang="zh-CN" altLang="en-US" sz="2400" b="0" smtClean="0">
                <a:latin typeface="+mn-lt"/>
              </a:rPr>
              <a:t>二义性文法的算法：</a:t>
            </a:r>
            <a:endParaRPr lang="en-US" altLang="zh-CN" sz="2400" b="0" smtClean="0">
              <a:latin typeface="+mn-lt"/>
            </a:endParaRPr>
          </a:p>
          <a:p>
            <a:pPr marL="0" indent="717550" eaLnBrk="1">
              <a:lnSpc>
                <a:spcPct val="150000"/>
              </a:lnSpc>
              <a:buFontTx/>
              <a:buNone/>
              <a:defRPr/>
            </a:pPr>
            <a:r>
              <a:rPr lang="en-US" altLang="zh-CN" sz="2400" b="0">
                <a:latin typeface="+mn-lt"/>
              </a:rPr>
              <a:t>(</a:t>
            </a:r>
            <a:r>
              <a:rPr lang="en-US" altLang="zh-CN" sz="2400" b="0" smtClean="0">
                <a:latin typeface="+mn-lt"/>
              </a:rPr>
              <a:t>1) </a:t>
            </a:r>
            <a:r>
              <a:rPr lang="zh-CN" altLang="en-US" sz="2400" b="0" smtClean="0">
                <a:latin typeface="+mn-lt"/>
              </a:rPr>
              <a:t>假设文法的一个句子，如果对此句子的推导存在两棵不同的语法树，则为二义性文法。</a:t>
            </a:r>
          </a:p>
          <a:p>
            <a:pPr marL="0" indent="717550" eaLnBrk="1">
              <a:lnSpc>
                <a:spcPct val="150000"/>
              </a:lnSpc>
              <a:buFontTx/>
              <a:buNone/>
              <a:defRPr/>
            </a:pPr>
            <a:r>
              <a:rPr lang="en-US" altLang="zh-CN" sz="2400" b="0">
                <a:latin typeface="+mn-lt"/>
              </a:rPr>
              <a:t>(</a:t>
            </a:r>
            <a:r>
              <a:rPr lang="en-US" altLang="zh-CN" sz="2400" b="0" smtClean="0">
                <a:latin typeface="+mn-lt"/>
              </a:rPr>
              <a:t>2) </a:t>
            </a:r>
            <a:r>
              <a:rPr lang="zh-CN" altLang="en-US" sz="2400" b="0" smtClean="0"/>
              <a:t>假设</a:t>
            </a:r>
            <a:r>
              <a:rPr lang="zh-CN" altLang="en-US" sz="2400" b="0"/>
              <a:t>文法的一个句子，如果对此</a:t>
            </a:r>
            <a:r>
              <a:rPr lang="zh-CN" altLang="en-US" sz="2400" b="0" smtClean="0"/>
              <a:t>句子存在两个不同的规范推导过程（最左推导亦然），</a:t>
            </a:r>
            <a:r>
              <a:rPr lang="zh-CN" altLang="en-US" sz="2400" b="0"/>
              <a:t>则为二义性文法</a:t>
            </a:r>
            <a:r>
              <a:rPr lang="zh-CN" altLang="en-US" sz="2400" b="0" smtClean="0"/>
              <a:t>。</a:t>
            </a:r>
            <a:endParaRPr lang="en-US" altLang="zh-CN" sz="2400" b="0" smtClean="0"/>
          </a:p>
          <a:p>
            <a:pPr marL="0" indent="717550" eaLnBrk="1">
              <a:lnSpc>
                <a:spcPct val="150000"/>
              </a:lnSpc>
              <a:buFontTx/>
              <a:buNone/>
              <a:defRPr/>
            </a:pPr>
            <a:r>
              <a:rPr lang="en-US" altLang="zh-CN" sz="2400" b="0">
                <a:latin typeface="+mn-lt"/>
              </a:rPr>
              <a:t>(3</a:t>
            </a:r>
            <a:r>
              <a:rPr lang="en-US" altLang="zh-CN" sz="2400" b="0" smtClean="0">
                <a:latin typeface="+mn-lt"/>
              </a:rPr>
              <a:t>) </a:t>
            </a:r>
            <a:r>
              <a:rPr lang="zh-CN" altLang="en-US" sz="2400" b="0" smtClean="0"/>
              <a:t>假设文法的一个句子，如果对此句子的某个规范句型存在两个不同的句柄，则为二义性文法。</a:t>
            </a:r>
            <a:endParaRPr lang="zh-CN" altLang="en-US" sz="2400" b="0" smtClean="0">
              <a:latin typeface="+mn-lt"/>
            </a:endParaRPr>
          </a:p>
        </p:txBody>
      </p:sp>
      <p:sp>
        <p:nvSpPr>
          <p:cNvPr id="1126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C065DA-AE87-4F5B-AF66-99654D292FA2}" type="slidenum">
              <a:rPr lang="en-US" altLang="zh-CN" sz="1400" smtClean="0">
                <a:ea typeface="仿宋_GB2312" panose="02010609030101010101" pitchFamily="49" charset="-122"/>
              </a:rPr>
              <a:pPr/>
              <a:t>7</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sz="3600" smtClean="0"/>
              <a:t>第三章 词法分析</a:t>
            </a:r>
          </a:p>
        </p:txBody>
      </p:sp>
      <p:sp>
        <p:nvSpPr>
          <p:cNvPr id="3" name="内容占位符 2"/>
          <p:cNvSpPr>
            <a:spLocks noGrp="1"/>
          </p:cNvSpPr>
          <p:nvPr>
            <p:ph idx="1"/>
          </p:nvPr>
        </p:nvSpPr>
        <p:spPr>
          <a:xfrm>
            <a:off x="649289" y="1268413"/>
            <a:ext cx="7982094" cy="4881336"/>
          </a:xfrm>
        </p:spPr>
        <p:txBody>
          <a:bodyPr wrap="square">
            <a:spAutoFit/>
          </a:bodyPr>
          <a:lstStyle/>
          <a:p>
            <a:pPr marL="0" indent="0" eaLnBrk="1">
              <a:buFontTx/>
              <a:buNone/>
              <a:defRPr/>
            </a:pPr>
            <a:r>
              <a:rPr lang="en-US" altLang="zh-CN" sz="2800" smtClean="0">
                <a:latin typeface="+mn-lt"/>
              </a:rPr>
              <a:t>1. </a:t>
            </a:r>
            <a:r>
              <a:rPr lang="zh-CN" altLang="en-US" sz="2800" smtClean="0">
                <a:latin typeface="+mn-lt"/>
              </a:rPr>
              <a:t>主要内容</a:t>
            </a:r>
          </a:p>
          <a:p>
            <a:pPr marL="0" indent="720725" eaLnBrk="1">
              <a:buFontTx/>
              <a:buNone/>
              <a:defRPr/>
            </a:pPr>
            <a:r>
              <a:rPr lang="zh-CN" altLang="en-US" sz="2400" b="0" smtClean="0">
                <a:latin typeface="+mn-lt"/>
              </a:rPr>
              <a:t>本章通过对词法分析器的介绍，说明了词法分析器的作用，</a:t>
            </a:r>
            <a:r>
              <a:rPr lang="zh-CN" altLang="en-US" sz="2400" smtClean="0">
                <a:solidFill>
                  <a:srgbClr val="FF0000"/>
                </a:solidFill>
                <a:latin typeface="+mn-lt"/>
              </a:rPr>
              <a:t>词法分析器的输入和输出</a:t>
            </a:r>
            <a:r>
              <a:rPr lang="zh-CN" altLang="en-US" sz="2400" b="0" smtClean="0">
                <a:latin typeface="+mn-lt"/>
              </a:rPr>
              <a:t>、以及词法分析阶段的必要性；</a:t>
            </a:r>
            <a:endParaRPr lang="en-US" altLang="zh-CN" sz="2400" b="0" smtClean="0">
              <a:latin typeface="+mn-lt"/>
            </a:endParaRPr>
          </a:p>
          <a:p>
            <a:pPr marL="0" indent="720725" eaLnBrk="1">
              <a:buFontTx/>
              <a:buNone/>
              <a:defRPr/>
            </a:pPr>
            <a:r>
              <a:rPr lang="zh-CN" altLang="en-US" sz="2400" b="0" smtClean="0">
                <a:latin typeface="+mn-lt"/>
              </a:rPr>
              <a:t>介绍了</a:t>
            </a:r>
            <a:r>
              <a:rPr lang="zh-CN" altLang="en-US" sz="2400">
                <a:solidFill>
                  <a:srgbClr val="FF0000"/>
                </a:solidFill>
                <a:latin typeface="+mn-lt"/>
              </a:rPr>
              <a:t>单词符号的内部表示</a:t>
            </a:r>
            <a:r>
              <a:rPr lang="zh-CN" altLang="en-US" sz="2400" b="0" smtClean="0">
                <a:latin typeface="+mn-lt"/>
              </a:rPr>
              <a:t>，通过</a:t>
            </a:r>
            <a:r>
              <a:rPr lang="zh-CN" altLang="en-US" sz="2400">
                <a:solidFill>
                  <a:srgbClr val="FF0000"/>
                </a:solidFill>
                <a:latin typeface="+mn-lt"/>
              </a:rPr>
              <a:t>状态转换图</a:t>
            </a:r>
            <a:r>
              <a:rPr lang="zh-CN" altLang="en-US" sz="2400" b="0" smtClean="0">
                <a:latin typeface="+mn-lt"/>
              </a:rPr>
              <a:t>的介绍，引入了如何</a:t>
            </a:r>
            <a:r>
              <a:rPr lang="zh-CN" altLang="en-US" sz="2400">
                <a:solidFill>
                  <a:srgbClr val="FF0000"/>
                </a:solidFill>
                <a:latin typeface="+mn-lt"/>
              </a:rPr>
              <a:t>由正则文法构造状态转换图</a:t>
            </a:r>
            <a:r>
              <a:rPr lang="zh-CN" altLang="en-US" sz="2400" smtClean="0">
                <a:solidFill>
                  <a:srgbClr val="FF0000"/>
                </a:solidFill>
                <a:latin typeface="+mn-lt"/>
              </a:rPr>
              <a:t>，然后由</a:t>
            </a:r>
            <a:r>
              <a:rPr lang="zh-CN" altLang="en-US" sz="2400">
                <a:solidFill>
                  <a:srgbClr val="FF0000"/>
                </a:solidFill>
                <a:latin typeface="+mn-lt"/>
              </a:rPr>
              <a:t>状态转换</a:t>
            </a:r>
            <a:r>
              <a:rPr lang="zh-CN" altLang="en-US" sz="2400" smtClean="0">
                <a:solidFill>
                  <a:srgbClr val="FF0000"/>
                </a:solidFill>
                <a:latin typeface="+mn-lt"/>
              </a:rPr>
              <a:t>图直接写词法分析程序的手工方法</a:t>
            </a:r>
            <a:r>
              <a:rPr lang="zh-CN" altLang="en-US" sz="2400" b="0" smtClean="0">
                <a:latin typeface="+mn-lt"/>
              </a:rPr>
              <a:t>；</a:t>
            </a:r>
            <a:endParaRPr lang="en-US" altLang="zh-CN" sz="2400" b="0" smtClean="0">
              <a:latin typeface="+mn-lt"/>
            </a:endParaRPr>
          </a:p>
          <a:p>
            <a:pPr marL="0" indent="720725" eaLnBrk="1">
              <a:buFontTx/>
              <a:buNone/>
              <a:defRPr/>
            </a:pPr>
            <a:r>
              <a:rPr lang="zh-CN" altLang="en-US" sz="2400" b="0">
                <a:latin typeface="+mn-lt"/>
              </a:rPr>
              <a:t>介绍了</a:t>
            </a:r>
            <a:r>
              <a:rPr lang="zh-CN" altLang="en-US" sz="2400" smtClean="0">
                <a:solidFill>
                  <a:srgbClr val="FF0000"/>
                </a:solidFill>
                <a:latin typeface="+mn-lt"/>
              </a:rPr>
              <a:t>确定</a:t>
            </a:r>
            <a:r>
              <a:rPr lang="zh-CN" altLang="en-US" sz="2400">
                <a:solidFill>
                  <a:srgbClr val="FF0000"/>
                </a:solidFill>
                <a:latin typeface="+mn-lt"/>
              </a:rPr>
              <a:t>的</a:t>
            </a:r>
            <a:r>
              <a:rPr lang="zh-CN" altLang="en-US" sz="2400" smtClean="0">
                <a:solidFill>
                  <a:srgbClr val="FF0000"/>
                </a:solidFill>
                <a:latin typeface="+mn-lt"/>
              </a:rPr>
              <a:t>有限自动机（</a:t>
            </a:r>
            <a:r>
              <a:rPr lang="en-US" altLang="zh-CN" sz="2400" smtClean="0">
                <a:solidFill>
                  <a:srgbClr val="FF0000"/>
                </a:solidFill>
                <a:latin typeface="+mn-lt"/>
              </a:rPr>
              <a:t>DFA</a:t>
            </a:r>
            <a:r>
              <a:rPr lang="zh-CN" altLang="en-US" sz="2400" smtClean="0">
                <a:solidFill>
                  <a:srgbClr val="FF0000"/>
                </a:solidFill>
                <a:latin typeface="+mn-lt"/>
              </a:rPr>
              <a:t>）</a:t>
            </a:r>
            <a:r>
              <a:rPr lang="zh-CN" altLang="en-US" sz="2400" b="0" smtClean="0">
                <a:latin typeface="+mn-lt"/>
              </a:rPr>
              <a:t>、</a:t>
            </a:r>
            <a:r>
              <a:rPr lang="zh-CN" altLang="en-US" sz="2400">
                <a:solidFill>
                  <a:srgbClr val="FF0000"/>
                </a:solidFill>
                <a:latin typeface="+mn-lt"/>
              </a:rPr>
              <a:t>非确定</a:t>
            </a:r>
            <a:r>
              <a:rPr lang="zh-CN" altLang="en-US" sz="2400" smtClean="0">
                <a:solidFill>
                  <a:srgbClr val="FF0000"/>
                </a:solidFill>
                <a:latin typeface="+mn-lt"/>
              </a:rPr>
              <a:t>有限自动机（</a:t>
            </a:r>
            <a:r>
              <a:rPr lang="en-US" altLang="zh-CN" sz="2400" smtClean="0">
                <a:solidFill>
                  <a:srgbClr val="FF0000"/>
                </a:solidFill>
                <a:latin typeface="+mn-lt"/>
              </a:rPr>
              <a:t>NFA</a:t>
            </a:r>
            <a:r>
              <a:rPr lang="zh-CN" altLang="en-US" sz="2400" smtClean="0">
                <a:solidFill>
                  <a:srgbClr val="FF0000"/>
                </a:solidFill>
                <a:latin typeface="+mn-lt"/>
              </a:rPr>
              <a:t>）</a:t>
            </a:r>
            <a:r>
              <a:rPr lang="zh-CN" altLang="en-US" sz="2400" b="0" smtClean="0">
                <a:latin typeface="+mn-lt"/>
              </a:rPr>
              <a:t>。并说明了</a:t>
            </a:r>
            <a:r>
              <a:rPr lang="zh-CN" altLang="en-US" sz="2400" smtClean="0">
                <a:solidFill>
                  <a:srgbClr val="FF0000"/>
                </a:solidFill>
                <a:latin typeface="+mn-lt"/>
              </a:rPr>
              <a:t>自动机</a:t>
            </a:r>
            <a:r>
              <a:rPr lang="zh-CN" altLang="en-US" sz="2400" b="0">
                <a:latin typeface="+mn-lt"/>
              </a:rPr>
              <a:t>、</a:t>
            </a:r>
            <a:r>
              <a:rPr lang="zh-CN" altLang="en-US" sz="2400">
                <a:solidFill>
                  <a:srgbClr val="FF0000"/>
                </a:solidFill>
                <a:latin typeface="+mn-lt"/>
              </a:rPr>
              <a:t>正则文法</a:t>
            </a:r>
            <a:r>
              <a:rPr lang="zh-CN" altLang="en-US" sz="2400" b="0" smtClean="0">
                <a:latin typeface="+mn-lt"/>
              </a:rPr>
              <a:t>和</a:t>
            </a:r>
            <a:r>
              <a:rPr lang="zh-CN" altLang="en-US" sz="2400">
                <a:solidFill>
                  <a:srgbClr val="FF0000"/>
                </a:solidFill>
                <a:latin typeface="+mn-lt"/>
              </a:rPr>
              <a:t>正则表达式</a:t>
            </a:r>
            <a:r>
              <a:rPr lang="zh-CN" altLang="en-US" sz="2400" b="0" smtClean="0">
                <a:latin typeface="+mn-lt"/>
              </a:rPr>
              <a:t>的等价关系与转换方法，</a:t>
            </a:r>
            <a:r>
              <a:rPr lang="en-US" altLang="zh-CN" sz="2400" smtClean="0">
                <a:solidFill>
                  <a:srgbClr val="FF0000"/>
                </a:solidFill>
                <a:latin typeface="+mn-lt"/>
              </a:rPr>
              <a:t>NFA</a:t>
            </a:r>
            <a:r>
              <a:rPr lang="zh-CN" altLang="en-US" sz="2400" smtClean="0">
                <a:solidFill>
                  <a:srgbClr val="FF0000"/>
                </a:solidFill>
                <a:latin typeface="+mn-lt"/>
              </a:rPr>
              <a:t>的确定化</a:t>
            </a:r>
            <a:r>
              <a:rPr lang="zh-CN" altLang="en-US" sz="2400" b="0" smtClean="0">
                <a:latin typeface="+mn-lt"/>
              </a:rPr>
              <a:t>和</a:t>
            </a:r>
            <a:r>
              <a:rPr lang="en-US" altLang="zh-CN" sz="2400" smtClean="0">
                <a:solidFill>
                  <a:srgbClr val="FF0000"/>
                </a:solidFill>
                <a:latin typeface="+mn-lt"/>
              </a:rPr>
              <a:t>DFA</a:t>
            </a:r>
            <a:r>
              <a:rPr lang="zh-CN" altLang="en-US" sz="2400" smtClean="0">
                <a:solidFill>
                  <a:srgbClr val="FF0000"/>
                </a:solidFill>
                <a:latin typeface="+mn-lt"/>
              </a:rPr>
              <a:t>的最小化</a:t>
            </a:r>
            <a:r>
              <a:rPr lang="zh-CN" altLang="en-US" sz="2400" b="0" smtClean="0">
                <a:latin typeface="+mn-lt"/>
              </a:rPr>
              <a:t>。</a:t>
            </a:r>
            <a:endParaRPr lang="en-US" altLang="zh-CN" sz="2400" b="0" smtClean="0">
              <a:latin typeface="+mn-lt"/>
            </a:endParaRPr>
          </a:p>
          <a:p>
            <a:pPr marL="0" indent="720725" eaLnBrk="1">
              <a:buFontTx/>
              <a:buNone/>
              <a:defRPr/>
            </a:pPr>
            <a:r>
              <a:rPr lang="zh-CN" altLang="en-US" sz="2400" b="0" smtClean="0">
                <a:latin typeface="+mn-lt"/>
              </a:rPr>
              <a:t>通过词法分析程序，介绍了</a:t>
            </a:r>
            <a:r>
              <a:rPr lang="en-US" altLang="zh-CN" sz="2400" b="0" smtClean="0">
                <a:latin typeface="+mn-lt"/>
              </a:rPr>
              <a:t>lex</a:t>
            </a:r>
            <a:r>
              <a:rPr lang="zh-CN" altLang="en-US" sz="2400" b="0" smtClean="0">
                <a:latin typeface="+mn-lt"/>
              </a:rPr>
              <a:t>程序的输入、输出和程序本身的构造。</a:t>
            </a:r>
            <a:endParaRPr lang="zh-CN" altLang="en-US" sz="2800" b="0">
              <a:latin typeface="+mn-lt"/>
            </a:endParaRPr>
          </a:p>
        </p:txBody>
      </p:sp>
      <p:sp>
        <p:nvSpPr>
          <p:cNvPr id="12292"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8D853E95-1727-4953-A46B-9A38163AB31D}" type="slidenum">
              <a:rPr lang="en-US" altLang="zh-CN" sz="1400" smtClean="0">
                <a:ea typeface="仿宋_GB2312" panose="02010609030101010101" pitchFamily="49" charset="-122"/>
              </a:rPr>
              <a:pPr/>
              <a:t>8</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30"/>
          <p:cNvSpPr>
            <a:spLocks noChangeArrowheads="1"/>
          </p:cNvSpPr>
          <p:nvPr/>
        </p:nvSpPr>
        <p:spPr bwMode="auto">
          <a:xfrm>
            <a:off x="1371600" y="3236913"/>
            <a:ext cx="2438400" cy="3124200"/>
          </a:xfrm>
          <a:prstGeom prst="rect">
            <a:avLst/>
          </a:prstGeom>
          <a:noFill/>
          <a:ln w="25400" cap="rnd">
            <a:solidFill>
              <a:srgbClr val="33CCFF"/>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2400" b="0">
              <a:latin typeface="Times New Roman" panose="02020603050405020304" pitchFamily="18" charset="0"/>
            </a:endParaRPr>
          </a:p>
        </p:txBody>
      </p:sp>
      <p:sp>
        <p:nvSpPr>
          <p:cNvPr id="13314" name="标题 1"/>
          <p:cNvSpPr>
            <a:spLocks noGrp="1"/>
          </p:cNvSpPr>
          <p:nvPr>
            <p:ph type="title"/>
          </p:nvPr>
        </p:nvSpPr>
        <p:spPr/>
        <p:txBody>
          <a:bodyPr/>
          <a:lstStyle/>
          <a:p>
            <a:r>
              <a:rPr lang="zh-CN" altLang="en-US" sz="3600" smtClean="0"/>
              <a:t>第三章 词法分析</a:t>
            </a:r>
          </a:p>
        </p:txBody>
      </p:sp>
      <p:sp>
        <p:nvSpPr>
          <p:cNvPr id="13315"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46317CC0-0F01-41CB-9C53-543C60240D2E}" type="slidenum">
              <a:rPr lang="en-US" altLang="zh-CN" sz="1400" smtClean="0">
                <a:ea typeface="仿宋_GB2312" panose="02010609030101010101" pitchFamily="49" charset="-122"/>
              </a:rPr>
              <a:pPr/>
              <a:t>9</a:t>
            </a:fld>
            <a:endParaRPr lang="en-US" altLang="zh-CN" sz="1400" smtClean="0">
              <a:ea typeface="仿宋_GB2312" panose="02010609030101010101" pitchFamily="49" charset="-122"/>
            </a:endParaRPr>
          </a:p>
        </p:txBody>
      </p:sp>
      <p:sp>
        <p:nvSpPr>
          <p:cNvPr id="13316" name="Rectangle 3"/>
          <p:cNvSpPr>
            <a:spLocks noChangeArrowheads="1"/>
          </p:cNvSpPr>
          <p:nvPr/>
        </p:nvSpPr>
        <p:spPr bwMode="auto">
          <a:xfrm>
            <a:off x="3352800" y="1484313"/>
            <a:ext cx="2133600" cy="685800"/>
          </a:xfrm>
          <a:prstGeom prst="rect">
            <a:avLst/>
          </a:prstGeom>
          <a:solidFill>
            <a:srgbClr val="FFFFD5"/>
          </a:solidFill>
          <a:ln w="25400">
            <a:solidFill>
              <a:schemeClr val="tx1"/>
            </a:solidFill>
            <a:miter lim="800000"/>
            <a:headEnd/>
            <a:tailEnd/>
          </a:ln>
          <a:effectLst>
            <a:outerShdw dist="107763" dir="18900000" algn="ctr" rotWithShape="0">
              <a:schemeClr val="bg2"/>
            </a:outerShdw>
          </a:effectLst>
        </p:spPr>
        <p:txBody>
          <a:bodyPr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Times New Roman" panose="02020603050405020304" pitchFamily="18" charset="0"/>
                <a:ea typeface="楷体_GB2312" panose="02010609030101010101" pitchFamily="49" charset="-122"/>
              </a:rPr>
              <a:t>正则文法</a:t>
            </a:r>
            <a:endParaRPr lang="zh-CN" altLang="en-US" sz="2400" b="0">
              <a:latin typeface="Times New Roman" panose="02020603050405020304" pitchFamily="18" charset="0"/>
              <a:ea typeface="楷体_GB2312" panose="02010609030101010101" pitchFamily="49" charset="-122"/>
            </a:endParaRPr>
          </a:p>
        </p:txBody>
      </p:sp>
      <p:sp>
        <p:nvSpPr>
          <p:cNvPr id="13317" name="Rectangle 4"/>
          <p:cNvSpPr>
            <a:spLocks noChangeArrowheads="1"/>
          </p:cNvSpPr>
          <p:nvPr/>
        </p:nvSpPr>
        <p:spPr bwMode="auto">
          <a:xfrm>
            <a:off x="1524000" y="3465513"/>
            <a:ext cx="2133600" cy="685800"/>
          </a:xfrm>
          <a:prstGeom prst="rect">
            <a:avLst/>
          </a:prstGeom>
          <a:solidFill>
            <a:srgbClr val="FFCCCC"/>
          </a:solidFill>
          <a:ln w="25400">
            <a:solidFill>
              <a:schemeClr val="tx1"/>
            </a:solidFill>
            <a:miter lim="800000"/>
            <a:headEnd/>
            <a:tailEnd/>
          </a:ln>
          <a:effectLst>
            <a:outerShdw dist="107763" dir="18900000" algn="ctr" rotWithShape="0">
              <a:schemeClr val="bg2"/>
            </a:outerShdw>
          </a:effectLst>
        </p:spPr>
        <p:txBody>
          <a:bodyPr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a:solidFill>
                  <a:schemeClr val="accent2"/>
                </a:solidFill>
                <a:latin typeface="Times New Roman" panose="02020603050405020304" pitchFamily="18" charset="0"/>
                <a:ea typeface="楷体_GB2312" panose="02010609030101010101" pitchFamily="49" charset="-122"/>
              </a:rPr>
              <a:t>NFA</a:t>
            </a:r>
            <a:endParaRPr lang="en-US" altLang="zh-CN" sz="2400" b="0">
              <a:latin typeface="Times New Roman" panose="02020603050405020304" pitchFamily="18" charset="0"/>
              <a:ea typeface="楷体_GB2312" panose="02010609030101010101" pitchFamily="49" charset="-122"/>
            </a:endParaRPr>
          </a:p>
        </p:txBody>
      </p:sp>
      <p:sp>
        <p:nvSpPr>
          <p:cNvPr id="13318" name="Rectangle 5"/>
          <p:cNvSpPr>
            <a:spLocks noChangeArrowheads="1"/>
          </p:cNvSpPr>
          <p:nvPr/>
        </p:nvSpPr>
        <p:spPr bwMode="auto">
          <a:xfrm>
            <a:off x="5181600" y="3465513"/>
            <a:ext cx="2133600" cy="685800"/>
          </a:xfrm>
          <a:prstGeom prst="rect">
            <a:avLst/>
          </a:prstGeom>
          <a:solidFill>
            <a:srgbClr val="CCFFFF"/>
          </a:solidFill>
          <a:ln w="25400">
            <a:solidFill>
              <a:schemeClr val="tx1"/>
            </a:solidFill>
            <a:miter lim="800000"/>
            <a:headEnd/>
            <a:tailEnd/>
          </a:ln>
          <a:effectLst>
            <a:outerShdw dist="107763" dir="18900000" algn="ctr" rotWithShape="0">
              <a:schemeClr val="bg2"/>
            </a:outerShdw>
          </a:effectLst>
        </p:spPr>
        <p:txBody>
          <a:bodyPr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solidFill>
                  <a:schemeClr val="accent2"/>
                </a:solidFill>
                <a:latin typeface="Times New Roman" panose="02020603050405020304" pitchFamily="18" charset="0"/>
                <a:ea typeface="楷体_GB2312" panose="02010609030101010101" pitchFamily="49" charset="-122"/>
              </a:rPr>
              <a:t>正则表达式</a:t>
            </a:r>
          </a:p>
        </p:txBody>
      </p:sp>
      <p:grpSp>
        <p:nvGrpSpPr>
          <p:cNvPr id="9" name="Group 6"/>
          <p:cNvGrpSpPr>
            <a:grpSpLocks/>
          </p:cNvGrpSpPr>
          <p:nvPr/>
        </p:nvGrpSpPr>
        <p:grpSpPr bwMode="auto">
          <a:xfrm>
            <a:off x="1905000" y="1941513"/>
            <a:ext cx="1295400" cy="1295400"/>
            <a:chOff x="1200" y="1344"/>
            <a:chExt cx="816" cy="816"/>
          </a:xfrm>
        </p:grpSpPr>
        <p:sp>
          <p:nvSpPr>
            <p:cNvPr id="13342" name="Line 7"/>
            <p:cNvSpPr>
              <a:spLocks noChangeShapeType="1"/>
            </p:cNvSpPr>
            <p:nvPr/>
          </p:nvSpPr>
          <p:spPr bwMode="auto">
            <a:xfrm flipV="1">
              <a:off x="1200" y="1344"/>
              <a:ext cx="816" cy="816"/>
            </a:xfrm>
            <a:prstGeom prst="line">
              <a:avLst/>
            </a:prstGeom>
            <a:noFill/>
            <a:ln w="571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3" name="Oval 8">
              <a:hlinkClick r:id="" action="ppaction://noaction"/>
            </p:cNvPr>
            <p:cNvSpPr>
              <a:spLocks noChangeArrowheads="1"/>
            </p:cNvSpPr>
            <p:nvPr/>
          </p:nvSpPr>
          <p:spPr bwMode="auto">
            <a:xfrm>
              <a:off x="1248" y="1440"/>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latin typeface="Times New Roman" panose="02020603050405020304" pitchFamily="18" charset="0"/>
                </a:rPr>
                <a:t>1</a:t>
              </a:r>
            </a:p>
          </p:txBody>
        </p:sp>
      </p:grpSp>
      <p:grpSp>
        <p:nvGrpSpPr>
          <p:cNvPr id="12" name="Group 9"/>
          <p:cNvGrpSpPr>
            <a:grpSpLocks/>
          </p:cNvGrpSpPr>
          <p:nvPr/>
        </p:nvGrpSpPr>
        <p:grpSpPr bwMode="auto">
          <a:xfrm>
            <a:off x="2209800" y="2093913"/>
            <a:ext cx="1143000" cy="1219200"/>
            <a:chOff x="1392" y="1440"/>
            <a:chExt cx="720" cy="768"/>
          </a:xfrm>
        </p:grpSpPr>
        <p:sp>
          <p:nvSpPr>
            <p:cNvPr id="13340" name="Line 10"/>
            <p:cNvSpPr>
              <a:spLocks noChangeShapeType="1"/>
            </p:cNvSpPr>
            <p:nvPr/>
          </p:nvSpPr>
          <p:spPr bwMode="auto">
            <a:xfrm flipV="1">
              <a:off x="1392" y="1440"/>
              <a:ext cx="720" cy="768"/>
            </a:xfrm>
            <a:prstGeom prst="line">
              <a:avLst/>
            </a:prstGeom>
            <a:noFill/>
            <a:ln w="57150">
              <a:solidFill>
                <a:schemeClr val="accent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1" name="Oval 11">
              <a:hlinkClick r:id="" action="ppaction://noaction"/>
            </p:cNvPr>
            <p:cNvSpPr>
              <a:spLocks noChangeArrowheads="1"/>
            </p:cNvSpPr>
            <p:nvPr/>
          </p:nvSpPr>
          <p:spPr bwMode="auto">
            <a:xfrm>
              <a:off x="1824" y="1728"/>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latin typeface="Times New Roman" panose="02020603050405020304" pitchFamily="18" charset="0"/>
                </a:rPr>
                <a:t>2</a:t>
              </a:r>
            </a:p>
          </p:txBody>
        </p:sp>
      </p:grpSp>
      <p:grpSp>
        <p:nvGrpSpPr>
          <p:cNvPr id="15" name="Group 12"/>
          <p:cNvGrpSpPr>
            <a:grpSpLocks/>
          </p:cNvGrpSpPr>
          <p:nvPr/>
        </p:nvGrpSpPr>
        <p:grpSpPr bwMode="auto">
          <a:xfrm>
            <a:off x="3733800" y="3922713"/>
            <a:ext cx="1371600" cy="381000"/>
            <a:chOff x="2352" y="2592"/>
            <a:chExt cx="864" cy="240"/>
          </a:xfrm>
        </p:grpSpPr>
        <p:sp>
          <p:nvSpPr>
            <p:cNvPr id="13338" name="Line 13"/>
            <p:cNvSpPr>
              <a:spLocks noChangeShapeType="1"/>
            </p:cNvSpPr>
            <p:nvPr/>
          </p:nvSpPr>
          <p:spPr bwMode="auto">
            <a:xfrm>
              <a:off x="2352" y="2592"/>
              <a:ext cx="864" cy="0"/>
            </a:xfrm>
            <a:prstGeom prst="line">
              <a:avLst/>
            </a:prstGeom>
            <a:noFill/>
            <a:ln w="57150">
              <a:solidFill>
                <a:schemeClr val="accent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9" name="Oval 14">
              <a:hlinkClick r:id="" action="ppaction://noaction"/>
            </p:cNvPr>
            <p:cNvSpPr>
              <a:spLocks noChangeArrowheads="1"/>
            </p:cNvSpPr>
            <p:nvPr/>
          </p:nvSpPr>
          <p:spPr bwMode="auto">
            <a:xfrm>
              <a:off x="2688" y="2640"/>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latin typeface="Times New Roman" panose="02020603050405020304" pitchFamily="18" charset="0"/>
                </a:rPr>
                <a:t>3</a:t>
              </a:r>
            </a:p>
          </p:txBody>
        </p:sp>
      </p:grpSp>
      <p:grpSp>
        <p:nvGrpSpPr>
          <p:cNvPr id="18" name="Group 15"/>
          <p:cNvGrpSpPr>
            <a:grpSpLocks/>
          </p:cNvGrpSpPr>
          <p:nvPr/>
        </p:nvGrpSpPr>
        <p:grpSpPr bwMode="auto">
          <a:xfrm>
            <a:off x="3810000" y="3236913"/>
            <a:ext cx="1371600" cy="381000"/>
            <a:chOff x="2400" y="2160"/>
            <a:chExt cx="864" cy="240"/>
          </a:xfrm>
        </p:grpSpPr>
        <p:sp>
          <p:nvSpPr>
            <p:cNvPr id="13336" name="Line 16"/>
            <p:cNvSpPr>
              <a:spLocks noChangeShapeType="1"/>
            </p:cNvSpPr>
            <p:nvPr/>
          </p:nvSpPr>
          <p:spPr bwMode="auto">
            <a:xfrm>
              <a:off x="2400" y="2400"/>
              <a:ext cx="864" cy="0"/>
            </a:xfrm>
            <a:prstGeom prst="line">
              <a:avLst/>
            </a:prstGeom>
            <a:noFill/>
            <a:ln w="571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7" name="Oval 17">
              <a:hlinkClick r:id="" action="ppaction://noaction"/>
            </p:cNvPr>
            <p:cNvSpPr>
              <a:spLocks noChangeArrowheads="1"/>
            </p:cNvSpPr>
            <p:nvPr/>
          </p:nvSpPr>
          <p:spPr bwMode="auto">
            <a:xfrm>
              <a:off x="2688" y="2160"/>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latin typeface="Times New Roman" panose="02020603050405020304" pitchFamily="18" charset="0"/>
                </a:rPr>
                <a:t>4</a:t>
              </a:r>
            </a:p>
          </p:txBody>
        </p:sp>
      </p:grpSp>
      <p:grpSp>
        <p:nvGrpSpPr>
          <p:cNvPr id="21" name="Group 18"/>
          <p:cNvGrpSpPr>
            <a:grpSpLocks/>
          </p:cNvGrpSpPr>
          <p:nvPr/>
        </p:nvGrpSpPr>
        <p:grpSpPr bwMode="auto">
          <a:xfrm>
            <a:off x="5638800" y="1865313"/>
            <a:ext cx="1295400" cy="1447800"/>
            <a:chOff x="3552" y="1296"/>
            <a:chExt cx="816" cy="912"/>
          </a:xfrm>
        </p:grpSpPr>
        <p:sp>
          <p:nvSpPr>
            <p:cNvPr id="13334" name="Line 19"/>
            <p:cNvSpPr>
              <a:spLocks noChangeShapeType="1"/>
            </p:cNvSpPr>
            <p:nvPr/>
          </p:nvSpPr>
          <p:spPr bwMode="auto">
            <a:xfrm>
              <a:off x="3552" y="1296"/>
              <a:ext cx="816" cy="912"/>
            </a:xfrm>
            <a:prstGeom prst="line">
              <a:avLst/>
            </a:prstGeom>
            <a:noFill/>
            <a:ln w="571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5" name="Oval 20">
              <a:hlinkClick r:id="" action="ppaction://noaction"/>
            </p:cNvPr>
            <p:cNvSpPr>
              <a:spLocks noChangeArrowheads="1"/>
            </p:cNvSpPr>
            <p:nvPr/>
          </p:nvSpPr>
          <p:spPr bwMode="auto">
            <a:xfrm>
              <a:off x="3888" y="1488"/>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latin typeface="Times New Roman" panose="02020603050405020304" pitchFamily="18" charset="0"/>
                </a:rPr>
                <a:t>5</a:t>
              </a:r>
            </a:p>
          </p:txBody>
        </p:sp>
      </p:grpSp>
      <p:grpSp>
        <p:nvGrpSpPr>
          <p:cNvPr id="24" name="Group 21"/>
          <p:cNvGrpSpPr>
            <a:grpSpLocks/>
          </p:cNvGrpSpPr>
          <p:nvPr/>
        </p:nvGrpSpPr>
        <p:grpSpPr bwMode="auto">
          <a:xfrm>
            <a:off x="5562600" y="2093913"/>
            <a:ext cx="1066800" cy="1295400"/>
            <a:chOff x="3504" y="1440"/>
            <a:chExt cx="672" cy="816"/>
          </a:xfrm>
        </p:grpSpPr>
        <p:sp>
          <p:nvSpPr>
            <p:cNvPr id="13332" name="Line 22"/>
            <p:cNvSpPr>
              <a:spLocks noChangeShapeType="1"/>
            </p:cNvSpPr>
            <p:nvPr/>
          </p:nvSpPr>
          <p:spPr bwMode="auto">
            <a:xfrm>
              <a:off x="3504" y="1440"/>
              <a:ext cx="672" cy="816"/>
            </a:xfrm>
            <a:prstGeom prst="line">
              <a:avLst/>
            </a:prstGeom>
            <a:noFill/>
            <a:ln w="57150">
              <a:solidFill>
                <a:schemeClr val="accent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3" name="Oval 23">
              <a:hlinkClick r:id="" action="ppaction://noaction"/>
            </p:cNvPr>
            <p:cNvSpPr>
              <a:spLocks noChangeArrowheads="1"/>
            </p:cNvSpPr>
            <p:nvPr/>
          </p:nvSpPr>
          <p:spPr bwMode="auto">
            <a:xfrm>
              <a:off x="3552" y="1824"/>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latin typeface="Times New Roman" panose="02020603050405020304" pitchFamily="18" charset="0"/>
                </a:rPr>
                <a:t>6</a:t>
              </a:r>
            </a:p>
          </p:txBody>
        </p:sp>
      </p:grpSp>
      <p:grpSp>
        <p:nvGrpSpPr>
          <p:cNvPr id="27" name="Group 24"/>
          <p:cNvGrpSpPr>
            <a:grpSpLocks/>
          </p:cNvGrpSpPr>
          <p:nvPr/>
        </p:nvGrpSpPr>
        <p:grpSpPr bwMode="auto">
          <a:xfrm>
            <a:off x="1524000" y="4151313"/>
            <a:ext cx="2133600" cy="1219200"/>
            <a:chOff x="960" y="2736"/>
            <a:chExt cx="1344" cy="768"/>
          </a:xfrm>
        </p:grpSpPr>
        <p:sp>
          <p:nvSpPr>
            <p:cNvPr id="13331" name="Line 26"/>
            <p:cNvSpPr>
              <a:spLocks noChangeShapeType="1"/>
            </p:cNvSpPr>
            <p:nvPr/>
          </p:nvSpPr>
          <p:spPr bwMode="auto">
            <a:xfrm>
              <a:off x="1536" y="2736"/>
              <a:ext cx="0" cy="288"/>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Rectangle 25"/>
            <p:cNvSpPr>
              <a:spLocks noChangeArrowheads="1"/>
            </p:cNvSpPr>
            <p:nvPr/>
          </p:nvSpPr>
          <p:spPr bwMode="auto">
            <a:xfrm>
              <a:off x="960" y="3072"/>
              <a:ext cx="1344" cy="432"/>
            </a:xfrm>
            <a:prstGeom prst="rect">
              <a:avLst/>
            </a:prstGeom>
            <a:solidFill>
              <a:srgbClr val="008080"/>
            </a:solidFill>
            <a:ln w="25400">
              <a:solidFill>
                <a:schemeClr val="tx1"/>
              </a:solidFill>
              <a:miter lim="800000"/>
              <a:headEnd/>
              <a:tailEnd/>
            </a:ln>
            <a:effectLst>
              <a:outerShdw dist="107763" dir="18900000" algn="ctr" rotWithShape="0">
                <a:schemeClr val="bg2"/>
              </a:outerShdw>
            </a:effectLst>
          </p:spPr>
          <p:txBody>
            <a:bodyPr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a:solidFill>
                    <a:schemeClr val="bg1"/>
                  </a:solidFill>
                  <a:latin typeface="Times New Roman" panose="02020603050405020304" pitchFamily="18" charset="0"/>
                  <a:ea typeface="楷体_GB2312" panose="02010609030101010101" pitchFamily="49" charset="-122"/>
                </a:rPr>
                <a:t>DFA</a:t>
              </a:r>
              <a:endParaRPr lang="en-US" altLang="zh-CN" sz="2400" b="0">
                <a:latin typeface="Times New Roman" panose="02020603050405020304" pitchFamily="18" charset="0"/>
                <a:ea typeface="楷体_GB2312" panose="02010609030101010101" pitchFamily="49" charset="-122"/>
              </a:endParaRPr>
            </a:p>
          </p:txBody>
        </p:sp>
      </p:grpSp>
      <p:grpSp>
        <p:nvGrpSpPr>
          <p:cNvPr id="31" name="Group 31"/>
          <p:cNvGrpSpPr>
            <a:grpSpLocks/>
          </p:cNvGrpSpPr>
          <p:nvPr/>
        </p:nvGrpSpPr>
        <p:grpSpPr bwMode="auto">
          <a:xfrm>
            <a:off x="1905000" y="5370513"/>
            <a:ext cx="1108075" cy="892175"/>
            <a:chOff x="1200" y="3504"/>
            <a:chExt cx="698" cy="562"/>
          </a:xfrm>
        </p:grpSpPr>
        <p:sp>
          <p:nvSpPr>
            <p:cNvPr id="13329" name="Line 28"/>
            <p:cNvSpPr>
              <a:spLocks noChangeShapeType="1"/>
            </p:cNvSpPr>
            <p:nvPr/>
          </p:nvSpPr>
          <p:spPr bwMode="auto">
            <a:xfrm>
              <a:off x="1536" y="3504"/>
              <a:ext cx="0" cy="288"/>
            </a:xfrm>
            <a:prstGeom prst="line">
              <a:avLst/>
            </a:prstGeom>
            <a:noFill/>
            <a:ln w="571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 name="Text Box 29">
              <a:hlinkClick r:id="" action="ppaction://noaction"/>
            </p:cNvPr>
            <p:cNvSpPr txBox="1">
              <a:spLocks noChangeArrowheads="1"/>
            </p:cNvSpPr>
            <p:nvPr/>
          </p:nvSpPr>
          <p:spPr bwMode="auto">
            <a:xfrm>
              <a:off x="1200" y="3778"/>
              <a:ext cx="698" cy="288"/>
            </a:xfrm>
            <a:prstGeom prst="rect">
              <a:avLst/>
            </a:prstGeom>
            <a:solidFill>
              <a:srgbClr val="FFFFD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a:solidFill>
                    <a:srgbClr val="006699"/>
                  </a:solidFill>
                  <a:latin typeface="Times New Roman" panose="02020603050405020304" pitchFamily="18" charset="0"/>
                </a:rPr>
                <a:t>最小化</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upRight)">
                                      <p:cBhvr>
                                        <p:cTn id="7" dur="500"/>
                                        <p:tgtEl>
                                          <p:spTgt spid="9"/>
                                        </p:tgtEl>
                                      </p:cBhvr>
                                    </p:animEffect>
                                  </p:childTnLst>
                                </p:cTn>
                              </p:par>
                            </p:childTnLst>
                          </p:cTn>
                        </p:par>
                        <p:par>
                          <p:cTn id="8" fill="hold" nodeType="afterGroup">
                            <p:stCondLst>
                              <p:cond delay="500"/>
                            </p:stCondLst>
                            <p:childTnLst>
                              <p:par>
                                <p:cTn id="9" presetID="18" presetClass="entr" presetSubtype="12"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strips(downLeft)">
                                      <p:cBhvr>
                                        <p:cTn id="11" dur="5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right)">
                                      <p:cBhvr>
                                        <p:cTn id="16" dur="500"/>
                                        <p:tgtEl>
                                          <p:spTgt spid="15"/>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strips(downRight)">
                                      <p:cBhvr>
                                        <p:cTn id="25" dur="500"/>
                                        <p:tgtEl>
                                          <p:spTgt spid="21"/>
                                        </p:tgtEl>
                                      </p:cBhvr>
                                    </p:animEffect>
                                  </p:childTnLst>
                                </p:cTn>
                              </p:par>
                            </p:childTnLst>
                          </p:cTn>
                        </p:par>
                        <p:par>
                          <p:cTn id="26" fill="hold" nodeType="afterGroup">
                            <p:stCondLst>
                              <p:cond delay="500"/>
                            </p:stCondLst>
                            <p:childTnLst>
                              <p:par>
                                <p:cTn id="27" presetID="18" presetClass="entr" presetSubtype="9"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strips(upLeft)">
                                      <p:cBhvr>
                                        <p:cTn id="29" dur="500"/>
                                        <p:tgtEl>
                                          <p:spTgt spid="2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up)">
                                      <p:cBhvr>
                                        <p:cTn id="34" dur="500"/>
                                        <p:tgtEl>
                                          <p:spTgt spid="2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up)">
                                      <p:cBhvr>
                                        <p:cTn id="39" dur="500"/>
                                        <p:tgtEl>
                                          <p:spTgt spid="31"/>
                                        </p:tgtEl>
                                      </p:cBhvr>
                                    </p:animEffect>
                                  </p:childTnLst>
                                </p:cTn>
                              </p:par>
                            </p:childTnLst>
                          </p:cTn>
                        </p:par>
                        <p:par>
                          <p:cTn id="40" fill="hold" nodeType="afterGroup">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sz="3600" smtClean="0"/>
              <a:t>第三章 词法分析</a:t>
            </a:r>
          </a:p>
        </p:txBody>
      </p:sp>
      <p:sp>
        <p:nvSpPr>
          <p:cNvPr id="3" name="内容占位符 2"/>
          <p:cNvSpPr>
            <a:spLocks noGrp="1"/>
          </p:cNvSpPr>
          <p:nvPr>
            <p:ph idx="1"/>
          </p:nvPr>
        </p:nvSpPr>
        <p:spPr>
          <a:xfrm>
            <a:off x="649288" y="1268413"/>
            <a:ext cx="7983537" cy="4475162"/>
          </a:xfrm>
        </p:spPr>
        <p:txBody>
          <a:bodyPr>
            <a:spAutoFit/>
          </a:bodyPr>
          <a:lstStyle/>
          <a:p>
            <a:pPr marL="0" indent="0" eaLnBrk="1">
              <a:buFontTx/>
              <a:buNone/>
              <a:defRPr/>
            </a:pPr>
            <a:r>
              <a:rPr lang="en-US" altLang="zh-CN" sz="2800" smtClean="0">
                <a:latin typeface="+mn-lt"/>
              </a:rPr>
              <a:t>2. </a:t>
            </a:r>
            <a:r>
              <a:rPr lang="zh-CN" altLang="en-US" sz="2800" smtClean="0">
                <a:latin typeface="+mn-lt"/>
              </a:rPr>
              <a:t>学习要求</a:t>
            </a:r>
          </a:p>
          <a:p>
            <a:pPr marL="0" indent="801688" eaLnBrk="1">
              <a:lnSpc>
                <a:spcPct val="150000"/>
              </a:lnSpc>
              <a:buFontTx/>
              <a:buNone/>
              <a:defRPr/>
            </a:pPr>
            <a:r>
              <a:rPr lang="zh-CN" altLang="en-US" sz="2400" b="0" smtClean="0">
                <a:latin typeface="+mn-lt"/>
              </a:rPr>
              <a:t>了解词法分析器的作用和词法分析阶段的必要性，单词符号的内部表示，了解状态转换图、状态转换矩阵、正则式、正则集、</a:t>
            </a:r>
            <a:r>
              <a:rPr lang="en-US" altLang="zh-CN" sz="2400" b="0" smtClean="0">
                <a:latin typeface="+mn-lt"/>
              </a:rPr>
              <a:t>LEX</a:t>
            </a:r>
            <a:r>
              <a:rPr lang="zh-CN" altLang="en-US" sz="2400" b="0" smtClean="0">
                <a:latin typeface="+mn-lt"/>
              </a:rPr>
              <a:t>的概念；理解确定的有限自动机、非确定的有限自动机和语言之间的联系；掌握词法分析器的输入和输出、</a:t>
            </a:r>
            <a:r>
              <a:rPr lang="en-US" altLang="zh-CN" sz="2400" b="0" smtClean="0">
                <a:latin typeface="+mn-lt"/>
              </a:rPr>
              <a:t>LEX</a:t>
            </a:r>
            <a:r>
              <a:rPr lang="zh-CN" altLang="en-US" sz="2400" b="0" smtClean="0">
                <a:latin typeface="+mn-lt"/>
              </a:rPr>
              <a:t>程序的输入、输出和基本构造；熟练应用正则文法、正则表达式、有限自动机相互转换的算法。</a:t>
            </a:r>
          </a:p>
        </p:txBody>
      </p:sp>
      <p:sp>
        <p:nvSpPr>
          <p:cNvPr id="14340"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460A2FEE-78D7-45E5-801F-84908BDAFC05}" type="slidenum">
              <a:rPr lang="en-US" altLang="zh-CN" sz="1400" smtClean="0">
                <a:ea typeface="仿宋_GB2312" panose="02010609030101010101" pitchFamily="49" charset="-122"/>
              </a:rPr>
              <a:pPr/>
              <a:t>10</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sz="3600" smtClean="0"/>
              <a:t>第三章 词法分析</a:t>
            </a:r>
          </a:p>
        </p:txBody>
      </p:sp>
      <p:sp>
        <p:nvSpPr>
          <p:cNvPr id="3" name="内容占位符 2"/>
          <p:cNvSpPr>
            <a:spLocks noGrp="1"/>
          </p:cNvSpPr>
          <p:nvPr>
            <p:ph idx="1"/>
          </p:nvPr>
        </p:nvSpPr>
        <p:spPr>
          <a:xfrm>
            <a:off x="649288" y="1268413"/>
            <a:ext cx="8243887" cy="4216400"/>
          </a:xfrm>
        </p:spPr>
        <p:txBody>
          <a:bodyPr>
            <a:spAutoFit/>
          </a:bodyPr>
          <a:lstStyle/>
          <a:p>
            <a:pPr marL="0" indent="0" eaLnBrk="1">
              <a:buFontTx/>
              <a:buNone/>
              <a:defRPr/>
            </a:pPr>
            <a:r>
              <a:rPr lang="en-US" altLang="zh-CN" sz="2800" smtClean="0">
                <a:latin typeface="+mn-lt"/>
              </a:rPr>
              <a:t>3. </a:t>
            </a:r>
            <a:r>
              <a:rPr lang="zh-CN" altLang="en-US" sz="2800" smtClean="0">
                <a:latin typeface="+mn-lt"/>
              </a:rPr>
              <a:t>重点、难点</a:t>
            </a:r>
          </a:p>
          <a:p>
            <a:pPr marL="0" indent="717550" eaLnBrk="1">
              <a:lnSpc>
                <a:spcPct val="150000"/>
              </a:lnSpc>
              <a:buFontTx/>
              <a:buNone/>
              <a:defRPr/>
            </a:pPr>
            <a:r>
              <a:rPr lang="zh-CN" altLang="en-US" sz="2400" b="0" smtClean="0">
                <a:latin typeface="+mn-lt"/>
              </a:rPr>
              <a:t>正则文法、正则表达式、有限自动机相互转换的算法：</a:t>
            </a:r>
          </a:p>
          <a:p>
            <a:pPr marL="0" indent="717550" eaLnBrk="1">
              <a:lnSpc>
                <a:spcPct val="150000"/>
              </a:lnSpc>
              <a:buFontTx/>
              <a:buNone/>
              <a:defRPr/>
            </a:pPr>
            <a:r>
              <a:rPr lang="zh-CN" altLang="en-US" sz="2400" b="0" smtClean="0">
                <a:latin typeface="+mn-lt"/>
              </a:rPr>
              <a:t>正则文法</a:t>
            </a:r>
            <a:r>
              <a:rPr lang="en-US" altLang="zh-CN" sz="2400" b="0" smtClean="0">
                <a:sym typeface="Wingdings" panose="05000000000000000000" pitchFamily="2" charset="2"/>
              </a:rPr>
              <a:t></a:t>
            </a:r>
            <a:r>
              <a:rPr lang="zh-CN" altLang="en-US" sz="2400" b="0" smtClean="0">
                <a:latin typeface="+mn-lt"/>
              </a:rPr>
              <a:t>状态转换图，正则文法</a:t>
            </a:r>
            <a:r>
              <a:rPr lang="en-US" altLang="zh-CN" sz="2400" b="0" smtClean="0">
                <a:sym typeface="Wingdings" panose="05000000000000000000" pitchFamily="2" charset="2"/>
              </a:rPr>
              <a:t></a:t>
            </a:r>
            <a:r>
              <a:rPr lang="zh-CN" altLang="en-US" sz="2400" b="0" smtClean="0">
                <a:latin typeface="+mn-lt"/>
              </a:rPr>
              <a:t>正则式；</a:t>
            </a:r>
          </a:p>
          <a:p>
            <a:pPr marL="0" indent="717550" eaLnBrk="1">
              <a:lnSpc>
                <a:spcPct val="150000"/>
              </a:lnSpc>
              <a:buFontTx/>
              <a:buNone/>
              <a:defRPr/>
            </a:pPr>
            <a:r>
              <a:rPr lang="zh-CN" altLang="en-US" sz="2400" b="0" smtClean="0">
                <a:latin typeface="+mn-lt"/>
              </a:rPr>
              <a:t>状态转换图可表示为有限自动机，然后非确定的有限自动机</a:t>
            </a:r>
            <a:r>
              <a:rPr lang="en-US" altLang="zh-CN" sz="2400" b="0" smtClean="0">
                <a:sym typeface="Wingdings" panose="05000000000000000000" pitchFamily="2" charset="2"/>
              </a:rPr>
              <a:t></a:t>
            </a:r>
            <a:r>
              <a:rPr lang="zh-CN" altLang="en-US" sz="2400" b="0" smtClean="0">
                <a:latin typeface="+mn-lt"/>
              </a:rPr>
              <a:t>确定的有限自动机（状态转换图）；</a:t>
            </a:r>
          </a:p>
          <a:p>
            <a:pPr marL="0" indent="717550" eaLnBrk="1">
              <a:lnSpc>
                <a:spcPct val="150000"/>
              </a:lnSpc>
              <a:buFontTx/>
              <a:buNone/>
              <a:defRPr/>
            </a:pPr>
            <a:r>
              <a:rPr lang="zh-CN" altLang="en-US" sz="2400" b="0" smtClean="0">
                <a:latin typeface="+mn-lt"/>
              </a:rPr>
              <a:t>正则式</a:t>
            </a:r>
            <a:r>
              <a:rPr lang="en-US" altLang="zh-CN" sz="2400" b="0" smtClean="0">
                <a:sym typeface="Wingdings" panose="05000000000000000000" pitchFamily="2" charset="2"/>
              </a:rPr>
              <a:t></a:t>
            </a:r>
            <a:r>
              <a:rPr lang="zh-CN" altLang="en-US" sz="2400" b="0" smtClean="0">
                <a:latin typeface="+mn-lt"/>
              </a:rPr>
              <a:t>有限自动机（状态转换图）；</a:t>
            </a:r>
            <a:endParaRPr lang="en-US" altLang="zh-CN" sz="2400" b="0" smtClean="0">
              <a:latin typeface="+mn-lt"/>
            </a:endParaRPr>
          </a:p>
          <a:p>
            <a:pPr marL="0" indent="717550" eaLnBrk="1">
              <a:lnSpc>
                <a:spcPct val="150000"/>
              </a:lnSpc>
              <a:buFontTx/>
              <a:buNone/>
              <a:defRPr/>
            </a:pPr>
            <a:r>
              <a:rPr lang="en-US" altLang="zh-CN" sz="2400" b="0" smtClean="0">
                <a:latin typeface="+mn-lt"/>
              </a:rPr>
              <a:t>NFA</a:t>
            </a:r>
            <a:r>
              <a:rPr lang="zh-CN" altLang="en-US" sz="2400" b="0" smtClean="0">
                <a:latin typeface="+mn-lt"/>
              </a:rPr>
              <a:t>的确定化（子集法）和最小化（分割法）。</a:t>
            </a:r>
          </a:p>
        </p:txBody>
      </p:sp>
      <p:sp>
        <p:nvSpPr>
          <p:cNvPr id="15364"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E8BE0601-3DD7-4ED2-9489-7589B0525FC4}" type="slidenum">
              <a:rPr lang="en-US" altLang="zh-CN" sz="1400" smtClean="0">
                <a:ea typeface="仿宋_GB2312" panose="02010609030101010101" pitchFamily="49" charset="-122"/>
              </a:rPr>
              <a:pPr/>
              <a:t>11</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sz="3600" smtClean="0"/>
              <a:t>第四章 语法分析</a:t>
            </a:r>
          </a:p>
        </p:txBody>
      </p:sp>
      <p:sp>
        <p:nvSpPr>
          <p:cNvPr id="3" name="内容占位符 2"/>
          <p:cNvSpPr>
            <a:spLocks noGrp="1"/>
          </p:cNvSpPr>
          <p:nvPr>
            <p:ph idx="1"/>
          </p:nvPr>
        </p:nvSpPr>
        <p:spPr>
          <a:xfrm>
            <a:off x="649288" y="1268413"/>
            <a:ext cx="7983537" cy="523875"/>
          </a:xfrm>
        </p:spPr>
        <p:txBody>
          <a:bodyPr>
            <a:spAutoFit/>
          </a:bodyPr>
          <a:lstStyle/>
          <a:p>
            <a:pPr marL="0" indent="0" eaLnBrk="1">
              <a:buFontTx/>
              <a:buNone/>
              <a:defRPr/>
            </a:pPr>
            <a:r>
              <a:rPr lang="en-US" altLang="zh-CN" sz="2800" smtClean="0">
                <a:latin typeface="+mn-lt"/>
              </a:rPr>
              <a:t>1. </a:t>
            </a:r>
            <a:r>
              <a:rPr lang="zh-CN" altLang="en-US" sz="2800" smtClean="0">
                <a:latin typeface="+mn-lt"/>
              </a:rPr>
              <a:t>主要内容</a:t>
            </a:r>
          </a:p>
        </p:txBody>
      </p:sp>
      <p:sp>
        <p:nvSpPr>
          <p:cNvPr id="17412"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7B03117B-1F7E-4B7E-B55A-D59D2B8BA2D7}" type="slidenum">
              <a:rPr lang="en-US" altLang="zh-CN" sz="1400" smtClean="0">
                <a:ea typeface="仿宋_GB2312" panose="02010609030101010101" pitchFamily="49" charset="-122"/>
              </a:rPr>
              <a:pPr/>
              <a:t>12</a:t>
            </a:fld>
            <a:endParaRPr lang="en-US" altLang="zh-CN" sz="1400" smtClean="0">
              <a:ea typeface="仿宋_GB2312" panose="02010609030101010101" pitchFamily="49"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2905360211"/>
              </p:ext>
            </p:extLst>
          </p:nvPr>
        </p:nvGraphicFramePr>
        <p:xfrm>
          <a:off x="1692275" y="2205038"/>
          <a:ext cx="6336109" cy="2840036"/>
        </p:xfrm>
        <a:graphic>
          <a:graphicData uri="http://schemas.openxmlformats.org/drawingml/2006/table">
            <a:tbl>
              <a:tblPr firstRow="1" bandRow="1">
                <a:tableStyleId>{5C22544A-7EE6-4342-B048-85BDC9FD1C3A}</a:tableStyleId>
              </a:tblPr>
              <a:tblGrid>
                <a:gridCol w="743744">
                  <a:extLst>
                    <a:ext uri="{9D8B030D-6E8A-4147-A177-3AD203B41FA5}">
                      <a16:colId xmlns:a16="http://schemas.microsoft.com/office/drawing/2014/main" val="3042529395"/>
                    </a:ext>
                  </a:extLst>
                </a:gridCol>
                <a:gridCol w="3320256">
                  <a:extLst>
                    <a:ext uri="{9D8B030D-6E8A-4147-A177-3AD203B41FA5}">
                      <a16:colId xmlns:a16="http://schemas.microsoft.com/office/drawing/2014/main" val="591062368"/>
                    </a:ext>
                  </a:extLst>
                </a:gridCol>
                <a:gridCol w="2272109">
                  <a:extLst>
                    <a:ext uri="{9D8B030D-6E8A-4147-A177-3AD203B41FA5}">
                      <a16:colId xmlns:a16="http://schemas.microsoft.com/office/drawing/2014/main" val="755425150"/>
                    </a:ext>
                  </a:extLst>
                </a:gridCol>
              </a:tblGrid>
              <a:tr h="495987">
                <a:tc>
                  <a:txBody>
                    <a:bodyPr/>
                    <a:lstStyle/>
                    <a:p>
                      <a:pPr algn="ctr"/>
                      <a:endParaRPr lang="zh-CN" altLang="en-US" sz="2000">
                        <a:solidFill>
                          <a:schemeClr val="tx1"/>
                        </a:solidFill>
                        <a:latin typeface="+mn-lt"/>
                        <a:ea typeface="宋体" panose="02010600030101010101" pitchFamily="2" charset="-122"/>
                      </a:endParaRPr>
                    </a:p>
                  </a:txBody>
                  <a:tcPr marT="45706" marB="45706">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smtClean="0">
                          <a:solidFill>
                            <a:schemeClr val="tx1"/>
                          </a:solidFill>
                          <a:latin typeface="+mn-lt"/>
                          <a:ea typeface="宋体" panose="02010600030101010101" pitchFamily="2" charset="-122"/>
                        </a:rPr>
                        <a:t>自顶向下</a:t>
                      </a:r>
                      <a:endParaRPr lang="zh-CN" altLang="en-US" sz="2000">
                        <a:solidFill>
                          <a:schemeClr val="tx1"/>
                        </a:solidFill>
                        <a:latin typeface="+mn-lt"/>
                        <a:ea typeface="宋体" panose="02010600030101010101" pitchFamily="2" charset="-122"/>
                      </a:endParaRPr>
                    </a:p>
                  </a:txBody>
                  <a:tcPr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smtClean="0">
                          <a:solidFill>
                            <a:schemeClr val="tx1"/>
                          </a:solidFill>
                          <a:latin typeface="+mn-lt"/>
                          <a:ea typeface="宋体" panose="02010600030101010101" pitchFamily="2" charset="-122"/>
                        </a:rPr>
                        <a:t>自底向上</a:t>
                      </a:r>
                      <a:endParaRPr lang="zh-CN" altLang="en-US" sz="2000">
                        <a:solidFill>
                          <a:schemeClr val="tx1"/>
                        </a:solidFill>
                        <a:latin typeface="+mn-lt"/>
                        <a:ea typeface="宋体" panose="02010600030101010101" pitchFamily="2" charset="-122"/>
                      </a:endParaRPr>
                    </a:p>
                  </a:txBody>
                  <a:tcPr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1021139"/>
                  </a:ext>
                </a:extLst>
              </a:tr>
              <a:tr h="495987">
                <a:tc rowSpan="2">
                  <a:txBody>
                    <a:bodyPr/>
                    <a:lstStyle/>
                    <a:p>
                      <a:r>
                        <a:rPr lang="zh-CN" altLang="en-US" sz="2000" smtClean="0">
                          <a:solidFill>
                            <a:schemeClr val="tx1"/>
                          </a:solidFill>
                          <a:latin typeface="+mn-lt"/>
                          <a:ea typeface="宋体" panose="02010600030101010101" pitchFamily="2" charset="-122"/>
                        </a:rPr>
                        <a:t>问题</a:t>
                      </a:r>
                      <a:endParaRPr lang="zh-CN" altLang="en-US" sz="2000">
                        <a:solidFill>
                          <a:schemeClr val="tx1"/>
                        </a:solidFill>
                        <a:latin typeface="+mn-lt"/>
                        <a:ea typeface="宋体" panose="02010600030101010101" pitchFamily="2" charset="-122"/>
                      </a:endParaRPr>
                    </a:p>
                  </a:txBody>
                  <a:tcPr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US" altLang="zh-CN" sz="2000" smtClean="0">
                          <a:solidFill>
                            <a:schemeClr val="tx1"/>
                          </a:solidFill>
                          <a:latin typeface="+mn-lt"/>
                          <a:ea typeface="宋体" panose="02010600030101010101" pitchFamily="2" charset="-122"/>
                        </a:rPr>
                        <a:t>1. </a:t>
                      </a:r>
                      <a:r>
                        <a:rPr lang="zh-CN" altLang="en-US" sz="2000" smtClean="0">
                          <a:solidFill>
                            <a:schemeClr val="tx1"/>
                          </a:solidFill>
                          <a:latin typeface="+mn-lt"/>
                          <a:ea typeface="宋体" panose="02010600030101010101" pitchFamily="2" charset="-122"/>
                        </a:rPr>
                        <a:t>左递归</a:t>
                      </a:r>
                      <a:endParaRPr lang="zh-CN" altLang="en-US" sz="200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000" smtClean="0">
                          <a:solidFill>
                            <a:schemeClr val="tx1"/>
                          </a:solidFill>
                          <a:latin typeface="+mn-lt"/>
                          <a:ea typeface="宋体" panose="02010600030101010101" pitchFamily="2" charset="-122"/>
                        </a:rPr>
                        <a:t>1. </a:t>
                      </a:r>
                      <a:r>
                        <a:rPr lang="zh-CN" altLang="en-US" sz="2000" smtClean="0">
                          <a:solidFill>
                            <a:schemeClr val="tx1"/>
                          </a:solidFill>
                          <a:latin typeface="+mn-lt"/>
                          <a:ea typeface="宋体" panose="02010600030101010101" pitchFamily="2" charset="-122"/>
                        </a:rPr>
                        <a:t>递归下降子程序</a:t>
                      </a:r>
                      <a:endParaRPr lang="zh-CN" altLang="en-US" sz="200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5531043"/>
                  </a:ext>
                </a:extLst>
              </a:tr>
              <a:tr h="495987">
                <a:tc vMerge="1">
                  <a:txBody>
                    <a:bodyPr/>
                    <a:lstStyle/>
                    <a:p>
                      <a:endParaRPr lang="zh-CN" altLang="en-US">
                        <a:solidFill>
                          <a:schemeClr val="tx1"/>
                        </a:solidFill>
                        <a:latin typeface="+mn-lt"/>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000" smtClean="0">
                          <a:solidFill>
                            <a:schemeClr val="tx1"/>
                          </a:solidFill>
                          <a:latin typeface="+mn-lt"/>
                          <a:ea typeface="宋体" panose="02010600030101010101" pitchFamily="2" charset="-122"/>
                        </a:rPr>
                        <a:t>2. </a:t>
                      </a:r>
                      <a:r>
                        <a:rPr lang="zh-CN" altLang="en-US" sz="2000" smtClean="0">
                          <a:solidFill>
                            <a:schemeClr val="tx1"/>
                          </a:solidFill>
                          <a:latin typeface="+mn-lt"/>
                          <a:ea typeface="宋体" panose="02010600030101010101" pitchFamily="2" charset="-122"/>
                        </a:rPr>
                        <a:t>回溯</a:t>
                      </a:r>
                      <a:endParaRPr lang="zh-CN" altLang="en-US" sz="200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US" altLang="zh-CN" sz="2000" smtClean="0">
                          <a:solidFill>
                            <a:schemeClr val="tx1"/>
                          </a:solidFill>
                          <a:latin typeface="+mn-lt"/>
                          <a:ea typeface="宋体" panose="02010600030101010101" pitchFamily="2" charset="-122"/>
                        </a:rPr>
                        <a:t>2. LL</a:t>
                      </a:r>
                      <a:r>
                        <a:rPr lang="zh-CN" altLang="en-US" sz="2000" smtClean="0">
                          <a:solidFill>
                            <a:schemeClr val="tx1"/>
                          </a:solidFill>
                          <a:latin typeface="+mn-lt"/>
                          <a:ea typeface="宋体" panose="02010600030101010101" pitchFamily="2" charset="-122"/>
                        </a:rPr>
                        <a:t>分析</a:t>
                      </a:r>
                      <a:endParaRPr lang="zh-CN" altLang="en-US" sz="200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0923433"/>
                  </a:ext>
                </a:extLst>
              </a:tr>
              <a:tr h="495987">
                <a:tc rowSpan="2">
                  <a:txBody>
                    <a:bodyPr/>
                    <a:lstStyle/>
                    <a:p>
                      <a:r>
                        <a:rPr lang="zh-CN" altLang="en-US" sz="2000" smtClean="0">
                          <a:solidFill>
                            <a:schemeClr val="tx1"/>
                          </a:solidFill>
                          <a:latin typeface="+mn-lt"/>
                          <a:ea typeface="宋体" panose="02010600030101010101" pitchFamily="2" charset="-122"/>
                        </a:rPr>
                        <a:t>方法</a:t>
                      </a:r>
                      <a:endParaRPr lang="zh-CN" altLang="en-US" sz="2000">
                        <a:solidFill>
                          <a:schemeClr val="tx1"/>
                        </a:solidFill>
                        <a:latin typeface="+mn-lt"/>
                        <a:ea typeface="宋体" panose="02010600030101010101" pitchFamily="2" charset="-122"/>
                      </a:endParaRPr>
                    </a:p>
                  </a:txBody>
                  <a:tcPr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US" altLang="zh-CN" sz="2000" smtClean="0">
                          <a:solidFill>
                            <a:schemeClr val="tx1"/>
                          </a:solidFill>
                          <a:latin typeface="+mn-lt"/>
                          <a:ea typeface="宋体" panose="02010600030101010101" pitchFamily="2" charset="-122"/>
                        </a:rPr>
                        <a:t>1. </a:t>
                      </a:r>
                      <a:r>
                        <a:rPr lang="zh-CN" altLang="en-US" sz="2000" smtClean="0">
                          <a:solidFill>
                            <a:schemeClr val="tx1"/>
                          </a:solidFill>
                          <a:latin typeface="+mn-lt"/>
                          <a:ea typeface="宋体" panose="02010600030101010101" pitchFamily="2" charset="-122"/>
                        </a:rPr>
                        <a:t>如何找句柄</a:t>
                      </a:r>
                      <a:endParaRPr lang="zh-CN" altLang="en-US" sz="200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000" smtClean="0">
                          <a:solidFill>
                            <a:schemeClr val="tx1"/>
                          </a:solidFill>
                          <a:latin typeface="+mn-lt"/>
                          <a:ea typeface="宋体" panose="02010600030101010101" pitchFamily="2" charset="-122"/>
                        </a:rPr>
                        <a:t>1.</a:t>
                      </a:r>
                      <a:r>
                        <a:rPr lang="en-US" altLang="zh-CN" sz="2000" baseline="0" smtClean="0">
                          <a:solidFill>
                            <a:schemeClr val="tx1"/>
                          </a:solidFill>
                          <a:latin typeface="+mn-lt"/>
                          <a:ea typeface="宋体" panose="02010600030101010101" pitchFamily="2" charset="-122"/>
                        </a:rPr>
                        <a:t> </a:t>
                      </a:r>
                      <a:r>
                        <a:rPr lang="zh-CN" altLang="en-US" sz="2000" baseline="0" smtClean="0">
                          <a:solidFill>
                            <a:schemeClr val="tx1"/>
                          </a:solidFill>
                          <a:latin typeface="+mn-lt"/>
                          <a:ea typeface="宋体" panose="02010600030101010101" pitchFamily="2" charset="-122"/>
                        </a:rPr>
                        <a:t>算符优先分析</a:t>
                      </a:r>
                      <a:endParaRPr lang="zh-CN" altLang="en-US" sz="200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1519481"/>
                  </a:ext>
                </a:extLst>
              </a:tr>
              <a:tr h="856088">
                <a:tc vMerge="1">
                  <a:txBody>
                    <a:bodyPr/>
                    <a:lstStyle/>
                    <a:p>
                      <a:endParaRPr lang="zh-CN" altLang="en-US">
                        <a:solidFill>
                          <a:schemeClr val="tx1"/>
                        </a:solidFill>
                        <a:latin typeface="+mn-lt"/>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000" dirty="0" smtClean="0">
                          <a:solidFill>
                            <a:schemeClr val="tx1"/>
                          </a:solidFill>
                          <a:latin typeface="+mn-lt"/>
                          <a:ea typeface="宋体" panose="02010600030101010101" pitchFamily="2" charset="-122"/>
                        </a:rPr>
                        <a:t>2. </a:t>
                      </a:r>
                      <a:r>
                        <a:rPr lang="zh-CN" altLang="en-US" sz="2000" dirty="0" smtClean="0">
                          <a:solidFill>
                            <a:schemeClr val="tx1"/>
                          </a:solidFill>
                          <a:latin typeface="+mn-lt"/>
                          <a:ea typeface="宋体" panose="02010600030101010101" pitchFamily="2" charset="-122"/>
                        </a:rPr>
                        <a:t>“句柄”</a:t>
                      </a:r>
                      <a:r>
                        <a:rPr lang="el-GR" altLang="zh-CN" sz="2000" dirty="0" smtClean="0">
                          <a:solidFill>
                            <a:schemeClr val="tx1"/>
                          </a:solidFill>
                          <a:latin typeface="+mn-lt"/>
                          <a:ea typeface="宋体" panose="02010600030101010101" pitchFamily="2" charset="-122"/>
                        </a:rPr>
                        <a:t>α</a:t>
                      </a:r>
                      <a:r>
                        <a:rPr lang="zh-CN" altLang="en-US" sz="2000" dirty="0" smtClean="0">
                          <a:solidFill>
                            <a:schemeClr val="tx1"/>
                          </a:solidFill>
                          <a:latin typeface="+mn-lt"/>
                          <a:ea typeface="宋体" panose="02010600030101010101" pitchFamily="2" charset="-122"/>
                        </a:rPr>
                        <a:t>已找到，</a:t>
                      </a:r>
                      <a:r>
                        <a:rPr lang="zh-CN" altLang="en-US" sz="2000" dirty="0" smtClean="0">
                          <a:solidFill>
                            <a:schemeClr val="tx1"/>
                          </a:solidFill>
                          <a:latin typeface="+mn-lt"/>
                          <a:ea typeface="宋体" panose="02010600030101010101" pitchFamily="2" charset="-122"/>
                        </a:rPr>
                        <a:t>但出现冲突怎么解决。</a:t>
                      </a:r>
                      <a:endParaRPr lang="zh-CN" altLang="en-US" sz="2000" dirty="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US" altLang="zh-CN" sz="2000" dirty="0" smtClean="0">
                          <a:solidFill>
                            <a:schemeClr val="tx1"/>
                          </a:solidFill>
                          <a:latin typeface="+mn-lt"/>
                          <a:ea typeface="宋体" panose="02010600030101010101" pitchFamily="2" charset="-122"/>
                        </a:rPr>
                        <a:t>2. LR</a:t>
                      </a:r>
                      <a:r>
                        <a:rPr lang="zh-CN" altLang="en-US" sz="2000" dirty="0" smtClean="0">
                          <a:solidFill>
                            <a:schemeClr val="tx1"/>
                          </a:solidFill>
                          <a:latin typeface="+mn-lt"/>
                          <a:ea typeface="宋体" panose="02010600030101010101" pitchFamily="2" charset="-122"/>
                        </a:rPr>
                        <a:t>分析</a:t>
                      </a:r>
                      <a:endParaRPr lang="zh-CN" altLang="en-US" sz="2000" dirty="0">
                        <a:solidFill>
                          <a:schemeClr val="tx1"/>
                        </a:solidFill>
                        <a:latin typeface="+mn-lt"/>
                        <a:ea typeface="宋体" panose="02010600030101010101" pitchFamily="2" charset="-122"/>
                      </a:endParaRPr>
                    </a:p>
                  </a:txBody>
                  <a:tcPr marL="144000" marT="45706" marB="4570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6913819"/>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smtClean="0"/>
              <a:t>第四章 语法分析</a:t>
            </a:r>
          </a:p>
        </p:txBody>
      </p:sp>
      <p:sp>
        <p:nvSpPr>
          <p:cNvPr id="3" name="内容占位符 2"/>
          <p:cNvSpPr>
            <a:spLocks noGrp="1"/>
          </p:cNvSpPr>
          <p:nvPr>
            <p:ph idx="1"/>
          </p:nvPr>
        </p:nvSpPr>
        <p:spPr>
          <a:xfrm>
            <a:off x="539552" y="1268413"/>
            <a:ext cx="8387208" cy="4441922"/>
          </a:xfrm>
        </p:spPr>
        <p:txBody>
          <a:bodyPr wrap="square">
            <a:spAutoFit/>
          </a:bodyPr>
          <a:lstStyle/>
          <a:p>
            <a:pPr marL="0" indent="0" eaLnBrk="1">
              <a:lnSpc>
                <a:spcPct val="130000"/>
              </a:lnSpc>
              <a:spcBef>
                <a:spcPts val="0"/>
              </a:spcBef>
              <a:buFontTx/>
              <a:buNone/>
              <a:defRPr/>
            </a:pPr>
            <a:r>
              <a:rPr lang="en-US" altLang="zh-CN" sz="2800" smtClean="0">
                <a:latin typeface="+mn-lt"/>
              </a:rPr>
              <a:t>1. </a:t>
            </a:r>
            <a:r>
              <a:rPr lang="zh-CN" altLang="en-US" sz="2800" smtClean="0">
                <a:latin typeface="+mn-lt"/>
              </a:rPr>
              <a:t>主要内容</a:t>
            </a:r>
          </a:p>
          <a:p>
            <a:pPr marL="0" indent="720725" eaLnBrk="1">
              <a:lnSpc>
                <a:spcPct val="130000"/>
              </a:lnSpc>
              <a:spcBef>
                <a:spcPts val="0"/>
              </a:spcBef>
              <a:buFontTx/>
              <a:buNone/>
              <a:defRPr/>
            </a:pPr>
            <a:r>
              <a:rPr lang="zh-CN" altLang="en-US" sz="2400" b="0" smtClean="0">
                <a:latin typeface="+mn-lt"/>
              </a:rPr>
              <a:t>语法分析大的分为自上而下分析和自下而上分析</a:t>
            </a:r>
            <a:r>
              <a:rPr lang="zh-CN" altLang="en-US" sz="2400" b="0">
                <a:latin typeface="+mn-lt"/>
              </a:rPr>
              <a:t>两大类</a:t>
            </a:r>
            <a:r>
              <a:rPr lang="zh-CN" altLang="en-US" sz="2400" b="0" smtClean="0">
                <a:latin typeface="+mn-lt"/>
              </a:rPr>
              <a:t>；</a:t>
            </a:r>
            <a:endParaRPr lang="en-US" altLang="zh-CN" sz="2400" b="0" smtClean="0">
              <a:latin typeface="+mn-lt"/>
            </a:endParaRPr>
          </a:p>
          <a:p>
            <a:pPr marL="0" indent="720725" eaLnBrk="1">
              <a:lnSpc>
                <a:spcPct val="130000"/>
              </a:lnSpc>
              <a:spcBef>
                <a:spcPts val="0"/>
              </a:spcBef>
              <a:buFontTx/>
              <a:buNone/>
              <a:defRPr/>
            </a:pPr>
            <a:r>
              <a:rPr lang="zh-CN" altLang="en-US" sz="2400" b="0" smtClean="0">
                <a:latin typeface="+mn-lt"/>
              </a:rPr>
              <a:t>通过自上而下分析方法的介绍，引入了消除左递归和消除回溯的算法；通过递归下降分析法的介绍，引入了求</a:t>
            </a:r>
            <a:r>
              <a:rPr lang="en-US" altLang="zh-CN" sz="2400" b="0" smtClean="0">
                <a:latin typeface="+mn-lt"/>
              </a:rPr>
              <a:t>FIRST</a:t>
            </a:r>
            <a:r>
              <a:rPr lang="zh-CN" altLang="en-US" sz="2400" b="0" smtClean="0">
                <a:latin typeface="+mn-lt"/>
              </a:rPr>
              <a:t>集和求</a:t>
            </a:r>
            <a:r>
              <a:rPr lang="en-US" altLang="zh-CN" sz="2400" b="0" smtClean="0">
                <a:latin typeface="+mn-lt"/>
              </a:rPr>
              <a:t>FOLLOW</a:t>
            </a:r>
            <a:r>
              <a:rPr lang="zh-CN" altLang="en-US" sz="2400" b="0" smtClean="0">
                <a:latin typeface="+mn-lt"/>
              </a:rPr>
              <a:t>集、构造递归下降分析表和递归下降子程序框图的算法；</a:t>
            </a:r>
            <a:endParaRPr lang="en-US" altLang="zh-CN" sz="2400" b="0" smtClean="0">
              <a:latin typeface="+mn-lt"/>
            </a:endParaRPr>
          </a:p>
          <a:p>
            <a:pPr marL="0" indent="720725" eaLnBrk="1">
              <a:lnSpc>
                <a:spcPct val="130000"/>
              </a:lnSpc>
              <a:spcBef>
                <a:spcPts val="0"/>
              </a:spcBef>
              <a:buFontTx/>
              <a:buNone/>
              <a:defRPr/>
            </a:pPr>
            <a:r>
              <a:rPr lang="zh-CN" altLang="en-US" sz="2400" b="0" smtClean="0">
                <a:latin typeface="+mn-lt"/>
              </a:rPr>
              <a:t>通过</a:t>
            </a:r>
            <a:r>
              <a:rPr lang="en-US" altLang="zh-CN" sz="2400" b="0" smtClean="0">
                <a:latin typeface="+mn-lt"/>
              </a:rPr>
              <a:t>LL(1)</a:t>
            </a:r>
            <a:r>
              <a:rPr lang="zh-CN" altLang="en-US" sz="2400" b="0" smtClean="0">
                <a:latin typeface="+mn-lt"/>
              </a:rPr>
              <a:t>文法的介绍，引入了</a:t>
            </a:r>
            <a:r>
              <a:rPr lang="en-US" altLang="zh-CN" sz="2400" b="0" smtClean="0">
                <a:latin typeface="+mn-lt"/>
              </a:rPr>
              <a:t>LL(1)</a:t>
            </a:r>
            <a:r>
              <a:rPr lang="zh-CN" altLang="en-US" sz="2400" b="0" smtClean="0">
                <a:latin typeface="+mn-lt"/>
              </a:rPr>
              <a:t>分析器的构造、</a:t>
            </a:r>
            <a:r>
              <a:rPr lang="en-US" altLang="zh-CN" sz="2400" b="0" smtClean="0">
                <a:latin typeface="+mn-lt"/>
              </a:rPr>
              <a:t>LL(1)</a:t>
            </a:r>
            <a:r>
              <a:rPr lang="zh-CN" altLang="en-US" sz="2400" b="0" smtClean="0">
                <a:latin typeface="+mn-lt"/>
              </a:rPr>
              <a:t>分析表的构造以及采用</a:t>
            </a:r>
            <a:r>
              <a:rPr lang="en-US" altLang="zh-CN" sz="2400" b="0" smtClean="0">
                <a:latin typeface="+mn-lt"/>
              </a:rPr>
              <a:t>LL(1)</a:t>
            </a:r>
            <a:r>
              <a:rPr lang="zh-CN" altLang="en-US" sz="2400" b="0" smtClean="0">
                <a:latin typeface="+mn-lt"/>
              </a:rPr>
              <a:t>进行语法分析程序的算法。</a:t>
            </a:r>
            <a:endParaRPr lang="zh-CN" altLang="en-US" sz="2800" b="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13</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smtClean="0"/>
              <a:t>第四章 语法分析</a:t>
            </a:r>
          </a:p>
        </p:txBody>
      </p:sp>
      <p:sp>
        <p:nvSpPr>
          <p:cNvPr id="3" name="内容占位符 2"/>
          <p:cNvSpPr>
            <a:spLocks noGrp="1"/>
          </p:cNvSpPr>
          <p:nvPr>
            <p:ph idx="1"/>
          </p:nvPr>
        </p:nvSpPr>
        <p:spPr>
          <a:xfrm>
            <a:off x="649288" y="1268413"/>
            <a:ext cx="7983537" cy="4973669"/>
          </a:xfrm>
        </p:spPr>
        <p:txBody>
          <a:bodyPr>
            <a:spAutoFit/>
          </a:bodyPr>
          <a:lstStyle/>
          <a:p>
            <a:pPr marL="0" indent="0" eaLnBrk="1">
              <a:lnSpc>
                <a:spcPct val="130000"/>
              </a:lnSpc>
              <a:spcBef>
                <a:spcPts val="0"/>
              </a:spcBef>
              <a:buFontTx/>
              <a:buNone/>
              <a:defRPr/>
            </a:pPr>
            <a:r>
              <a:rPr lang="en-US" altLang="zh-CN" sz="2800" smtClean="0">
                <a:latin typeface="+mn-lt"/>
              </a:rPr>
              <a:t>1. </a:t>
            </a:r>
            <a:r>
              <a:rPr lang="zh-CN" altLang="en-US" sz="2800" smtClean="0">
                <a:latin typeface="+mn-lt"/>
              </a:rPr>
              <a:t>主要内容</a:t>
            </a:r>
          </a:p>
          <a:p>
            <a:pPr marL="0" indent="720725" eaLnBrk="1">
              <a:lnSpc>
                <a:spcPct val="130000"/>
              </a:lnSpc>
              <a:spcBef>
                <a:spcPts val="0"/>
              </a:spcBef>
              <a:buFontTx/>
              <a:buNone/>
              <a:defRPr/>
            </a:pPr>
            <a:r>
              <a:rPr lang="zh-CN" altLang="en-US" sz="2400" b="0" smtClean="0">
                <a:latin typeface="+mn-lt"/>
              </a:rPr>
              <a:t>通过对自下而上分析方法的介绍引入了语法分析的一般方法；</a:t>
            </a:r>
            <a:endParaRPr lang="en-US" altLang="zh-CN" sz="2400" b="0" smtClean="0">
              <a:latin typeface="+mn-lt"/>
            </a:endParaRPr>
          </a:p>
          <a:p>
            <a:pPr marL="0" indent="720725" eaLnBrk="1">
              <a:lnSpc>
                <a:spcPct val="130000"/>
              </a:lnSpc>
              <a:spcBef>
                <a:spcPts val="0"/>
              </a:spcBef>
              <a:buFontTx/>
              <a:buNone/>
              <a:defRPr/>
            </a:pPr>
            <a:r>
              <a:rPr lang="zh-CN" altLang="en-US" sz="2400" b="0" smtClean="0">
                <a:latin typeface="+mn-lt"/>
              </a:rPr>
              <a:t>通过对简单优先分析法概念的介绍，说明了求简单优先矩阵和用简单优先分析法进行语法分析的算法；通过对算符优先文法的介绍，引入了素短语的概念，并介绍了构造算符优先矩阵和用算符优先矩阵进行语法分析的算法；</a:t>
            </a:r>
            <a:endParaRPr lang="en-US" altLang="zh-CN" sz="2400" b="0" smtClean="0">
              <a:latin typeface="+mn-lt"/>
            </a:endParaRPr>
          </a:p>
          <a:p>
            <a:pPr marL="0" indent="720725" eaLnBrk="1">
              <a:lnSpc>
                <a:spcPct val="130000"/>
              </a:lnSpc>
              <a:spcBef>
                <a:spcPts val="0"/>
              </a:spcBef>
              <a:buFontTx/>
              <a:buNone/>
              <a:defRPr/>
            </a:pPr>
            <a:r>
              <a:rPr lang="zh-CN" altLang="en-US" sz="2400" b="0" smtClean="0">
                <a:latin typeface="+mn-lt"/>
              </a:rPr>
              <a:t>通过</a:t>
            </a:r>
            <a:r>
              <a:rPr lang="en-US" altLang="zh-CN" sz="2400" b="0" smtClean="0">
                <a:latin typeface="+mn-lt"/>
              </a:rPr>
              <a:t>LR</a:t>
            </a:r>
            <a:r>
              <a:rPr lang="zh-CN" altLang="en-US" sz="2400" b="0" smtClean="0">
                <a:latin typeface="+mn-lt"/>
              </a:rPr>
              <a:t>分析法的介绍，引入了规范句型活前缀、项目、有效项目集族等概念，并说明了构造</a:t>
            </a:r>
            <a:r>
              <a:rPr lang="en-US" altLang="zh-CN" sz="2400" b="0" smtClean="0">
                <a:latin typeface="+mn-lt"/>
              </a:rPr>
              <a:t>LR</a:t>
            </a:r>
            <a:r>
              <a:rPr lang="zh-CN" altLang="en-US" sz="2400" b="0" smtClean="0">
                <a:latin typeface="+mn-lt"/>
              </a:rPr>
              <a:t>分析器、构造有效项目集族的算法。</a:t>
            </a:r>
            <a:endParaRPr lang="zh-CN" altLang="en-US" sz="2800" b="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14</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2421875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sz="3600" smtClean="0"/>
              <a:t>第四章 语法分析</a:t>
            </a:r>
          </a:p>
        </p:txBody>
      </p:sp>
      <p:sp>
        <p:nvSpPr>
          <p:cNvPr id="3" name="内容占位符 2"/>
          <p:cNvSpPr>
            <a:spLocks noGrp="1"/>
          </p:cNvSpPr>
          <p:nvPr>
            <p:ph idx="1"/>
          </p:nvPr>
        </p:nvSpPr>
        <p:spPr>
          <a:xfrm>
            <a:off x="649288" y="1268413"/>
            <a:ext cx="7983537" cy="5091112"/>
          </a:xfrm>
        </p:spPr>
        <p:txBody>
          <a:bodyPr>
            <a:spAutoFit/>
          </a:bodyPr>
          <a:lstStyle/>
          <a:p>
            <a:pPr marL="0" indent="0" eaLnBrk="1">
              <a:buFontTx/>
              <a:buNone/>
              <a:defRPr/>
            </a:pPr>
            <a:r>
              <a:rPr lang="en-US" altLang="zh-CN" sz="2800">
                <a:latin typeface="+mn-lt"/>
              </a:rPr>
              <a:t>2</a:t>
            </a:r>
            <a:r>
              <a:rPr lang="en-US" altLang="zh-CN" sz="2800" smtClean="0">
                <a:latin typeface="+mn-lt"/>
              </a:rPr>
              <a:t>. </a:t>
            </a:r>
            <a:r>
              <a:rPr lang="zh-CN" altLang="zh-CN" sz="2800" smtClean="0">
                <a:latin typeface="+mn-lt"/>
              </a:rPr>
              <a:t>学习</a:t>
            </a:r>
            <a:r>
              <a:rPr lang="zh-CN" altLang="zh-CN" sz="2800">
                <a:latin typeface="+mn-lt"/>
              </a:rPr>
              <a:t>要求</a:t>
            </a:r>
          </a:p>
          <a:p>
            <a:pPr marL="0" indent="633413" eaLnBrk="1">
              <a:lnSpc>
                <a:spcPct val="150000"/>
              </a:lnSpc>
              <a:buFontTx/>
              <a:buNone/>
              <a:defRPr/>
            </a:pPr>
            <a:r>
              <a:rPr lang="zh-CN" altLang="zh-CN" sz="2400" b="0">
                <a:latin typeface="+mn-lt"/>
              </a:rPr>
              <a:t>了解语法分析的概念、各种分析方法的分析表的构造、各种分析</a:t>
            </a:r>
            <a:r>
              <a:rPr lang="zh-CN" altLang="zh-CN" sz="2400" b="0" smtClean="0">
                <a:latin typeface="+mn-lt"/>
              </a:rPr>
              <a:t>方法进行</a:t>
            </a:r>
            <a:r>
              <a:rPr lang="zh-CN" altLang="zh-CN" sz="2400" b="0">
                <a:latin typeface="+mn-lt"/>
              </a:rPr>
              <a:t>语法分析的算法</a:t>
            </a:r>
            <a:r>
              <a:rPr lang="zh-CN" altLang="zh-CN" sz="2400" b="0" smtClean="0">
                <a:latin typeface="+mn-lt"/>
              </a:rPr>
              <a:t>；</a:t>
            </a:r>
            <a:endParaRPr lang="en-US" altLang="zh-CN" sz="2400" b="0" smtClean="0">
              <a:latin typeface="+mn-lt"/>
            </a:endParaRPr>
          </a:p>
          <a:p>
            <a:pPr marL="0" indent="633413" eaLnBrk="1">
              <a:lnSpc>
                <a:spcPct val="150000"/>
              </a:lnSpc>
              <a:buFontTx/>
              <a:buNone/>
              <a:defRPr/>
            </a:pPr>
            <a:r>
              <a:rPr lang="zh-CN" altLang="zh-CN" sz="2400" b="0" smtClean="0">
                <a:latin typeface="+mn-lt"/>
              </a:rPr>
              <a:t>了解</a:t>
            </a:r>
            <a:r>
              <a:rPr lang="zh-CN" altLang="zh-CN" sz="2400" b="0">
                <a:latin typeface="+mn-lt"/>
              </a:rPr>
              <a:t>自上而下和自下而上分析法进行语法分析的精髓；理解简单优先文法和算符优先文法的概念，掌握根据语法树求素短语、最左素短语、简单优先文法的符号比较、算符优先文法的符号比较的算法，掌握构造递归下降程序框图的算法；熟练应用消除左递归、</a:t>
            </a:r>
            <a:r>
              <a:rPr lang="en-US" altLang="zh-CN" sz="2400" b="0">
                <a:latin typeface="+mn-lt"/>
              </a:rPr>
              <a:t>FIRST</a:t>
            </a:r>
            <a:r>
              <a:rPr lang="zh-CN" altLang="zh-CN" sz="2400" b="0">
                <a:latin typeface="+mn-lt"/>
              </a:rPr>
              <a:t>集、</a:t>
            </a:r>
            <a:r>
              <a:rPr lang="en-US" altLang="zh-CN" sz="2400" b="0">
                <a:latin typeface="+mn-lt"/>
              </a:rPr>
              <a:t>FOLLOW</a:t>
            </a:r>
            <a:r>
              <a:rPr lang="zh-CN" altLang="zh-CN" sz="2400" b="0">
                <a:latin typeface="+mn-lt"/>
              </a:rPr>
              <a:t>集、求有效项目、有效项目集族的</a:t>
            </a:r>
            <a:r>
              <a:rPr lang="zh-CN" altLang="zh-CN" sz="2400" b="0" smtClean="0">
                <a:latin typeface="+mn-lt"/>
              </a:rPr>
              <a:t>算法</a:t>
            </a:r>
            <a:r>
              <a:rPr lang="zh-CN" altLang="en-US" sz="2400" b="0" smtClean="0">
                <a:latin typeface="+mn-lt"/>
              </a:rPr>
              <a:t>。</a:t>
            </a:r>
            <a:endParaRPr lang="zh-CN" altLang="zh-CN" sz="2400" b="0">
              <a:latin typeface="+mn-lt"/>
            </a:endParaRPr>
          </a:p>
        </p:txBody>
      </p:sp>
      <p:sp>
        <p:nvSpPr>
          <p:cNvPr id="18436"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BCEE29E7-F207-4F1B-940E-4EFCFFFF2E6C}" type="slidenum">
              <a:rPr lang="en-US" altLang="zh-CN" sz="1400" smtClean="0">
                <a:ea typeface="仿宋_GB2312" panose="02010609030101010101" pitchFamily="49" charset="-122"/>
              </a:rPr>
              <a:pPr/>
              <a:t>15</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sz="3600" smtClean="0"/>
              <a:t>第四章 语法分析</a:t>
            </a:r>
          </a:p>
        </p:txBody>
      </p:sp>
      <p:sp>
        <p:nvSpPr>
          <p:cNvPr id="3" name="内容占位符 2"/>
          <p:cNvSpPr>
            <a:spLocks noGrp="1"/>
          </p:cNvSpPr>
          <p:nvPr>
            <p:ph idx="1"/>
          </p:nvPr>
        </p:nvSpPr>
        <p:spPr>
          <a:xfrm>
            <a:off x="649288" y="1268413"/>
            <a:ext cx="7983537" cy="4439485"/>
          </a:xfrm>
        </p:spPr>
        <p:txBody>
          <a:bodyPr>
            <a:spAutoFit/>
          </a:bodyPr>
          <a:lstStyle/>
          <a:p>
            <a:pPr marL="0" indent="0" eaLnBrk="1">
              <a:lnSpc>
                <a:spcPct val="150000"/>
              </a:lnSpc>
              <a:buFontTx/>
              <a:buNone/>
              <a:defRPr/>
            </a:pPr>
            <a:r>
              <a:rPr lang="en-US" altLang="zh-CN" sz="2800" dirty="0" smtClean="0">
                <a:latin typeface="+mn-lt"/>
              </a:rPr>
              <a:t>3. </a:t>
            </a:r>
            <a:r>
              <a:rPr lang="zh-CN" altLang="en-US" sz="2800" dirty="0" smtClean="0">
                <a:latin typeface="+mn-lt"/>
              </a:rPr>
              <a:t>重点、难点</a:t>
            </a:r>
          </a:p>
          <a:p>
            <a:pPr marL="0" indent="633413" eaLnBrk="1">
              <a:lnSpc>
                <a:spcPct val="150000"/>
              </a:lnSpc>
              <a:buFontTx/>
              <a:buNone/>
              <a:defRPr/>
            </a:pPr>
            <a:r>
              <a:rPr lang="zh-CN" altLang="en-US" sz="2400" b="0" dirty="0" smtClean="0">
                <a:latin typeface="+mn-lt"/>
              </a:rPr>
              <a:t>各下推自动机的工作原理，及其中分析表的构造</a:t>
            </a:r>
            <a:r>
              <a:rPr lang="zh-CN" altLang="en-US" sz="2400" b="0" dirty="0" smtClean="0">
                <a:latin typeface="+mn-lt"/>
              </a:rPr>
              <a:t>。</a:t>
            </a:r>
            <a:endParaRPr lang="en-US" altLang="zh-CN" sz="2400" b="0" dirty="0" smtClean="0">
              <a:latin typeface="+mn-lt"/>
            </a:endParaRPr>
          </a:p>
          <a:p>
            <a:pPr marL="0" indent="633413" eaLnBrk="1">
              <a:lnSpc>
                <a:spcPct val="150000"/>
              </a:lnSpc>
              <a:buFontTx/>
              <a:buNone/>
              <a:defRPr/>
            </a:pPr>
            <a:r>
              <a:rPr lang="zh-CN" altLang="en-US" sz="2400" b="0" dirty="0">
                <a:latin typeface="+mn-lt"/>
              </a:rPr>
              <a:t>四</a:t>
            </a:r>
            <a:r>
              <a:rPr lang="zh-CN" altLang="en-US" sz="2400" b="0" dirty="0" smtClean="0">
                <a:latin typeface="+mn-lt"/>
              </a:rPr>
              <a:t>种</a:t>
            </a:r>
            <a:r>
              <a:rPr lang="en-US" altLang="zh-CN" sz="2400" b="0" dirty="0" smtClean="0">
                <a:latin typeface="+mn-lt"/>
              </a:rPr>
              <a:t>LR</a:t>
            </a:r>
            <a:r>
              <a:rPr lang="zh-CN" altLang="en-US" sz="2400" b="0" dirty="0" smtClean="0">
                <a:latin typeface="+mn-lt"/>
              </a:rPr>
              <a:t>分析法的异同：</a:t>
            </a:r>
            <a:endParaRPr lang="en-US" altLang="zh-CN" sz="2400" b="0" dirty="0" smtClean="0">
              <a:latin typeface="+mn-lt"/>
            </a:endParaRPr>
          </a:p>
          <a:p>
            <a:pPr marL="981075" eaLnBrk="1">
              <a:lnSpc>
                <a:spcPct val="150000"/>
              </a:lnSpc>
              <a:buFont typeface="Wingdings" panose="05000000000000000000" pitchFamily="2" charset="2"/>
              <a:buChar char="Ø"/>
              <a:defRPr/>
            </a:pPr>
            <a:r>
              <a:rPr lang="en-US" altLang="zh-CN" sz="2400" b="0" dirty="0" smtClean="0">
                <a:latin typeface="+mn-lt"/>
              </a:rPr>
              <a:t>LR(0)</a:t>
            </a:r>
          </a:p>
          <a:p>
            <a:pPr marL="981075" eaLnBrk="1">
              <a:lnSpc>
                <a:spcPct val="150000"/>
              </a:lnSpc>
              <a:buFont typeface="Wingdings" panose="05000000000000000000" pitchFamily="2" charset="2"/>
              <a:buChar char="Ø"/>
              <a:defRPr/>
            </a:pPr>
            <a:r>
              <a:rPr lang="en-US" altLang="zh-CN" sz="2400" b="0" dirty="0" smtClean="0">
                <a:latin typeface="+mn-lt"/>
              </a:rPr>
              <a:t>SLR(1)</a:t>
            </a:r>
          </a:p>
          <a:p>
            <a:pPr marL="981075" eaLnBrk="1">
              <a:lnSpc>
                <a:spcPct val="150000"/>
              </a:lnSpc>
              <a:buFont typeface="Wingdings" panose="05000000000000000000" pitchFamily="2" charset="2"/>
              <a:buChar char="Ø"/>
              <a:defRPr/>
            </a:pPr>
            <a:r>
              <a:rPr lang="en-US" altLang="zh-CN" sz="2400" b="0" dirty="0" smtClean="0">
                <a:latin typeface="+mn-lt"/>
              </a:rPr>
              <a:t>LR(1)</a:t>
            </a:r>
          </a:p>
          <a:p>
            <a:pPr marL="981075" eaLnBrk="1">
              <a:lnSpc>
                <a:spcPct val="150000"/>
              </a:lnSpc>
              <a:buFont typeface="Wingdings" panose="05000000000000000000" pitchFamily="2" charset="2"/>
              <a:buChar char="Ø"/>
              <a:defRPr/>
            </a:pPr>
            <a:r>
              <a:rPr lang="en-US" altLang="zh-CN" sz="2400" b="0" dirty="0" smtClean="0">
                <a:latin typeface="+mn-lt"/>
              </a:rPr>
              <a:t>LALR(1)</a:t>
            </a:r>
            <a:endParaRPr lang="zh-CN" altLang="en-US" sz="2400" b="0" dirty="0">
              <a:latin typeface="+mn-lt"/>
            </a:endParaRPr>
          </a:p>
        </p:txBody>
      </p:sp>
      <p:sp>
        <p:nvSpPr>
          <p:cNvPr id="19460"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A80E43D5-6ADD-4090-A3CC-85219ACF92E5}" type="slidenum">
              <a:rPr lang="en-US" altLang="zh-CN" sz="1400" smtClean="0">
                <a:ea typeface="仿宋_GB2312" panose="02010609030101010101" pitchFamily="49" charset="-122"/>
              </a:rPr>
              <a:pPr/>
              <a:t>16</a:t>
            </a:fld>
            <a:endParaRPr lang="en-US" altLang="zh-CN" sz="1400" smtClean="0">
              <a:ea typeface="仿宋_GB2312" panose="02010609030101010101" pitchFamily="49"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sz="3600" smtClean="0"/>
              <a:t>第五章 语法制导的翻译</a:t>
            </a:r>
          </a:p>
        </p:txBody>
      </p:sp>
      <p:sp>
        <p:nvSpPr>
          <p:cNvPr id="20483"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12EB97CC-A2C2-407A-9254-65E0847361A1}" type="slidenum">
              <a:rPr lang="en-US" altLang="zh-CN" sz="1400" smtClean="0">
                <a:ea typeface="仿宋_GB2312" panose="02010609030101010101" pitchFamily="49" charset="-122"/>
              </a:rPr>
              <a:pPr/>
              <a:t>17</a:t>
            </a:fld>
            <a:endParaRPr lang="en-US" altLang="zh-CN" sz="1400" smtClean="0">
              <a:ea typeface="仿宋_GB2312" panose="02010609030101010101" pitchFamily="49" charset="-122"/>
            </a:endParaRPr>
          </a:p>
        </p:txBody>
      </p:sp>
      <p:grpSp>
        <p:nvGrpSpPr>
          <p:cNvPr id="6" name="Group 22"/>
          <p:cNvGrpSpPr>
            <a:grpSpLocks/>
          </p:cNvGrpSpPr>
          <p:nvPr/>
        </p:nvGrpSpPr>
        <p:grpSpPr bwMode="auto">
          <a:xfrm>
            <a:off x="827584" y="1916832"/>
            <a:ext cx="3005138" cy="3311525"/>
            <a:chOff x="1910" y="1253"/>
            <a:chExt cx="1893" cy="2086"/>
          </a:xfrm>
        </p:grpSpPr>
        <p:sp>
          <p:nvSpPr>
            <p:cNvPr id="20485" name="AutoShape 9"/>
            <p:cNvSpPr>
              <a:spLocks noChangeArrowheads="1"/>
            </p:cNvSpPr>
            <p:nvPr/>
          </p:nvSpPr>
          <p:spPr bwMode="auto">
            <a:xfrm>
              <a:off x="2744" y="1706"/>
              <a:ext cx="227" cy="408"/>
            </a:xfrm>
            <a:prstGeom prst="downArrow">
              <a:avLst>
                <a:gd name="adj1" fmla="val 50000"/>
                <a:gd name="adj2" fmla="val 44934"/>
              </a:avLst>
            </a:prstGeom>
            <a:solidFill>
              <a:srgbClr val="CCFFCC"/>
            </a:solidFill>
            <a:ln w="9525">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2000" b="0">
                <a:latin typeface="Times New Roman" panose="02020603050405020304" pitchFamily="18" charset="0"/>
                <a:ea typeface="楷体_GB2312" panose="02010609030101010101" pitchFamily="49" charset="-122"/>
              </a:endParaRPr>
            </a:p>
          </p:txBody>
        </p:sp>
        <p:sp>
          <p:nvSpPr>
            <p:cNvPr id="20486" name="AutoShape 10"/>
            <p:cNvSpPr>
              <a:spLocks noChangeArrowheads="1"/>
            </p:cNvSpPr>
            <p:nvPr/>
          </p:nvSpPr>
          <p:spPr bwMode="auto">
            <a:xfrm>
              <a:off x="2744" y="2568"/>
              <a:ext cx="227" cy="408"/>
            </a:xfrm>
            <a:prstGeom prst="downArrow">
              <a:avLst>
                <a:gd name="adj1" fmla="val 50000"/>
                <a:gd name="adj2" fmla="val 44934"/>
              </a:avLst>
            </a:prstGeom>
            <a:solidFill>
              <a:srgbClr val="CCFFCC"/>
            </a:solidFill>
            <a:ln w="9525">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zh-CN" sz="2000">
                <a:latin typeface="Times New Roman" panose="02020603050405020304" pitchFamily="18" charset="0"/>
                <a:ea typeface="楷体_GB2312" panose="02010609030101010101" pitchFamily="49" charset="-122"/>
              </a:endParaRPr>
            </a:p>
          </p:txBody>
        </p:sp>
        <p:sp>
          <p:nvSpPr>
            <p:cNvPr id="20487" name="AutoShape 18"/>
            <p:cNvSpPr>
              <a:spLocks noChangeArrowheads="1"/>
            </p:cNvSpPr>
            <p:nvPr/>
          </p:nvSpPr>
          <p:spPr bwMode="auto">
            <a:xfrm>
              <a:off x="2381" y="1253"/>
              <a:ext cx="938" cy="338"/>
            </a:xfrm>
            <a:prstGeom prst="roundRect">
              <a:avLst>
                <a:gd name="adj" fmla="val 16667"/>
              </a:avLst>
            </a:prstGeom>
            <a:noFill/>
            <a:ln w="9525">
              <a:solidFill>
                <a:schemeClr val="tx1"/>
              </a:solidFill>
              <a:round/>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44500" indent="-444500">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lnSpc>
                  <a:spcPct val="110000"/>
                </a:lnSpc>
                <a:spcBef>
                  <a:spcPct val="0"/>
                </a:spcBef>
                <a:buFontTx/>
                <a:buNone/>
              </a:pPr>
              <a:r>
                <a:rPr lang="zh-CN" altLang="en-US" sz="2400">
                  <a:latin typeface="Times New Roman" panose="02020603050405020304" pitchFamily="18" charset="0"/>
                  <a:ea typeface="楷体_GB2312" panose="02010609030101010101" pitchFamily="49" charset="-122"/>
                </a:rPr>
                <a:t>输入文法</a:t>
              </a:r>
            </a:p>
          </p:txBody>
        </p:sp>
        <p:sp>
          <p:nvSpPr>
            <p:cNvPr id="20488" name="AutoShape 19"/>
            <p:cNvSpPr>
              <a:spLocks noChangeArrowheads="1"/>
            </p:cNvSpPr>
            <p:nvPr/>
          </p:nvSpPr>
          <p:spPr bwMode="auto">
            <a:xfrm>
              <a:off x="2125" y="3026"/>
              <a:ext cx="1453" cy="313"/>
            </a:xfrm>
            <a:prstGeom prst="roundRect">
              <a:avLst>
                <a:gd name="adj" fmla="val 16667"/>
              </a:avLst>
            </a:prstGeom>
            <a:noFill/>
            <a:ln w="9525">
              <a:solidFill>
                <a:schemeClr val="tx1"/>
              </a:solidFill>
              <a:round/>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latin typeface="Times New Roman" panose="02020603050405020304" pitchFamily="18" charset="0"/>
                  <a:ea typeface="楷体_GB2312" panose="02010609030101010101" pitchFamily="49" charset="-122"/>
                </a:rPr>
                <a:t>属性翻译文法</a:t>
              </a:r>
            </a:p>
          </p:txBody>
        </p:sp>
        <p:sp>
          <p:nvSpPr>
            <p:cNvPr id="20489" name="AutoShape 20"/>
            <p:cNvSpPr>
              <a:spLocks noChangeArrowheads="1"/>
            </p:cNvSpPr>
            <p:nvPr/>
          </p:nvSpPr>
          <p:spPr bwMode="auto">
            <a:xfrm>
              <a:off x="1910" y="2165"/>
              <a:ext cx="1893" cy="313"/>
            </a:xfrm>
            <a:prstGeom prst="roundRect">
              <a:avLst>
                <a:gd name="adj" fmla="val 16667"/>
              </a:avLst>
            </a:prstGeom>
            <a:noFill/>
            <a:ln w="9525">
              <a:solidFill>
                <a:schemeClr val="tx1"/>
              </a:solidFill>
              <a:round/>
              <a:headEn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b="1">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kumimoji="1" sz="2800" b="1">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kumimoji="1"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kumimoji="1"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latin typeface="Times New Roman" panose="02020603050405020304" pitchFamily="18" charset="0"/>
                  <a:ea typeface="楷体_GB2312" panose="02010609030101010101" pitchFamily="49" charset="-122"/>
                </a:rPr>
                <a:t>（字符串）翻译文法</a:t>
              </a:r>
            </a:p>
          </p:txBody>
        </p:sp>
      </p:grpSp>
      <p:grpSp>
        <p:nvGrpSpPr>
          <p:cNvPr id="4" name="组合 3"/>
          <p:cNvGrpSpPr/>
          <p:nvPr/>
        </p:nvGrpSpPr>
        <p:grpSpPr>
          <a:xfrm>
            <a:off x="3619551" y="1954286"/>
            <a:ext cx="3232317" cy="461665"/>
            <a:chOff x="3835575" y="2242318"/>
            <a:chExt cx="3232317" cy="461665"/>
          </a:xfrm>
        </p:grpSpPr>
        <p:sp>
          <p:nvSpPr>
            <p:cNvPr id="2" name="虚尾箭头 1"/>
            <p:cNvSpPr/>
            <p:nvPr/>
          </p:nvSpPr>
          <p:spPr bwMode="auto">
            <a:xfrm>
              <a:off x="3835575" y="2258893"/>
              <a:ext cx="1672529" cy="432048"/>
            </a:xfrm>
            <a:prstGeom prst="stripedRightArrow">
              <a:avLst/>
            </a:prstGeom>
            <a:solidFill>
              <a:schemeClr val="bg1">
                <a:lumMod val="50000"/>
              </a:schemeClr>
            </a:solidFill>
            <a:ln>
              <a:noFill/>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3" name="文本框 2"/>
            <p:cNvSpPr txBox="1"/>
            <p:nvPr/>
          </p:nvSpPr>
          <p:spPr>
            <a:xfrm>
              <a:off x="5652120" y="2242318"/>
              <a:ext cx="1415772" cy="461665"/>
            </a:xfrm>
            <a:prstGeom prst="rect">
              <a:avLst/>
            </a:prstGeom>
            <a:noFill/>
          </p:spPr>
          <p:txBody>
            <a:bodyPr wrap="none" rtlCol="0">
              <a:spAutoFit/>
            </a:bodyPr>
            <a:lstStyle/>
            <a:p>
              <a:r>
                <a:rPr lang="zh-CN" altLang="en-US" b="1" smtClean="0"/>
                <a:t>输入序列</a:t>
              </a:r>
              <a:endParaRPr lang="zh-CN" altLang="en-US" b="1"/>
            </a:p>
          </p:txBody>
        </p:sp>
      </p:grpSp>
      <p:grpSp>
        <p:nvGrpSpPr>
          <p:cNvPr id="5" name="组合 4"/>
          <p:cNvGrpSpPr/>
          <p:nvPr/>
        </p:nvGrpSpPr>
        <p:grpSpPr>
          <a:xfrm>
            <a:off x="4067944" y="3382476"/>
            <a:ext cx="2796351" cy="461665"/>
            <a:chOff x="4283968" y="3670508"/>
            <a:chExt cx="2796351" cy="461665"/>
          </a:xfrm>
        </p:grpSpPr>
        <p:sp>
          <p:nvSpPr>
            <p:cNvPr id="12" name="虚尾箭头 11"/>
            <p:cNvSpPr/>
            <p:nvPr/>
          </p:nvSpPr>
          <p:spPr bwMode="auto">
            <a:xfrm>
              <a:off x="4283968" y="3687083"/>
              <a:ext cx="1230151" cy="432048"/>
            </a:xfrm>
            <a:prstGeom prst="stripedRightArrow">
              <a:avLst/>
            </a:prstGeom>
            <a:solidFill>
              <a:schemeClr val="bg1">
                <a:lumMod val="50000"/>
              </a:schemeClr>
            </a:solidFill>
            <a:ln>
              <a:noFill/>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13" name="文本框 12"/>
            <p:cNvSpPr txBox="1"/>
            <p:nvPr/>
          </p:nvSpPr>
          <p:spPr>
            <a:xfrm>
              <a:off x="5658135" y="3670508"/>
              <a:ext cx="1422184" cy="461665"/>
            </a:xfrm>
            <a:prstGeom prst="rect">
              <a:avLst/>
            </a:prstGeom>
            <a:noFill/>
          </p:spPr>
          <p:txBody>
            <a:bodyPr wrap="none" rtlCol="0">
              <a:spAutoFit/>
            </a:bodyPr>
            <a:lstStyle/>
            <a:p>
              <a:r>
                <a:rPr lang="zh-CN" altLang="en-US" b="1"/>
                <a:t>活动</a:t>
              </a:r>
              <a:r>
                <a:rPr lang="zh-CN" altLang="en-US" b="1" smtClean="0"/>
                <a:t>序列</a:t>
              </a:r>
              <a:endParaRPr lang="zh-CN" altLang="en-US" b="1"/>
            </a:p>
          </p:txBody>
        </p:sp>
      </p:grpSp>
      <p:grpSp>
        <p:nvGrpSpPr>
          <p:cNvPr id="14" name="Group 11"/>
          <p:cNvGrpSpPr>
            <a:grpSpLocks/>
          </p:cNvGrpSpPr>
          <p:nvPr/>
        </p:nvGrpSpPr>
        <p:grpSpPr bwMode="auto">
          <a:xfrm>
            <a:off x="6851868" y="3035293"/>
            <a:ext cx="1550987" cy="1114425"/>
            <a:chOff x="3422" y="2749"/>
            <a:chExt cx="977" cy="702"/>
          </a:xfrm>
        </p:grpSpPr>
        <p:sp>
          <p:nvSpPr>
            <p:cNvPr id="15" name="AutoShape 4"/>
            <p:cNvSpPr>
              <a:spLocks/>
            </p:cNvSpPr>
            <p:nvPr/>
          </p:nvSpPr>
          <p:spPr bwMode="auto">
            <a:xfrm>
              <a:off x="3422" y="2908"/>
              <a:ext cx="48" cy="432"/>
            </a:xfrm>
            <a:prstGeom prst="leftBrace">
              <a:avLst>
                <a:gd name="adj1" fmla="val 75000"/>
                <a:gd name="adj2" fmla="val 50000"/>
              </a:avLst>
            </a:prstGeom>
            <a:noFill/>
            <a:ln w="9525">
              <a:solidFill>
                <a:schemeClr val="accent2"/>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chemeClr val="tx1"/>
                  </a:solidFill>
                  <a:latin typeface="Times New Roman" panose="02020603050405020304" pitchFamily="18" charset="0"/>
                  <a:ea typeface="楷体_GB2312" panose="02010609030101010101" pitchFamily="49" charset="-122"/>
                </a:defRPr>
              </a:lvl1pPr>
              <a:lvl2pPr marL="742950" indent="-285750">
                <a:defRPr kumimoji="1" sz="2000">
                  <a:solidFill>
                    <a:schemeClr val="tx1"/>
                  </a:solidFill>
                  <a:latin typeface="Times New Roman" panose="02020603050405020304" pitchFamily="18" charset="0"/>
                  <a:ea typeface="楷体_GB2312" panose="02010609030101010101" pitchFamily="49" charset="-122"/>
                </a:defRPr>
              </a:lvl2pPr>
              <a:lvl3pPr marL="1143000" indent="-228600">
                <a:defRPr kumimoji="1" sz="2000">
                  <a:solidFill>
                    <a:schemeClr val="tx1"/>
                  </a:solidFill>
                  <a:latin typeface="Times New Roman" panose="02020603050405020304" pitchFamily="18" charset="0"/>
                  <a:ea typeface="楷体_GB2312" panose="02010609030101010101" pitchFamily="49" charset="-122"/>
                </a:defRPr>
              </a:lvl3pPr>
              <a:lvl4pPr marL="1600200" indent="-228600">
                <a:defRPr kumimoji="1" sz="2000">
                  <a:solidFill>
                    <a:schemeClr val="tx1"/>
                  </a:solidFill>
                  <a:latin typeface="Times New Roman" panose="02020603050405020304" pitchFamily="18" charset="0"/>
                  <a:ea typeface="楷体_GB2312" panose="02010609030101010101" pitchFamily="49" charset="-122"/>
                </a:defRPr>
              </a:lvl4pPr>
              <a:lvl5pPr marL="2057400" indent="-228600">
                <a:defRPr kumimoji="1"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9pPr>
            </a:lstStyle>
            <a:p>
              <a:pPr eaLnBrk="1" hangingPunct="1"/>
              <a:endParaRPr lang="zh-CN" altLang="en-US"/>
            </a:p>
          </p:txBody>
        </p:sp>
        <p:sp>
          <p:nvSpPr>
            <p:cNvPr id="17" name="Text Box 9"/>
            <p:cNvSpPr txBox="1">
              <a:spLocks noChangeArrowheads="1"/>
            </p:cNvSpPr>
            <p:nvPr/>
          </p:nvSpPr>
          <p:spPr bwMode="auto">
            <a:xfrm>
              <a:off x="3515" y="2749"/>
              <a:ext cx="884"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chemeClr val="tx1"/>
                  </a:solidFill>
                  <a:latin typeface="Times New Roman" panose="02020603050405020304" pitchFamily="18" charset="0"/>
                  <a:ea typeface="楷体_GB2312" panose="02010609030101010101" pitchFamily="49" charset="-122"/>
                </a:defRPr>
              </a:lvl1pPr>
              <a:lvl2pPr marL="742950" indent="-285750">
                <a:defRPr kumimoji="1" sz="2000">
                  <a:solidFill>
                    <a:schemeClr val="tx1"/>
                  </a:solidFill>
                  <a:latin typeface="Times New Roman" panose="02020603050405020304" pitchFamily="18" charset="0"/>
                  <a:ea typeface="楷体_GB2312" panose="02010609030101010101" pitchFamily="49" charset="-122"/>
                </a:defRPr>
              </a:lvl2pPr>
              <a:lvl3pPr marL="1143000" indent="-228600">
                <a:defRPr kumimoji="1" sz="2000">
                  <a:solidFill>
                    <a:schemeClr val="tx1"/>
                  </a:solidFill>
                  <a:latin typeface="Times New Roman" panose="02020603050405020304" pitchFamily="18" charset="0"/>
                  <a:ea typeface="楷体_GB2312" panose="02010609030101010101" pitchFamily="49" charset="-122"/>
                </a:defRPr>
              </a:lvl3pPr>
              <a:lvl4pPr marL="1600200" indent="-228600">
                <a:defRPr kumimoji="1" sz="2000">
                  <a:solidFill>
                    <a:schemeClr val="tx1"/>
                  </a:solidFill>
                  <a:latin typeface="Times New Roman" panose="02020603050405020304" pitchFamily="18" charset="0"/>
                  <a:ea typeface="楷体_GB2312" panose="02010609030101010101" pitchFamily="49" charset="-122"/>
                </a:defRPr>
              </a:lvl4pPr>
              <a:lvl5pPr marL="2057400" indent="-228600">
                <a:defRPr kumimoji="1"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9pPr>
            </a:lstStyle>
            <a:p>
              <a:pPr eaLnBrk="1" hangingPunct="1">
                <a:lnSpc>
                  <a:spcPct val="140000"/>
                </a:lnSpc>
              </a:pPr>
              <a:r>
                <a:rPr lang="zh-CN" altLang="en-US" sz="2400" b="1"/>
                <a:t>输入序列</a:t>
              </a:r>
            </a:p>
            <a:p>
              <a:pPr eaLnBrk="1" hangingPunct="1">
                <a:lnSpc>
                  <a:spcPct val="140000"/>
                </a:lnSpc>
              </a:pPr>
              <a:r>
                <a:rPr lang="zh-CN" altLang="en-US" sz="2400" b="1"/>
                <a:t>动作序列</a:t>
              </a:r>
            </a:p>
          </p:txBody>
        </p:sp>
      </p:grpSp>
      <p:grpSp>
        <p:nvGrpSpPr>
          <p:cNvPr id="20" name="Group 11"/>
          <p:cNvGrpSpPr>
            <a:grpSpLocks/>
          </p:cNvGrpSpPr>
          <p:nvPr/>
        </p:nvGrpSpPr>
        <p:grpSpPr bwMode="auto">
          <a:xfrm>
            <a:off x="3747108" y="4422701"/>
            <a:ext cx="4973636" cy="1127125"/>
            <a:chOff x="3422" y="2749"/>
            <a:chExt cx="3133" cy="710"/>
          </a:xfrm>
        </p:grpSpPr>
        <p:sp>
          <p:nvSpPr>
            <p:cNvPr id="21" name="AutoShape 4"/>
            <p:cNvSpPr>
              <a:spLocks/>
            </p:cNvSpPr>
            <p:nvPr/>
          </p:nvSpPr>
          <p:spPr bwMode="auto">
            <a:xfrm>
              <a:off x="3422" y="2908"/>
              <a:ext cx="48" cy="432"/>
            </a:xfrm>
            <a:prstGeom prst="leftBrace">
              <a:avLst>
                <a:gd name="adj1" fmla="val 75000"/>
                <a:gd name="adj2" fmla="val 50000"/>
              </a:avLst>
            </a:prstGeom>
            <a:noFill/>
            <a:ln w="9525">
              <a:solidFill>
                <a:schemeClr val="accent2"/>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chemeClr val="tx1"/>
                  </a:solidFill>
                  <a:latin typeface="Times New Roman" panose="02020603050405020304" pitchFamily="18" charset="0"/>
                  <a:ea typeface="楷体_GB2312" panose="02010609030101010101" pitchFamily="49" charset="-122"/>
                </a:defRPr>
              </a:lvl1pPr>
              <a:lvl2pPr marL="742950" indent="-285750">
                <a:defRPr kumimoji="1" sz="2000">
                  <a:solidFill>
                    <a:schemeClr val="tx1"/>
                  </a:solidFill>
                  <a:latin typeface="Times New Roman" panose="02020603050405020304" pitchFamily="18" charset="0"/>
                  <a:ea typeface="楷体_GB2312" panose="02010609030101010101" pitchFamily="49" charset="-122"/>
                </a:defRPr>
              </a:lvl2pPr>
              <a:lvl3pPr marL="1143000" indent="-228600">
                <a:defRPr kumimoji="1" sz="2000">
                  <a:solidFill>
                    <a:schemeClr val="tx1"/>
                  </a:solidFill>
                  <a:latin typeface="Times New Roman" panose="02020603050405020304" pitchFamily="18" charset="0"/>
                  <a:ea typeface="楷体_GB2312" panose="02010609030101010101" pitchFamily="49" charset="-122"/>
                </a:defRPr>
              </a:lvl3pPr>
              <a:lvl4pPr marL="1600200" indent="-228600">
                <a:defRPr kumimoji="1" sz="2000">
                  <a:solidFill>
                    <a:schemeClr val="tx1"/>
                  </a:solidFill>
                  <a:latin typeface="Times New Roman" panose="02020603050405020304" pitchFamily="18" charset="0"/>
                  <a:ea typeface="楷体_GB2312" panose="02010609030101010101" pitchFamily="49" charset="-122"/>
                </a:defRPr>
              </a:lvl4pPr>
              <a:lvl5pPr marL="2057400" indent="-228600">
                <a:defRPr kumimoji="1"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9pPr>
            </a:lstStyle>
            <a:p>
              <a:pPr eaLnBrk="1" hangingPunct="1"/>
              <a:endParaRPr lang="zh-CN" altLang="en-US"/>
            </a:p>
          </p:txBody>
        </p:sp>
        <p:sp>
          <p:nvSpPr>
            <p:cNvPr id="22" name="Text Box 9"/>
            <p:cNvSpPr txBox="1">
              <a:spLocks noChangeArrowheads="1"/>
            </p:cNvSpPr>
            <p:nvPr/>
          </p:nvSpPr>
          <p:spPr bwMode="auto">
            <a:xfrm>
              <a:off x="3515" y="2749"/>
              <a:ext cx="3040"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chemeClr val="tx1"/>
                  </a:solidFill>
                  <a:latin typeface="Times New Roman" panose="02020603050405020304" pitchFamily="18" charset="0"/>
                  <a:ea typeface="楷体_GB2312" panose="02010609030101010101" pitchFamily="49" charset="-122"/>
                </a:defRPr>
              </a:lvl1pPr>
              <a:lvl2pPr marL="742950" indent="-285750">
                <a:defRPr kumimoji="1" sz="2000">
                  <a:solidFill>
                    <a:schemeClr val="tx1"/>
                  </a:solidFill>
                  <a:latin typeface="Times New Roman" panose="02020603050405020304" pitchFamily="18" charset="0"/>
                  <a:ea typeface="楷体_GB2312" panose="02010609030101010101" pitchFamily="49" charset="-122"/>
                </a:defRPr>
              </a:lvl2pPr>
              <a:lvl3pPr marL="1143000" indent="-228600">
                <a:defRPr kumimoji="1" sz="2000">
                  <a:solidFill>
                    <a:schemeClr val="tx1"/>
                  </a:solidFill>
                  <a:latin typeface="Times New Roman" panose="02020603050405020304" pitchFamily="18" charset="0"/>
                  <a:ea typeface="楷体_GB2312" panose="02010609030101010101" pitchFamily="49" charset="-122"/>
                </a:defRPr>
              </a:lvl3pPr>
              <a:lvl4pPr marL="1600200" indent="-228600">
                <a:defRPr kumimoji="1" sz="2000">
                  <a:solidFill>
                    <a:schemeClr val="tx1"/>
                  </a:solidFill>
                  <a:latin typeface="Times New Roman" panose="02020603050405020304" pitchFamily="18" charset="0"/>
                  <a:ea typeface="楷体_GB2312" panose="02010609030101010101" pitchFamily="49" charset="-122"/>
                </a:defRPr>
              </a:lvl4pPr>
              <a:lvl5pPr marL="2057400" indent="-228600">
                <a:defRPr kumimoji="1"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楷体_GB2312" panose="02010609030101010101" pitchFamily="49" charset="-122"/>
                </a:defRPr>
              </a:lvl9pPr>
            </a:lstStyle>
            <a:p>
              <a:pPr eaLnBrk="1" hangingPunct="1">
                <a:lnSpc>
                  <a:spcPct val="140000"/>
                </a:lnSpc>
              </a:pPr>
              <a:r>
                <a:rPr lang="zh-CN" altLang="en-US" sz="2400" b="1"/>
                <a:t>综合</a:t>
              </a:r>
              <a:r>
                <a:rPr lang="zh-CN" altLang="en-US" sz="2400" b="1" smtClean="0"/>
                <a:t>属性</a:t>
              </a:r>
              <a:r>
                <a:rPr lang="zh-CN" altLang="en-US" sz="2400" b="1"/>
                <a:t>（</a:t>
              </a:r>
              <a:r>
                <a:rPr lang="zh-CN" altLang="en-US" sz="2400" b="1" smtClean="0"/>
                <a:t>自</a:t>
              </a:r>
              <a:r>
                <a:rPr lang="zh-CN" altLang="en-US" sz="2400" b="1"/>
                <a:t>下</a:t>
              </a:r>
              <a:r>
                <a:rPr lang="zh-CN" altLang="en-US" sz="2400" b="1" smtClean="0"/>
                <a:t>向上，自</a:t>
              </a:r>
              <a:r>
                <a:rPr lang="zh-CN" altLang="en-US" sz="2400" b="1"/>
                <a:t>右</a:t>
              </a:r>
              <a:r>
                <a:rPr lang="zh-CN" altLang="en-US" sz="2400" b="1" smtClean="0"/>
                <a:t>向左）</a:t>
              </a:r>
              <a:endParaRPr lang="zh-CN" altLang="en-US" sz="2400" b="1"/>
            </a:p>
            <a:p>
              <a:pPr eaLnBrk="1" hangingPunct="1">
                <a:lnSpc>
                  <a:spcPct val="140000"/>
                </a:lnSpc>
              </a:pPr>
              <a:r>
                <a:rPr lang="zh-CN" altLang="en-US" sz="2400" b="1" smtClean="0"/>
                <a:t>继承属性（自上向下，自左向右）</a:t>
              </a:r>
              <a:endParaRPr lang="zh-CN" altLang="en-US" sz="2400" b="1"/>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smtClean="0"/>
              <a:t>第六章 符号表管理</a:t>
            </a:r>
          </a:p>
        </p:txBody>
      </p:sp>
      <p:sp>
        <p:nvSpPr>
          <p:cNvPr id="3" name="内容占位符 2"/>
          <p:cNvSpPr>
            <a:spLocks noGrp="1"/>
          </p:cNvSpPr>
          <p:nvPr>
            <p:ph idx="1"/>
          </p:nvPr>
        </p:nvSpPr>
        <p:spPr>
          <a:xfrm>
            <a:off x="539552" y="1268413"/>
            <a:ext cx="8387208" cy="4973669"/>
          </a:xfrm>
        </p:spPr>
        <p:txBody>
          <a:bodyPr wrap="square">
            <a:spAutoFit/>
          </a:bodyPr>
          <a:lstStyle/>
          <a:p>
            <a:pPr marL="0" indent="0" eaLnBrk="1">
              <a:lnSpc>
                <a:spcPct val="130000"/>
              </a:lnSpc>
              <a:spcBef>
                <a:spcPts val="0"/>
              </a:spcBef>
              <a:buFontTx/>
              <a:buNone/>
              <a:defRPr/>
            </a:pPr>
            <a:r>
              <a:rPr lang="en-US" altLang="zh-CN" sz="2800" dirty="0" smtClean="0">
                <a:latin typeface="+mn-lt"/>
              </a:rPr>
              <a:t>1. </a:t>
            </a:r>
            <a:r>
              <a:rPr lang="zh-CN" altLang="en-US" sz="2800" dirty="0" smtClean="0">
                <a:latin typeface="+mn-lt"/>
              </a:rPr>
              <a:t>主要内容</a:t>
            </a:r>
          </a:p>
          <a:p>
            <a:pPr marL="534988" eaLnBrk="1">
              <a:lnSpc>
                <a:spcPct val="130000"/>
              </a:lnSpc>
              <a:spcBef>
                <a:spcPts val="0"/>
              </a:spcBef>
              <a:buFont typeface="Wingdings" panose="05000000000000000000" pitchFamily="2" charset="2"/>
              <a:buChar char="Ø"/>
              <a:defRPr/>
            </a:pPr>
            <a:r>
              <a:rPr lang="zh-CN" altLang="en-US" sz="2400" b="0" dirty="0">
                <a:latin typeface="+mn-lt"/>
              </a:rPr>
              <a:t>非分程序结构语言的符号表组织  </a:t>
            </a:r>
          </a:p>
          <a:p>
            <a:pPr marL="534988" eaLnBrk="1">
              <a:lnSpc>
                <a:spcPct val="130000"/>
              </a:lnSpc>
              <a:spcBef>
                <a:spcPts val="0"/>
              </a:spcBef>
              <a:buFont typeface="Wingdings" panose="05000000000000000000" pitchFamily="2" charset="2"/>
              <a:buChar char="Ø"/>
              <a:defRPr/>
            </a:pPr>
            <a:r>
              <a:rPr lang="zh-CN" altLang="en-US" sz="2400" b="0" dirty="0">
                <a:latin typeface="+mn-lt"/>
              </a:rPr>
              <a:t>分程序结构语言的符号表组织 </a:t>
            </a:r>
            <a:endParaRPr lang="en-US" altLang="zh-CN" sz="2400" b="0" dirty="0" smtClean="0">
              <a:latin typeface="+mn-lt"/>
            </a:endParaRPr>
          </a:p>
          <a:p>
            <a:pPr marL="534988" eaLnBrk="1">
              <a:lnSpc>
                <a:spcPct val="130000"/>
              </a:lnSpc>
              <a:spcBef>
                <a:spcPts val="0"/>
              </a:spcBef>
              <a:buFont typeface="Wingdings" panose="05000000000000000000" pitchFamily="2" charset="2"/>
              <a:buChar char="Ø"/>
              <a:defRPr/>
            </a:pPr>
            <a:endParaRPr lang="en-US" altLang="zh-CN" sz="2400" b="0" dirty="0">
              <a:latin typeface="+mn-lt"/>
            </a:endParaRPr>
          </a:p>
          <a:p>
            <a:pPr marL="192088" indent="0" eaLnBrk="1">
              <a:lnSpc>
                <a:spcPct val="130000"/>
              </a:lnSpc>
              <a:spcBef>
                <a:spcPts val="0"/>
              </a:spcBef>
              <a:buNone/>
              <a:defRPr/>
            </a:pPr>
            <a:r>
              <a:rPr lang="en-US" altLang="zh-CN" sz="2400" b="0" dirty="0" smtClean="0">
                <a:latin typeface="+mn-lt"/>
              </a:rPr>
              <a:t>        </a:t>
            </a:r>
            <a:r>
              <a:rPr lang="zh-CN" altLang="zh-CN" sz="2400" b="0" dirty="0" smtClean="0">
                <a:latin typeface="+mn-lt"/>
              </a:rPr>
              <a:t>在</a:t>
            </a:r>
            <a:r>
              <a:rPr lang="zh-CN" altLang="zh-CN" sz="2400" b="0" dirty="0">
                <a:latin typeface="+mn-lt"/>
              </a:rPr>
              <a:t>符号表上最常执行的操作</a:t>
            </a:r>
            <a:r>
              <a:rPr lang="zh-CN" altLang="zh-CN" sz="2400" b="0" dirty="0" smtClean="0">
                <a:latin typeface="+mn-lt"/>
              </a:rPr>
              <a:t>是</a:t>
            </a:r>
            <a:r>
              <a:rPr lang="zh-CN" altLang="en-US" sz="2400" b="0" dirty="0">
                <a:latin typeface="+mn-lt"/>
              </a:rPr>
              <a:t>插</a:t>
            </a:r>
            <a:r>
              <a:rPr lang="zh-CN" altLang="en-US" sz="2400" b="0" dirty="0" smtClean="0">
                <a:latin typeface="+mn-lt"/>
              </a:rPr>
              <a:t>表（</a:t>
            </a:r>
            <a:r>
              <a:rPr lang="zh-CN" altLang="zh-CN" sz="2400" b="0" dirty="0">
                <a:latin typeface="+mn-lt"/>
              </a:rPr>
              <a:t>登录符号表</a:t>
            </a:r>
            <a:r>
              <a:rPr lang="zh-CN" altLang="en-US" sz="2400" b="0" dirty="0" smtClean="0">
                <a:latin typeface="+mn-lt"/>
              </a:rPr>
              <a:t>）</a:t>
            </a:r>
            <a:r>
              <a:rPr lang="zh-CN" altLang="zh-CN" sz="2400" b="0" dirty="0" smtClean="0">
                <a:latin typeface="+mn-lt"/>
              </a:rPr>
              <a:t>和查表</a:t>
            </a:r>
            <a:r>
              <a:rPr lang="zh-CN" altLang="zh-CN" sz="2400" b="0" dirty="0">
                <a:latin typeface="+mn-lt"/>
              </a:rPr>
              <a:t>（或检索</a:t>
            </a:r>
            <a:r>
              <a:rPr lang="zh-CN" altLang="zh-CN" sz="2400" b="0" dirty="0" smtClean="0">
                <a:latin typeface="+mn-lt"/>
              </a:rPr>
              <a:t>），</a:t>
            </a:r>
            <a:r>
              <a:rPr lang="zh-CN" altLang="zh-CN" sz="2400" b="0" dirty="0">
                <a:latin typeface="+mn-lt"/>
              </a:rPr>
              <a:t>这些操作根据所编译的语言是否具有显示声明而稍有不同</a:t>
            </a:r>
            <a:r>
              <a:rPr lang="zh-CN" altLang="zh-CN" sz="2400" b="0" dirty="0" smtClean="0">
                <a:latin typeface="+mn-lt"/>
              </a:rPr>
              <a:t>。</a:t>
            </a:r>
            <a:r>
              <a:rPr lang="zh-CN" altLang="en-US" sz="2400" b="0" dirty="0" smtClean="0">
                <a:latin typeface="+mn-lt"/>
              </a:rPr>
              <a:t>遇到声明语句或定义语句时先查表再插表。</a:t>
            </a:r>
            <a:endParaRPr lang="en-US" altLang="zh-CN" sz="2400" b="0" dirty="0" smtClean="0">
              <a:latin typeface="+mn-lt"/>
            </a:endParaRPr>
          </a:p>
          <a:p>
            <a:pPr marL="192088" indent="0" eaLnBrk="1">
              <a:lnSpc>
                <a:spcPct val="130000"/>
              </a:lnSpc>
              <a:spcBef>
                <a:spcPts val="0"/>
              </a:spcBef>
              <a:buNone/>
              <a:defRPr/>
            </a:pPr>
            <a:r>
              <a:rPr lang="en-US" altLang="zh-CN" sz="2400" b="0" dirty="0">
                <a:latin typeface="+mn-lt"/>
              </a:rPr>
              <a:t> </a:t>
            </a:r>
            <a:r>
              <a:rPr lang="en-US" altLang="zh-CN" sz="2400" b="0" dirty="0" smtClean="0">
                <a:latin typeface="+mn-lt"/>
              </a:rPr>
              <a:t>       </a:t>
            </a:r>
            <a:r>
              <a:rPr lang="zh-CN" altLang="en-US" sz="2400" b="0" dirty="0" smtClean="0">
                <a:latin typeface="+mn-lt"/>
              </a:rPr>
              <a:t>符号表的使用将贯穿编译整个过程，但不存在于运行时期。</a:t>
            </a:r>
            <a:endParaRPr lang="zh-CN" altLang="zh-CN" sz="2400" b="0" dirty="0">
              <a:latin typeface="+mn-lt"/>
            </a:endParaRPr>
          </a:p>
          <a:p>
            <a:pPr marL="534988" eaLnBrk="1">
              <a:lnSpc>
                <a:spcPct val="130000"/>
              </a:lnSpc>
              <a:spcBef>
                <a:spcPts val="0"/>
              </a:spcBef>
              <a:buFont typeface="Wingdings" panose="05000000000000000000" pitchFamily="2" charset="2"/>
              <a:buChar char="Ø"/>
              <a:defRPr/>
            </a:pPr>
            <a:endParaRPr lang="zh-CN" altLang="en-US"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18</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41689910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smtClean="0"/>
              <a:t>第六章 符号表管理</a:t>
            </a:r>
          </a:p>
        </p:txBody>
      </p:sp>
      <p:sp>
        <p:nvSpPr>
          <p:cNvPr id="3" name="内容占位符 2"/>
          <p:cNvSpPr>
            <a:spLocks noGrp="1"/>
          </p:cNvSpPr>
          <p:nvPr>
            <p:ph idx="1"/>
          </p:nvPr>
        </p:nvSpPr>
        <p:spPr>
          <a:xfrm>
            <a:off x="539552" y="1268413"/>
            <a:ext cx="8387208" cy="2573012"/>
          </a:xfrm>
        </p:spPr>
        <p:txBody>
          <a:bodyPr wrap="square">
            <a:spAutoFit/>
          </a:bodyPr>
          <a:lstStyle/>
          <a:p>
            <a:pPr marL="0" indent="0" eaLnBrk="1">
              <a:lnSpc>
                <a:spcPct val="130000"/>
              </a:lnSpc>
              <a:spcBef>
                <a:spcPts val="0"/>
              </a:spcBef>
              <a:buFontTx/>
              <a:buNone/>
              <a:defRPr/>
            </a:pPr>
            <a:r>
              <a:rPr lang="en-US" altLang="zh-CN" sz="2800" dirty="0">
                <a:latin typeface="+mn-lt"/>
              </a:rPr>
              <a:t>2</a:t>
            </a:r>
            <a:r>
              <a:rPr lang="en-US" altLang="zh-CN" sz="2800" dirty="0" smtClean="0">
                <a:latin typeface="+mn-lt"/>
              </a:rPr>
              <a:t>. </a:t>
            </a:r>
            <a:r>
              <a:rPr lang="zh-CN" altLang="en-US" sz="2800" dirty="0" smtClean="0">
                <a:latin typeface="+mn-lt"/>
              </a:rPr>
              <a:t>学习要求</a:t>
            </a:r>
            <a:endParaRPr lang="en-US" altLang="zh-CN" sz="2800" dirty="0" smtClean="0">
              <a:latin typeface="+mn-lt"/>
            </a:endParaRPr>
          </a:p>
          <a:p>
            <a:pPr marL="192088" indent="0" eaLnBrk="1">
              <a:lnSpc>
                <a:spcPct val="130000"/>
              </a:lnSpc>
              <a:spcBef>
                <a:spcPts val="0"/>
              </a:spcBef>
              <a:buNone/>
              <a:defRPr/>
            </a:pPr>
            <a:r>
              <a:rPr lang="en-US" altLang="zh-CN" sz="2400" b="0" dirty="0" smtClean="0">
                <a:latin typeface="+mn-lt"/>
              </a:rPr>
              <a:t>        </a:t>
            </a:r>
            <a:r>
              <a:rPr lang="zh-CN" altLang="en-US" sz="2400" b="0" dirty="0" smtClean="0">
                <a:latin typeface="+mn-lt"/>
              </a:rPr>
              <a:t>了解</a:t>
            </a:r>
            <a:r>
              <a:rPr lang="zh-CN" altLang="en-US" sz="2400" b="0" dirty="0"/>
              <a:t>非分程序结构</a:t>
            </a:r>
            <a:r>
              <a:rPr lang="zh-CN" altLang="en-US" sz="2400" b="0" dirty="0" smtClean="0"/>
              <a:t>语言和分</a:t>
            </a:r>
            <a:r>
              <a:rPr lang="zh-CN" altLang="en-US" sz="2400" b="0" dirty="0"/>
              <a:t>程序结构语言的符号表</a:t>
            </a:r>
            <a:r>
              <a:rPr lang="zh-CN" altLang="en-US" sz="2400" b="0" dirty="0" smtClean="0"/>
              <a:t>组织方式，重点</a:t>
            </a:r>
            <a:r>
              <a:rPr lang="zh-CN" altLang="en-US" sz="2400" b="0" dirty="0" smtClean="0">
                <a:latin typeface="+mn-lt"/>
              </a:rPr>
              <a:t>理解</a:t>
            </a:r>
            <a:r>
              <a:rPr lang="zh-CN" altLang="en-US" sz="2400" b="0" dirty="0"/>
              <a:t>分程序</a:t>
            </a:r>
            <a:r>
              <a:rPr lang="zh-CN" altLang="en-US" sz="2400" b="0" dirty="0" smtClean="0"/>
              <a:t>结构程序</a:t>
            </a:r>
            <a:r>
              <a:rPr lang="zh-CN" altLang="en-US" sz="2400" b="0" dirty="0" smtClean="0">
                <a:latin typeface="+mn-lt"/>
              </a:rPr>
              <a:t>栈式符号表。</a:t>
            </a:r>
            <a:endParaRPr lang="en-US" altLang="zh-CN" sz="2400" b="0" dirty="0" smtClean="0">
              <a:latin typeface="+mn-lt"/>
            </a:endParaRPr>
          </a:p>
          <a:p>
            <a:pPr marL="192088" indent="0" eaLnBrk="1">
              <a:lnSpc>
                <a:spcPct val="130000"/>
              </a:lnSpc>
              <a:spcBef>
                <a:spcPts val="0"/>
              </a:spcBef>
              <a:buNone/>
              <a:defRPr/>
            </a:pPr>
            <a:r>
              <a:rPr lang="zh-CN" altLang="en-US" sz="2400" b="0" dirty="0" smtClean="0">
                <a:latin typeface="+mn-lt"/>
              </a:rPr>
              <a:t>        要求给出一个程序，能够分析程序运行到不同节点时符号栈的情况。</a:t>
            </a:r>
            <a:endParaRPr lang="zh-CN" altLang="en-US"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19</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2829324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smtClean="0"/>
              <a:t>第六章 符号表管理</a:t>
            </a:r>
          </a:p>
        </p:txBody>
      </p:sp>
      <p:sp>
        <p:nvSpPr>
          <p:cNvPr id="3" name="内容占位符 2"/>
          <p:cNvSpPr>
            <a:spLocks noGrp="1"/>
          </p:cNvSpPr>
          <p:nvPr>
            <p:ph idx="1"/>
          </p:nvPr>
        </p:nvSpPr>
        <p:spPr>
          <a:xfrm>
            <a:off x="539552" y="1268413"/>
            <a:ext cx="8387208" cy="3533275"/>
          </a:xfrm>
        </p:spPr>
        <p:txBody>
          <a:bodyPr wrap="square">
            <a:spAutoFit/>
          </a:bodyPr>
          <a:lstStyle/>
          <a:p>
            <a:pPr marL="514350" indent="-514350" eaLnBrk="1">
              <a:lnSpc>
                <a:spcPct val="130000"/>
              </a:lnSpc>
              <a:spcBef>
                <a:spcPts val="0"/>
              </a:spcBef>
              <a:buFont typeface="+mj-lt"/>
              <a:buAutoNum type="arabicPeriod" startAt="3"/>
              <a:defRPr/>
            </a:pPr>
            <a:r>
              <a:rPr lang="zh-CN" altLang="en-US" sz="2800" dirty="0" smtClean="0">
                <a:latin typeface="+mn-lt"/>
              </a:rPr>
              <a:t>重点和难点：</a:t>
            </a:r>
            <a:r>
              <a:rPr lang="zh-CN" altLang="en-US" sz="2800" dirty="0">
                <a:latin typeface="+mn-lt"/>
              </a:rPr>
              <a:t>分程序结构语言的符号表组织 </a:t>
            </a:r>
            <a:endParaRPr lang="en-US" altLang="zh-CN" sz="2800" dirty="0">
              <a:latin typeface="+mn-lt"/>
            </a:endParaRPr>
          </a:p>
          <a:p>
            <a:pPr marL="192088" indent="0" eaLnBrk="1">
              <a:lnSpc>
                <a:spcPct val="130000"/>
              </a:lnSpc>
              <a:spcBef>
                <a:spcPts val="0"/>
              </a:spcBef>
              <a:buNone/>
              <a:defRPr/>
            </a:pPr>
            <a:r>
              <a:rPr lang="en-US" altLang="zh-CN" sz="2400" b="0" dirty="0" smtClean="0">
                <a:latin typeface="+mn-lt"/>
              </a:rPr>
              <a:t>        </a:t>
            </a:r>
            <a:r>
              <a:rPr lang="zh-CN" altLang="en-US" sz="2400" b="0" dirty="0" smtClean="0">
                <a:latin typeface="+mn-lt"/>
              </a:rPr>
              <a:t>每当进入一个内层模块或调用某个函数时，在栈式符号栈的栈顶加载“当前模块或函数”的符号表；从</a:t>
            </a:r>
            <a:r>
              <a:rPr lang="zh-CN" altLang="en-US" sz="2400" b="0" dirty="0"/>
              <a:t>内层</a:t>
            </a:r>
            <a:r>
              <a:rPr lang="zh-CN" altLang="en-US" sz="2400" b="0" dirty="0" smtClean="0"/>
              <a:t>模块出来或从函数调用返回时，弹出</a:t>
            </a:r>
            <a:r>
              <a:rPr lang="zh-CN" altLang="en-US" sz="2400" b="0" dirty="0"/>
              <a:t>“当前模块或函数”的符号</a:t>
            </a:r>
            <a:r>
              <a:rPr lang="zh-CN" altLang="en-US" sz="2400" b="0" dirty="0" smtClean="0"/>
              <a:t>表。</a:t>
            </a:r>
            <a:endParaRPr lang="en-US" altLang="zh-CN" sz="2400" b="0" dirty="0" smtClean="0"/>
          </a:p>
          <a:p>
            <a:pPr marL="192088" indent="0" eaLnBrk="1">
              <a:lnSpc>
                <a:spcPct val="130000"/>
              </a:lnSpc>
              <a:spcBef>
                <a:spcPts val="0"/>
              </a:spcBef>
              <a:buNone/>
              <a:defRPr/>
            </a:pPr>
            <a:r>
              <a:rPr lang="en-US" altLang="zh-CN" sz="2400" b="0" dirty="0">
                <a:latin typeface="+mn-lt"/>
              </a:rPr>
              <a:t> </a:t>
            </a:r>
            <a:r>
              <a:rPr lang="en-US" altLang="zh-CN" sz="2400" b="0" dirty="0" smtClean="0">
                <a:latin typeface="+mn-lt"/>
              </a:rPr>
              <a:t>       </a:t>
            </a:r>
            <a:r>
              <a:rPr lang="zh-CN" altLang="en-US" sz="2400" b="0" dirty="0" smtClean="0">
                <a:latin typeface="+mn-lt"/>
              </a:rPr>
              <a:t>所有简单变量、数组变量、自定义变量、函数等，在符号表中地位相同。</a:t>
            </a:r>
            <a:endParaRPr lang="zh-CN" altLang="en-US"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20</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12243879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17588" y="609600"/>
            <a:ext cx="6938788" cy="685800"/>
          </a:xfrm>
        </p:spPr>
        <p:txBody>
          <a:bodyPr/>
          <a:lstStyle/>
          <a:p>
            <a:r>
              <a:rPr lang="zh-CN" altLang="en-US" sz="3600" dirty="0"/>
              <a:t>第七</a:t>
            </a:r>
            <a:r>
              <a:rPr lang="zh-CN" altLang="en-US" sz="3600" dirty="0" smtClean="0"/>
              <a:t>章 运行</a:t>
            </a:r>
            <a:r>
              <a:rPr lang="zh-CN" altLang="en-US" sz="3600" dirty="0"/>
              <a:t>时的存储组织及管理</a:t>
            </a:r>
            <a:endParaRPr lang="zh-CN" altLang="en-US" sz="3600" dirty="0" smtClean="0"/>
          </a:p>
        </p:txBody>
      </p:sp>
      <p:sp>
        <p:nvSpPr>
          <p:cNvPr id="3" name="内容占位符 2"/>
          <p:cNvSpPr>
            <a:spLocks noGrp="1"/>
          </p:cNvSpPr>
          <p:nvPr>
            <p:ph idx="1"/>
          </p:nvPr>
        </p:nvSpPr>
        <p:spPr>
          <a:xfrm>
            <a:off x="539552" y="1268413"/>
            <a:ext cx="8387208" cy="4493538"/>
          </a:xfrm>
        </p:spPr>
        <p:txBody>
          <a:bodyPr wrap="square">
            <a:spAutoFit/>
          </a:bodyPr>
          <a:lstStyle/>
          <a:p>
            <a:pPr marL="0" indent="0" eaLnBrk="1">
              <a:lnSpc>
                <a:spcPct val="130000"/>
              </a:lnSpc>
              <a:spcBef>
                <a:spcPts val="0"/>
              </a:spcBef>
              <a:buFontTx/>
              <a:buNone/>
              <a:defRPr/>
            </a:pPr>
            <a:r>
              <a:rPr lang="en-US" altLang="zh-CN" sz="2800" dirty="0" smtClean="0">
                <a:latin typeface="+mn-lt"/>
              </a:rPr>
              <a:t>1. </a:t>
            </a:r>
            <a:r>
              <a:rPr lang="zh-CN" altLang="en-US" sz="2800" dirty="0" smtClean="0">
                <a:latin typeface="+mn-lt"/>
              </a:rPr>
              <a:t>主要内容</a:t>
            </a:r>
          </a:p>
          <a:p>
            <a:pPr marL="534988" eaLnBrk="1">
              <a:lnSpc>
                <a:spcPct val="130000"/>
              </a:lnSpc>
              <a:spcBef>
                <a:spcPts val="0"/>
              </a:spcBef>
              <a:buFont typeface="Wingdings" panose="05000000000000000000" pitchFamily="2" charset="2"/>
              <a:buChar char="Ø"/>
              <a:defRPr/>
            </a:pPr>
            <a:r>
              <a:rPr lang="zh-CN" altLang="en-US" sz="2400" dirty="0" smtClean="0">
                <a:solidFill>
                  <a:schemeClr val="accent2"/>
                </a:solidFill>
              </a:rPr>
              <a:t>静态存储：</a:t>
            </a:r>
            <a:endParaRPr lang="en-US" altLang="zh-CN" sz="2400" dirty="0" smtClean="0">
              <a:solidFill>
                <a:schemeClr val="accent2"/>
              </a:solidFill>
            </a:endParaRPr>
          </a:p>
          <a:p>
            <a:pPr marL="192088" indent="0" eaLnBrk="1">
              <a:lnSpc>
                <a:spcPct val="130000"/>
              </a:lnSpc>
              <a:spcBef>
                <a:spcPts val="0"/>
              </a:spcBef>
              <a:buNone/>
              <a:defRPr/>
            </a:pPr>
            <a:r>
              <a:rPr lang="zh-CN" altLang="en-US" sz="2400" dirty="0" smtClean="0">
                <a:solidFill>
                  <a:schemeClr val="accent2"/>
                </a:solidFill>
              </a:rPr>
              <a:t>在</a:t>
            </a:r>
            <a:r>
              <a:rPr lang="zh-CN" altLang="en-US" sz="2400" dirty="0">
                <a:solidFill>
                  <a:srgbClr val="FF00FF"/>
                </a:solidFill>
              </a:rPr>
              <a:t>编译阶段</a:t>
            </a:r>
            <a:r>
              <a:rPr lang="zh-CN" altLang="en-US" sz="2400" dirty="0">
                <a:solidFill>
                  <a:schemeClr val="accent2"/>
                </a:solidFill>
              </a:rPr>
              <a:t>由</a:t>
            </a:r>
            <a:r>
              <a:rPr lang="zh-CN" altLang="en-US" sz="2400" dirty="0">
                <a:solidFill>
                  <a:srgbClr val="FF00FF"/>
                </a:solidFill>
              </a:rPr>
              <a:t>编译程序</a:t>
            </a:r>
            <a:r>
              <a:rPr lang="zh-CN" altLang="en-US" sz="2400" dirty="0">
                <a:solidFill>
                  <a:schemeClr val="accent2"/>
                </a:solidFill>
              </a:rPr>
              <a:t>实现对存储空间的管理</a:t>
            </a:r>
            <a:r>
              <a:rPr lang="en-US" altLang="zh-CN" sz="2400" dirty="0">
                <a:solidFill>
                  <a:schemeClr val="accent2"/>
                </a:solidFill>
              </a:rPr>
              <a:t>,</a:t>
            </a:r>
            <a:r>
              <a:rPr lang="zh-CN" altLang="en-US" sz="2400" dirty="0">
                <a:solidFill>
                  <a:schemeClr val="accent2"/>
                </a:solidFill>
              </a:rPr>
              <a:t>和为源程序中的变量分配存储的方法</a:t>
            </a:r>
            <a:r>
              <a:rPr lang="zh-CN" altLang="en-US" sz="2400" dirty="0" smtClean="0">
                <a:solidFill>
                  <a:schemeClr val="accent2"/>
                </a:solidFill>
              </a:rPr>
              <a:t>。</a:t>
            </a:r>
            <a:endParaRPr lang="en-US" altLang="zh-CN" sz="2400" dirty="0" smtClean="0">
              <a:solidFill>
                <a:schemeClr val="accent2"/>
              </a:solidFill>
            </a:endParaRPr>
          </a:p>
          <a:p>
            <a:pPr marL="534988" eaLnBrk="1">
              <a:lnSpc>
                <a:spcPct val="130000"/>
              </a:lnSpc>
              <a:spcBef>
                <a:spcPts val="0"/>
              </a:spcBef>
              <a:buFont typeface="Wingdings" panose="05000000000000000000" pitchFamily="2" charset="2"/>
              <a:buChar char="Ø"/>
              <a:defRPr/>
            </a:pPr>
            <a:r>
              <a:rPr lang="zh-CN" altLang="en-US" sz="2400" dirty="0">
                <a:solidFill>
                  <a:schemeClr val="accent2"/>
                </a:solidFill>
              </a:rPr>
              <a:t>动态</a:t>
            </a:r>
            <a:r>
              <a:rPr lang="zh-CN" altLang="en-US" sz="2400" dirty="0" smtClean="0">
                <a:solidFill>
                  <a:schemeClr val="accent2"/>
                </a:solidFill>
              </a:rPr>
              <a:t>存储分配：</a:t>
            </a:r>
            <a:endParaRPr lang="en-US" altLang="zh-CN" sz="2400" dirty="0" smtClean="0">
              <a:solidFill>
                <a:schemeClr val="accent2"/>
              </a:solidFill>
            </a:endParaRPr>
          </a:p>
          <a:p>
            <a:pPr marL="192088" indent="0" eaLnBrk="1">
              <a:lnSpc>
                <a:spcPct val="130000"/>
              </a:lnSpc>
              <a:spcBef>
                <a:spcPts val="0"/>
              </a:spcBef>
              <a:buNone/>
              <a:defRPr/>
            </a:pPr>
            <a:r>
              <a:rPr lang="zh-CN" altLang="en-US" sz="2400" dirty="0" smtClean="0">
                <a:solidFill>
                  <a:schemeClr val="accent2"/>
                </a:solidFill>
              </a:rPr>
              <a:t>在</a:t>
            </a:r>
            <a:r>
              <a:rPr lang="zh-CN" altLang="en-US" sz="2400" dirty="0">
                <a:solidFill>
                  <a:schemeClr val="accent2"/>
                </a:solidFill>
              </a:rPr>
              <a:t>目标程序</a:t>
            </a:r>
            <a:r>
              <a:rPr lang="zh-CN" altLang="en-US" sz="2400" dirty="0">
                <a:solidFill>
                  <a:srgbClr val="FF00FF"/>
                </a:solidFill>
              </a:rPr>
              <a:t>运行阶段</a:t>
            </a:r>
            <a:r>
              <a:rPr lang="zh-CN" altLang="en-US" sz="2400" dirty="0">
                <a:solidFill>
                  <a:schemeClr val="accent2"/>
                </a:solidFill>
              </a:rPr>
              <a:t>由</a:t>
            </a:r>
            <a:r>
              <a:rPr lang="zh-CN" altLang="en-US" sz="2400" dirty="0">
                <a:solidFill>
                  <a:srgbClr val="FF00FF"/>
                </a:solidFill>
              </a:rPr>
              <a:t>目标程序</a:t>
            </a:r>
            <a:r>
              <a:rPr lang="zh-CN" altLang="en-US" sz="2400" dirty="0">
                <a:solidFill>
                  <a:schemeClr val="accent2"/>
                </a:solidFill>
              </a:rPr>
              <a:t>实现对存储空间的组织与管理，和为源程序中的变量分配存储的方法。</a:t>
            </a:r>
          </a:p>
          <a:p>
            <a:pPr marL="192088" indent="0" eaLnBrk="1">
              <a:lnSpc>
                <a:spcPct val="130000"/>
              </a:lnSpc>
              <a:spcBef>
                <a:spcPts val="0"/>
              </a:spcBef>
              <a:buNone/>
              <a:defRPr/>
            </a:pPr>
            <a:endParaRPr lang="zh-CN" altLang="en-US" sz="2400" dirty="0">
              <a:solidFill>
                <a:schemeClr val="accent2"/>
              </a:solidFill>
            </a:endParaRPr>
          </a:p>
          <a:p>
            <a:pPr marL="192088" indent="0" eaLnBrk="1">
              <a:lnSpc>
                <a:spcPct val="130000"/>
              </a:lnSpc>
              <a:spcBef>
                <a:spcPts val="0"/>
              </a:spcBef>
              <a:buNone/>
              <a:defRPr/>
            </a:pPr>
            <a:endParaRPr lang="zh-CN" altLang="en-US"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21</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5412749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p:spPr>
        <p:txBody>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fld id="{F7FC3293-1C4C-4B2A-AB87-FAFF1B7298CF}" type="slidenum">
              <a:rPr lang="en-US" altLang="zh-CN" sz="1400" b="0" smtClean="0">
                <a:solidFill>
                  <a:schemeClr val="tx1"/>
                </a:solidFill>
                <a:ea typeface="宋体" panose="02010600030101010101" pitchFamily="2" charset="-122"/>
              </a:rPr>
              <a:pPr/>
              <a:t>22</a:t>
            </a:fld>
            <a:endParaRPr lang="en-US" altLang="zh-CN" sz="1400" b="0" smtClean="0">
              <a:solidFill>
                <a:schemeClr val="tx1"/>
              </a:solidFill>
              <a:ea typeface="宋体" panose="02010600030101010101" pitchFamily="2" charset="-122"/>
            </a:endParaRPr>
          </a:p>
        </p:txBody>
      </p:sp>
      <p:sp>
        <p:nvSpPr>
          <p:cNvPr id="10243" name="Rectangle 2"/>
          <p:cNvSpPr>
            <a:spLocks noChangeArrowheads="1"/>
          </p:cNvSpPr>
          <p:nvPr/>
        </p:nvSpPr>
        <p:spPr bwMode="auto">
          <a:xfrm>
            <a:off x="533400" y="800100"/>
            <a:ext cx="5888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zh-CN" altLang="en-US" sz="2400">
                <a:solidFill>
                  <a:schemeClr val="tx1"/>
                </a:solidFill>
              </a:rPr>
              <a:t>下面给出</a:t>
            </a:r>
            <a:r>
              <a:rPr lang="en-US" altLang="zh-CN" sz="2400">
                <a:solidFill>
                  <a:schemeClr val="tx1"/>
                </a:solidFill>
              </a:rPr>
              <a:t>FORTRAN</a:t>
            </a:r>
            <a:r>
              <a:rPr lang="zh-CN" altLang="en-US" sz="2400">
                <a:solidFill>
                  <a:schemeClr val="tx1"/>
                </a:solidFill>
              </a:rPr>
              <a:t>子程序的典型数据区</a:t>
            </a:r>
          </a:p>
        </p:txBody>
      </p:sp>
      <p:grpSp>
        <p:nvGrpSpPr>
          <p:cNvPr id="54284" name="Group 12"/>
          <p:cNvGrpSpPr>
            <a:grpSpLocks/>
          </p:cNvGrpSpPr>
          <p:nvPr/>
        </p:nvGrpSpPr>
        <p:grpSpPr bwMode="auto">
          <a:xfrm>
            <a:off x="1752600" y="1752600"/>
            <a:ext cx="2438400" cy="3124200"/>
            <a:chOff x="1776" y="1248"/>
            <a:chExt cx="1536" cy="1968"/>
          </a:xfrm>
        </p:grpSpPr>
        <p:sp>
          <p:nvSpPr>
            <p:cNvPr id="10256" name="Line 3"/>
            <p:cNvSpPr>
              <a:spLocks noChangeShapeType="1"/>
            </p:cNvSpPr>
            <p:nvPr/>
          </p:nvSpPr>
          <p:spPr bwMode="auto">
            <a:xfrm>
              <a:off x="1776" y="1248"/>
              <a:ext cx="0" cy="19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7" name="Line 4"/>
            <p:cNvSpPr>
              <a:spLocks noChangeShapeType="1"/>
            </p:cNvSpPr>
            <p:nvPr/>
          </p:nvSpPr>
          <p:spPr bwMode="auto">
            <a:xfrm>
              <a:off x="3312" y="1248"/>
              <a:ext cx="0" cy="19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8" name="Line 5"/>
            <p:cNvSpPr>
              <a:spLocks noChangeShapeType="1"/>
            </p:cNvSpPr>
            <p:nvPr/>
          </p:nvSpPr>
          <p:spPr bwMode="auto">
            <a:xfrm>
              <a:off x="1776" y="15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9" name="Line 6"/>
            <p:cNvSpPr>
              <a:spLocks noChangeShapeType="1"/>
            </p:cNvSpPr>
            <p:nvPr/>
          </p:nvSpPr>
          <p:spPr bwMode="auto">
            <a:xfrm>
              <a:off x="1776" y="1872"/>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0" name="Line 7"/>
            <p:cNvSpPr>
              <a:spLocks noChangeShapeType="1"/>
            </p:cNvSpPr>
            <p:nvPr/>
          </p:nvSpPr>
          <p:spPr bwMode="auto">
            <a:xfrm>
              <a:off x="1776" y="2208"/>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1" name="Line 8"/>
            <p:cNvSpPr>
              <a:spLocks noChangeShapeType="1"/>
            </p:cNvSpPr>
            <p:nvPr/>
          </p:nvSpPr>
          <p:spPr bwMode="auto">
            <a:xfrm>
              <a:off x="1776" y="2736"/>
              <a:ext cx="15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62" name="Text Box 9"/>
            <p:cNvSpPr txBox="1">
              <a:spLocks noChangeArrowheads="1"/>
            </p:cNvSpPr>
            <p:nvPr/>
          </p:nvSpPr>
          <p:spPr bwMode="auto">
            <a:xfrm>
              <a:off x="1968" y="1632"/>
              <a:ext cx="1104"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zh-CN" altLang="en-US" sz="2400"/>
                <a:t>隐式参数区</a:t>
              </a:r>
            </a:p>
          </p:txBody>
        </p:sp>
        <p:sp>
          <p:nvSpPr>
            <p:cNvPr id="10263" name="Text Box 10"/>
            <p:cNvSpPr txBox="1">
              <a:spLocks noChangeArrowheads="1"/>
            </p:cNvSpPr>
            <p:nvPr/>
          </p:nvSpPr>
          <p:spPr bwMode="auto">
            <a:xfrm>
              <a:off x="1968" y="1968"/>
              <a:ext cx="1104"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zh-CN" altLang="en-US" sz="2400"/>
                <a:t>形式参数区</a:t>
              </a:r>
            </a:p>
          </p:txBody>
        </p:sp>
        <p:sp>
          <p:nvSpPr>
            <p:cNvPr id="10264" name="Text Box 11"/>
            <p:cNvSpPr txBox="1">
              <a:spLocks noChangeArrowheads="1"/>
            </p:cNvSpPr>
            <p:nvPr/>
          </p:nvSpPr>
          <p:spPr bwMode="auto">
            <a:xfrm>
              <a:off x="1968" y="2266"/>
              <a:ext cx="1104" cy="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zh-CN" altLang="en-US" sz="2400"/>
                <a:t>局部变量和临时变量区</a:t>
              </a:r>
            </a:p>
          </p:txBody>
        </p:sp>
      </p:grpSp>
      <p:grpSp>
        <p:nvGrpSpPr>
          <p:cNvPr id="54291" name="Group 19"/>
          <p:cNvGrpSpPr>
            <a:grpSpLocks/>
          </p:cNvGrpSpPr>
          <p:nvPr/>
        </p:nvGrpSpPr>
        <p:grpSpPr bwMode="auto">
          <a:xfrm>
            <a:off x="685800" y="1752600"/>
            <a:ext cx="1066800" cy="457200"/>
            <a:chOff x="1104" y="1248"/>
            <a:chExt cx="672" cy="288"/>
          </a:xfrm>
        </p:grpSpPr>
        <p:sp>
          <p:nvSpPr>
            <p:cNvPr id="10254" name="AutoShape 13"/>
            <p:cNvSpPr>
              <a:spLocks/>
            </p:cNvSpPr>
            <p:nvPr/>
          </p:nvSpPr>
          <p:spPr bwMode="auto">
            <a:xfrm>
              <a:off x="1728" y="1248"/>
              <a:ext cx="48" cy="288"/>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lnSpc>
                  <a:spcPct val="40000"/>
                </a:lnSpc>
                <a:spcBef>
                  <a:spcPct val="50000"/>
                </a:spcBef>
              </a:pPr>
              <a:endParaRPr lang="zh-CN" altLang="en-US"/>
            </a:p>
          </p:txBody>
        </p:sp>
        <p:sp>
          <p:nvSpPr>
            <p:cNvPr id="10255" name="Rectangle 14"/>
            <p:cNvSpPr>
              <a:spLocks noChangeArrowheads="1"/>
            </p:cNvSpPr>
            <p:nvPr/>
          </p:nvSpPr>
          <p:spPr bwMode="auto">
            <a:xfrm>
              <a:off x="1104" y="1276"/>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zh-CN" altLang="en-US" sz="1800">
                  <a:solidFill>
                    <a:srgbClr val="0066FF"/>
                  </a:solidFill>
                </a:rPr>
                <a:t>模块</a:t>
              </a:r>
              <a:r>
                <a:rPr lang="en-US" altLang="zh-CN" sz="1800">
                  <a:solidFill>
                    <a:srgbClr val="0066FF"/>
                  </a:solidFill>
                </a:rPr>
                <a:t>n</a:t>
              </a:r>
              <a:r>
                <a:rPr lang="zh-CN" altLang="en-US" sz="1800">
                  <a:solidFill>
                    <a:srgbClr val="0066FF"/>
                  </a:solidFill>
                </a:rPr>
                <a:t>－</a:t>
              </a:r>
              <a:r>
                <a:rPr lang="en-US" altLang="zh-CN" sz="1800">
                  <a:solidFill>
                    <a:srgbClr val="0066FF"/>
                  </a:solidFill>
                </a:rPr>
                <a:t>1</a:t>
              </a:r>
            </a:p>
          </p:txBody>
        </p:sp>
      </p:grpSp>
      <p:grpSp>
        <p:nvGrpSpPr>
          <p:cNvPr id="54292" name="Group 20"/>
          <p:cNvGrpSpPr>
            <a:grpSpLocks/>
          </p:cNvGrpSpPr>
          <p:nvPr/>
        </p:nvGrpSpPr>
        <p:grpSpPr bwMode="auto">
          <a:xfrm>
            <a:off x="914400" y="2209800"/>
            <a:ext cx="838200" cy="1905000"/>
            <a:chOff x="1248" y="1536"/>
            <a:chExt cx="528" cy="1200"/>
          </a:xfrm>
        </p:grpSpPr>
        <p:sp>
          <p:nvSpPr>
            <p:cNvPr id="10252" name="Rectangle 15"/>
            <p:cNvSpPr>
              <a:spLocks noChangeArrowheads="1"/>
            </p:cNvSpPr>
            <p:nvPr/>
          </p:nvSpPr>
          <p:spPr bwMode="auto">
            <a:xfrm>
              <a:off x="1248" y="199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zh-CN" altLang="en-US" sz="1800">
                  <a:solidFill>
                    <a:srgbClr val="0066FF"/>
                  </a:solidFill>
                </a:rPr>
                <a:t>模块</a:t>
              </a:r>
              <a:r>
                <a:rPr lang="en-US" altLang="zh-CN" sz="1800">
                  <a:solidFill>
                    <a:srgbClr val="0066FF"/>
                  </a:solidFill>
                </a:rPr>
                <a:t>n</a:t>
              </a:r>
            </a:p>
          </p:txBody>
        </p:sp>
        <p:sp>
          <p:nvSpPr>
            <p:cNvPr id="10253" name="AutoShape 16"/>
            <p:cNvSpPr>
              <a:spLocks/>
            </p:cNvSpPr>
            <p:nvPr/>
          </p:nvSpPr>
          <p:spPr bwMode="auto">
            <a:xfrm>
              <a:off x="1680" y="1536"/>
              <a:ext cx="96" cy="1200"/>
            </a:xfrm>
            <a:prstGeom prst="leftBrace">
              <a:avLst>
                <a:gd name="adj1" fmla="val 104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lnSpc>
                  <a:spcPct val="40000"/>
                </a:lnSpc>
                <a:spcBef>
                  <a:spcPct val="50000"/>
                </a:spcBef>
              </a:pPr>
              <a:endParaRPr lang="zh-CN" altLang="en-US"/>
            </a:p>
          </p:txBody>
        </p:sp>
      </p:grpSp>
      <p:grpSp>
        <p:nvGrpSpPr>
          <p:cNvPr id="54293" name="Group 21"/>
          <p:cNvGrpSpPr>
            <a:grpSpLocks/>
          </p:cNvGrpSpPr>
          <p:nvPr/>
        </p:nvGrpSpPr>
        <p:grpSpPr bwMode="auto">
          <a:xfrm>
            <a:off x="685800" y="4114800"/>
            <a:ext cx="1143000" cy="762000"/>
            <a:chOff x="1104" y="2736"/>
            <a:chExt cx="720" cy="480"/>
          </a:xfrm>
        </p:grpSpPr>
        <p:sp>
          <p:nvSpPr>
            <p:cNvPr id="10250" name="AutoShape 17"/>
            <p:cNvSpPr>
              <a:spLocks/>
            </p:cNvSpPr>
            <p:nvPr/>
          </p:nvSpPr>
          <p:spPr bwMode="auto">
            <a:xfrm>
              <a:off x="1728" y="2736"/>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lnSpc>
                  <a:spcPct val="40000"/>
                </a:lnSpc>
                <a:spcBef>
                  <a:spcPct val="50000"/>
                </a:spcBef>
              </a:pPr>
              <a:endParaRPr lang="zh-CN" altLang="en-US"/>
            </a:p>
          </p:txBody>
        </p:sp>
        <p:sp>
          <p:nvSpPr>
            <p:cNvPr id="10251" name="Rectangle 18"/>
            <p:cNvSpPr>
              <a:spLocks noChangeArrowheads="1"/>
            </p:cNvSpPr>
            <p:nvPr/>
          </p:nvSpPr>
          <p:spPr bwMode="auto">
            <a:xfrm>
              <a:off x="1104" y="286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zh-CN" altLang="en-US" sz="1800">
                  <a:solidFill>
                    <a:srgbClr val="0066FF"/>
                  </a:solidFill>
                </a:rPr>
                <a:t>模块</a:t>
              </a:r>
              <a:r>
                <a:rPr lang="en-US" altLang="zh-CN" sz="1800">
                  <a:solidFill>
                    <a:srgbClr val="0066FF"/>
                  </a:solidFill>
                </a:rPr>
                <a:t>n</a:t>
              </a:r>
              <a:r>
                <a:rPr lang="zh-CN" altLang="en-US" sz="1800">
                  <a:solidFill>
                    <a:srgbClr val="0066FF"/>
                  </a:solidFill>
                </a:rPr>
                <a:t>＋</a:t>
              </a:r>
              <a:r>
                <a:rPr lang="en-US" altLang="zh-CN" sz="1800">
                  <a:solidFill>
                    <a:srgbClr val="0066FF"/>
                  </a:solidFill>
                </a:rPr>
                <a:t>1</a:t>
              </a:r>
            </a:p>
          </p:txBody>
        </p:sp>
      </p:grpSp>
      <p:sp>
        <p:nvSpPr>
          <p:cNvPr id="54294" name="Rectangle 22"/>
          <p:cNvSpPr>
            <a:spLocks noChangeArrowheads="1"/>
          </p:cNvSpPr>
          <p:nvPr/>
        </p:nvSpPr>
        <p:spPr bwMode="auto">
          <a:xfrm>
            <a:off x="4495800" y="1689100"/>
            <a:ext cx="39338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lnSpc>
                <a:spcPct val="130000"/>
              </a:lnSpc>
            </a:pPr>
            <a:r>
              <a:rPr lang="zh-CN" altLang="en-US" sz="2400">
                <a:solidFill>
                  <a:srgbClr val="0066FF"/>
                </a:solidFill>
              </a:rPr>
              <a:t>隐式参数区：返回地址</a:t>
            </a:r>
          </a:p>
          <a:p>
            <a:pPr eaLnBrk="1" hangingPunct="1">
              <a:lnSpc>
                <a:spcPct val="130000"/>
              </a:lnSpc>
            </a:pPr>
            <a:r>
              <a:rPr lang="zh-CN" altLang="en-US" sz="2400">
                <a:solidFill>
                  <a:srgbClr val="0066FF"/>
                </a:solidFill>
              </a:rPr>
              <a:t>                        函数返回值</a:t>
            </a:r>
          </a:p>
        </p:txBody>
      </p:sp>
      <p:sp>
        <p:nvSpPr>
          <p:cNvPr id="54295" name="Rectangle 23"/>
          <p:cNvSpPr>
            <a:spLocks noChangeArrowheads="1"/>
          </p:cNvSpPr>
          <p:nvPr/>
        </p:nvSpPr>
        <p:spPr bwMode="auto">
          <a:xfrm>
            <a:off x="4486275" y="2732088"/>
            <a:ext cx="393541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00113" indent="-900113">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lnSpc>
                <a:spcPct val="130000"/>
              </a:lnSpc>
            </a:pPr>
            <a:r>
              <a:rPr lang="zh-CN" altLang="en-US" sz="2400">
                <a:solidFill>
                  <a:srgbClr val="0066FF"/>
                </a:solidFill>
              </a:rPr>
              <a:t>形式参数区：存放相应实参信息（值或地址）</a:t>
            </a:r>
          </a:p>
        </p:txBody>
      </p:sp>
    </p:spTree>
    <p:extLst>
      <p:ext uri="{BB962C8B-B14F-4D97-AF65-F5344CB8AC3E}">
        <p14:creationId xmlns:p14="http://schemas.microsoft.com/office/powerpoint/2010/main" val="1456914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4284"/>
                                        </p:tgtEl>
                                        <p:attrNameLst>
                                          <p:attrName>style.visibility</p:attrName>
                                        </p:attrNameLst>
                                      </p:cBhvr>
                                      <p:to>
                                        <p:strVal val="visible"/>
                                      </p:to>
                                    </p:set>
                                    <p:animEffect transition="in" filter="dissolve">
                                      <p:cBhvr>
                                        <p:cTn id="7" dur="500"/>
                                        <p:tgtEl>
                                          <p:spTgt spid="54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54294"/>
                                        </p:tgtEl>
                                        <p:attrNameLst>
                                          <p:attrName>style.visibility</p:attrName>
                                        </p:attrNameLst>
                                      </p:cBhvr>
                                      <p:to>
                                        <p:strVal val="visible"/>
                                      </p:to>
                                    </p:set>
                                    <p:anim calcmode="lin" valueType="num">
                                      <p:cBhvr additive="base">
                                        <p:cTn id="12" dur="500" fill="hold"/>
                                        <p:tgtEl>
                                          <p:spTgt spid="54294"/>
                                        </p:tgtEl>
                                        <p:attrNameLst>
                                          <p:attrName>ppt_x</p:attrName>
                                        </p:attrNameLst>
                                      </p:cBhvr>
                                      <p:tavLst>
                                        <p:tav tm="0">
                                          <p:val>
                                            <p:strVal val="1+#ppt_w/2"/>
                                          </p:val>
                                        </p:tav>
                                        <p:tav tm="100000">
                                          <p:val>
                                            <p:strVal val="#ppt_x"/>
                                          </p:val>
                                        </p:tav>
                                      </p:tavLst>
                                    </p:anim>
                                    <p:anim calcmode="lin" valueType="num">
                                      <p:cBhvr additive="base">
                                        <p:cTn id="13" dur="500" fill="hold"/>
                                        <p:tgtEl>
                                          <p:spTgt spid="5429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54295"/>
                                        </p:tgtEl>
                                        <p:attrNameLst>
                                          <p:attrName>style.visibility</p:attrName>
                                        </p:attrNameLst>
                                      </p:cBhvr>
                                      <p:to>
                                        <p:strVal val="visible"/>
                                      </p:to>
                                    </p:set>
                                    <p:anim calcmode="lin" valueType="num">
                                      <p:cBhvr additive="base">
                                        <p:cTn id="18" dur="500" fill="hold"/>
                                        <p:tgtEl>
                                          <p:spTgt spid="54295"/>
                                        </p:tgtEl>
                                        <p:attrNameLst>
                                          <p:attrName>ppt_x</p:attrName>
                                        </p:attrNameLst>
                                      </p:cBhvr>
                                      <p:tavLst>
                                        <p:tav tm="0">
                                          <p:val>
                                            <p:strVal val="1+#ppt_w/2"/>
                                          </p:val>
                                        </p:tav>
                                        <p:tav tm="100000">
                                          <p:val>
                                            <p:strVal val="#ppt_x"/>
                                          </p:val>
                                        </p:tav>
                                      </p:tavLst>
                                    </p:anim>
                                    <p:anim calcmode="lin" valueType="num">
                                      <p:cBhvr additive="base">
                                        <p:cTn id="19" dur="500" fill="hold"/>
                                        <p:tgtEl>
                                          <p:spTgt spid="54295"/>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42" fill="hold" nodeType="clickEffect">
                                  <p:stCondLst>
                                    <p:cond delay="0"/>
                                  </p:stCondLst>
                                  <p:childTnLst>
                                    <p:set>
                                      <p:cBhvr>
                                        <p:cTn id="23" dur="1" fill="hold">
                                          <p:stCondLst>
                                            <p:cond delay="0"/>
                                          </p:stCondLst>
                                        </p:cTn>
                                        <p:tgtEl>
                                          <p:spTgt spid="54291"/>
                                        </p:tgtEl>
                                        <p:attrNameLst>
                                          <p:attrName>style.visibility</p:attrName>
                                        </p:attrNameLst>
                                      </p:cBhvr>
                                      <p:to>
                                        <p:strVal val="visible"/>
                                      </p:to>
                                    </p:set>
                                    <p:animEffect transition="in" filter="barn(outHorizontal)">
                                      <p:cBhvr>
                                        <p:cTn id="24" dur="500"/>
                                        <p:tgtEl>
                                          <p:spTgt spid="5429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42" fill="hold" nodeType="clickEffect">
                                  <p:stCondLst>
                                    <p:cond delay="0"/>
                                  </p:stCondLst>
                                  <p:childTnLst>
                                    <p:set>
                                      <p:cBhvr>
                                        <p:cTn id="28" dur="1" fill="hold">
                                          <p:stCondLst>
                                            <p:cond delay="0"/>
                                          </p:stCondLst>
                                        </p:cTn>
                                        <p:tgtEl>
                                          <p:spTgt spid="54292"/>
                                        </p:tgtEl>
                                        <p:attrNameLst>
                                          <p:attrName>style.visibility</p:attrName>
                                        </p:attrNameLst>
                                      </p:cBhvr>
                                      <p:to>
                                        <p:strVal val="visible"/>
                                      </p:to>
                                    </p:set>
                                    <p:animEffect transition="in" filter="barn(outHorizontal)">
                                      <p:cBhvr>
                                        <p:cTn id="29" dur="500"/>
                                        <p:tgtEl>
                                          <p:spTgt spid="5429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42" fill="hold" nodeType="clickEffect">
                                  <p:stCondLst>
                                    <p:cond delay="0"/>
                                  </p:stCondLst>
                                  <p:childTnLst>
                                    <p:set>
                                      <p:cBhvr>
                                        <p:cTn id="33" dur="1" fill="hold">
                                          <p:stCondLst>
                                            <p:cond delay="0"/>
                                          </p:stCondLst>
                                        </p:cTn>
                                        <p:tgtEl>
                                          <p:spTgt spid="54293"/>
                                        </p:tgtEl>
                                        <p:attrNameLst>
                                          <p:attrName>style.visibility</p:attrName>
                                        </p:attrNameLst>
                                      </p:cBhvr>
                                      <p:to>
                                        <p:strVal val="visible"/>
                                      </p:to>
                                    </p:set>
                                    <p:animEffect transition="in" filter="barn(outHorizontal)">
                                      <p:cBhvr>
                                        <p:cTn id="34" dur="500"/>
                                        <p:tgtEl>
                                          <p:spTgt spid="54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94" grpId="0" autoUpdateAnimBg="0"/>
      <p:bldP spid="5429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fld id="{5D6373F7-47B7-46DA-A13C-2B9A3B68A39E}" type="slidenum">
              <a:rPr lang="en-US" altLang="zh-CN" sz="1400" b="0" smtClean="0">
                <a:solidFill>
                  <a:schemeClr val="tx1"/>
                </a:solidFill>
                <a:ea typeface="宋体" panose="02010600030101010101" pitchFamily="2" charset="-122"/>
              </a:rPr>
              <a:pPr/>
              <a:t>23</a:t>
            </a:fld>
            <a:endParaRPr lang="en-US" altLang="zh-CN" sz="1400" b="0" smtClean="0">
              <a:solidFill>
                <a:schemeClr val="tx1"/>
              </a:solidFill>
              <a:ea typeface="宋体" panose="02010600030101010101" pitchFamily="2" charset="-122"/>
            </a:endParaRPr>
          </a:p>
        </p:txBody>
      </p:sp>
      <p:sp>
        <p:nvSpPr>
          <p:cNvPr id="13315" name="Rectangle 85"/>
          <p:cNvSpPr>
            <a:spLocks noChangeArrowheads="1"/>
          </p:cNvSpPr>
          <p:nvPr/>
        </p:nvSpPr>
        <p:spPr bwMode="auto">
          <a:xfrm>
            <a:off x="138113" y="4508500"/>
            <a:ext cx="3265487" cy="20955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lnSpc>
                <a:spcPct val="70000"/>
              </a:lnSpc>
            </a:pPr>
            <a:r>
              <a:rPr lang="en-US" altLang="zh-CN" sz="1400">
                <a:solidFill>
                  <a:schemeClr val="tx1"/>
                </a:solidFill>
              </a:rPr>
              <a:t> BBLOCK;</a:t>
            </a:r>
          </a:p>
          <a:p>
            <a:pPr eaLnBrk="1" hangingPunct="1">
              <a:lnSpc>
                <a:spcPct val="70000"/>
              </a:lnSpc>
            </a:pPr>
            <a:r>
              <a:rPr lang="en-US" altLang="zh-CN" sz="1400">
                <a:solidFill>
                  <a:schemeClr val="tx1"/>
                </a:solidFill>
              </a:rPr>
              <a:t>       REAL  X, Y;  STRING   NAME;</a:t>
            </a:r>
          </a:p>
          <a:p>
            <a:pPr eaLnBrk="1" hangingPunct="1">
              <a:lnSpc>
                <a:spcPct val="70000"/>
              </a:lnSpc>
            </a:pPr>
            <a:r>
              <a:rPr lang="en-US" altLang="zh-CN" sz="1400">
                <a:solidFill>
                  <a:schemeClr val="tx1"/>
                </a:solidFill>
              </a:rPr>
              <a:t>       M1: PBLOCK( INTEGER IND ) ;</a:t>
            </a:r>
          </a:p>
          <a:p>
            <a:pPr eaLnBrk="1" hangingPunct="1">
              <a:lnSpc>
                <a:spcPct val="70000"/>
              </a:lnSpc>
            </a:pPr>
            <a:r>
              <a:rPr lang="en-US" altLang="zh-CN" sz="1400">
                <a:solidFill>
                  <a:schemeClr val="tx1"/>
                </a:solidFill>
              </a:rPr>
              <a:t>               INTEGER   X;</a:t>
            </a:r>
          </a:p>
          <a:p>
            <a:pPr eaLnBrk="1" hangingPunct="1">
              <a:lnSpc>
                <a:spcPct val="70000"/>
              </a:lnSpc>
            </a:pPr>
            <a:r>
              <a:rPr lang="en-US" altLang="zh-CN" sz="1400">
                <a:solidFill>
                  <a:schemeClr val="tx1"/>
                </a:solidFill>
              </a:rPr>
              <a:t>                      CALL  M2( IND + 1 ); </a:t>
            </a:r>
          </a:p>
          <a:p>
            <a:pPr eaLnBrk="1" hangingPunct="1">
              <a:lnSpc>
                <a:spcPct val="70000"/>
              </a:lnSpc>
            </a:pPr>
            <a:r>
              <a:rPr lang="en-US" altLang="zh-CN" sz="1400">
                <a:solidFill>
                  <a:schemeClr val="tx1"/>
                </a:solidFill>
              </a:rPr>
              <a:t>       END  M1;</a:t>
            </a:r>
          </a:p>
          <a:p>
            <a:pPr eaLnBrk="1" hangingPunct="1">
              <a:lnSpc>
                <a:spcPct val="70000"/>
              </a:lnSpc>
            </a:pPr>
            <a:r>
              <a:rPr lang="en-US" altLang="zh-CN" sz="1400">
                <a:solidFill>
                  <a:schemeClr val="tx1"/>
                </a:solidFill>
              </a:rPr>
              <a:t>       M2:  PBLOCK( INTEGER J );</a:t>
            </a:r>
          </a:p>
          <a:p>
            <a:pPr eaLnBrk="1" hangingPunct="1">
              <a:lnSpc>
                <a:spcPct val="70000"/>
              </a:lnSpc>
            </a:pPr>
            <a:r>
              <a:rPr lang="en-US" altLang="zh-CN" sz="1400">
                <a:solidFill>
                  <a:schemeClr val="tx1"/>
                </a:solidFill>
              </a:rPr>
              <a:t>               BBLOCK;</a:t>
            </a:r>
          </a:p>
          <a:p>
            <a:pPr eaLnBrk="1" hangingPunct="1">
              <a:lnSpc>
                <a:spcPct val="70000"/>
              </a:lnSpc>
            </a:pPr>
            <a:r>
              <a:rPr lang="en-US" altLang="zh-CN" sz="1400">
                <a:solidFill>
                  <a:schemeClr val="tx1"/>
                </a:solidFill>
              </a:rPr>
              <a:t>                      ARRAY  INTEGER F( J );</a:t>
            </a:r>
          </a:p>
          <a:p>
            <a:pPr eaLnBrk="1" hangingPunct="1">
              <a:lnSpc>
                <a:spcPct val="70000"/>
              </a:lnSpc>
            </a:pPr>
            <a:r>
              <a:rPr lang="en-US" altLang="zh-CN" sz="1400">
                <a:solidFill>
                  <a:schemeClr val="tx1"/>
                </a:solidFill>
              </a:rPr>
              <a:t>                      LOGICAL TEST1;</a:t>
            </a:r>
          </a:p>
          <a:p>
            <a:pPr eaLnBrk="1" hangingPunct="1">
              <a:lnSpc>
                <a:spcPct val="70000"/>
              </a:lnSpc>
            </a:pPr>
            <a:r>
              <a:rPr lang="en-US" altLang="zh-CN" sz="1400">
                <a:solidFill>
                  <a:schemeClr val="tx1"/>
                </a:solidFill>
              </a:rPr>
              <a:t>                END  </a:t>
            </a:r>
          </a:p>
          <a:p>
            <a:pPr eaLnBrk="1" hangingPunct="1">
              <a:lnSpc>
                <a:spcPct val="70000"/>
              </a:lnSpc>
            </a:pPr>
            <a:r>
              <a:rPr lang="en-US" altLang="zh-CN" sz="1400">
                <a:solidFill>
                  <a:schemeClr val="tx1"/>
                </a:solidFill>
              </a:rPr>
              <a:t>       END  M2;</a:t>
            </a:r>
          </a:p>
          <a:p>
            <a:pPr eaLnBrk="1" hangingPunct="1">
              <a:lnSpc>
                <a:spcPct val="70000"/>
              </a:lnSpc>
            </a:pPr>
            <a:r>
              <a:rPr lang="en-US" altLang="zh-CN" sz="1400">
                <a:solidFill>
                  <a:schemeClr val="tx1"/>
                </a:solidFill>
              </a:rPr>
              <a:t>       CALL  M1( X / Y )</a:t>
            </a:r>
          </a:p>
          <a:p>
            <a:pPr eaLnBrk="1" hangingPunct="1">
              <a:lnSpc>
                <a:spcPct val="70000"/>
              </a:lnSpc>
            </a:pPr>
            <a:r>
              <a:rPr lang="en-US" altLang="zh-CN" sz="1400">
                <a:solidFill>
                  <a:schemeClr val="tx1"/>
                </a:solidFill>
              </a:rPr>
              <a:t>END</a:t>
            </a:r>
          </a:p>
        </p:txBody>
      </p:sp>
      <p:sp>
        <p:nvSpPr>
          <p:cNvPr id="13316" name="Rectangle 2"/>
          <p:cNvSpPr>
            <a:spLocks noChangeArrowheads="1"/>
          </p:cNvSpPr>
          <p:nvPr/>
        </p:nvSpPr>
        <p:spPr bwMode="auto">
          <a:xfrm>
            <a:off x="533400" y="685800"/>
            <a:ext cx="4572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zh-CN" altLang="en-US" sz="2400">
                <a:solidFill>
                  <a:schemeClr val="tx1"/>
                </a:solidFill>
              </a:rPr>
              <a:t>运行中数据区的分配情况：</a:t>
            </a:r>
          </a:p>
        </p:txBody>
      </p:sp>
      <p:grpSp>
        <p:nvGrpSpPr>
          <p:cNvPr id="13317" name="Group 79"/>
          <p:cNvGrpSpPr>
            <a:grpSpLocks/>
          </p:cNvGrpSpPr>
          <p:nvPr/>
        </p:nvGrpSpPr>
        <p:grpSpPr bwMode="auto">
          <a:xfrm>
            <a:off x="566738" y="1701800"/>
            <a:ext cx="2438400" cy="671513"/>
            <a:chOff x="384" y="1152"/>
            <a:chExt cx="1536" cy="423"/>
          </a:xfrm>
        </p:grpSpPr>
        <p:grpSp>
          <p:nvGrpSpPr>
            <p:cNvPr id="13392" name="Group 5"/>
            <p:cNvGrpSpPr>
              <a:grpSpLocks/>
            </p:cNvGrpSpPr>
            <p:nvPr/>
          </p:nvGrpSpPr>
          <p:grpSpPr bwMode="auto">
            <a:xfrm>
              <a:off x="384" y="1152"/>
              <a:ext cx="1536" cy="240"/>
              <a:chOff x="384" y="1008"/>
              <a:chExt cx="1536" cy="240"/>
            </a:xfrm>
          </p:grpSpPr>
          <p:sp>
            <p:nvSpPr>
              <p:cNvPr id="13394" name="Rectangle 3"/>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95" name="Text Box 4"/>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93" name="Text Box 62"/>
            <p:cNvSpPr txBox="1">
              <a:spLocks noChangeArrowheads="1"/>
            </p:cNvSpPr>
            <p:nvPr/>
          </p:nvSpPr>
          <p:spPr bwMode="auto">
            <a:xfrm>
              <a:off x="1056" y="134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(a)</a:t>
              </a:r>
            </a:p>
          </p:txBody>
        </p:sp>
      </p:grpSp>
      <p:grpSp>
        <p:nvGrpSpPr>
          <p:cNvPr id="57422" name="Group 78"/>
          <p:cNvGrpSpPr>
            <a:grpSpLocks/>
          </p:cNvGrpSpPr>
          <p:nvPr/>
        </p:nvGrpSpPr>
        <p:grpSpPr bwMode="auto">
          <a:xfrm>
            <a:off x="3352800" y="1320800"/>
            <a:ext cx="2438400" cy="1052513"/>
            <a:chOff x="2112" y="912"/>
            <a:chExt cx="1536" cy="663"/>
          </a:xfrm>
        </p:grpSpPr>
        <p:grpSp>
          <p:nvGrpSpPr>
            <p:cNvPr id="13385" name="Group 11"/>
            <p:cNvGrpSpPr>
              <a:grpSpLocks/>
            </p:cNvGrpSpPr>
            <p:nvPr/>
          </p:nvGrpSpPr>
          <p:grpSpPr bwMode="auto">
            <a:xfrm>
              <a:off x="2112" y="912"/>
              <a:ext cx="1536" cy="480"/>
              <a:chOff x="2112" y="768"/>
              <a:chExt cx="1536" cy="480"/>
            </a:xfrm>
          </p:grpSpPr>
          <p:grpSp>
            <p:nvGrpSpPr>
              <p:cNvPr id="13387" name="Group 6"/>
              <p:cNvGrpSpPr>
                <a:grpSpLocks/>
              </p:cNvGrpSpPr>
              <p:nvPr/>
            </p:nvGrpSpPr>
            <p:grpSpPr bwMode="auto">
              <a:xfrm>
                <a:off x="2112" y="1008"/>
                <a:ext cx="1536" cy="240"/>
                <a:chOff x="384" y="1008"/>
                <a:chExt cx="1536" cy="240"/>
              </a:xfrm>
            </p:grpSpPr>
            <p:sp>
              <p:nvSpPr>
                <p:cNvPr id="13390" name="Rectangle 7"/>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91" name="Text Box 8"/>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88" name="Rectangle 9"/>
              <p:cNvSpPr>
                <a:spLocks noChangeArrowheads="1"/>
              </p:cNvSpPr>
              <p:nvPr/>
            </p:nvSpPr>
            <p:spPr bwMode="auto">
              <a:xfrm>
                <a:off x="2448" y="76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700">
                    <a:solidFill>
                      <a:schemeClr val="accent2"/>
                    </a:solidFill>
                  </a:rPr>
                  <a:t>X</a:t>
                </a:r>
                <a:r>
                  <a:rPr lang="zh-CN" altLang="en-US" sz="1700">
                    <a:solidFill>
                      <a:schemeClr val="accent2"/>
                    </a:solidFill>
                  </a:rPr>
                  <a:t>和参数</a:t>
                </a:r>
                <a:r>
                  <a:rPr lang="en-US" altLang="zh-CN" sz="1700">
                    <a:solidFill>
                      <a:schemeClr val="accent2"/>
                    </a:solidFill>
                  </a:rPr>
                  <a:t>IND</a:t>
                </a:r>
                <a:r>
                  <a:rPr lang="zh-CN" altLang="en-US" sz="1700">
                    <a:solidFill>
                      <a:schemeClr val="accent2"/>
                    </a:solidFill>
                  </a:rPr>
                  <a:t>数据区</a:t>
                </a:r>
              </a:p>
            </p:txBody>
          </p:sp>
          <p:sp>
            <p:nvSpPr>
              <p:cNvPr id="13389" name="Text Box 10"/>
              <p:cNvSpPr txBox="1">
                <a:spLocks noChangeArrowheads="1"/>
              </p:cNvSpPr>
              <p:nvPr/>
            </p:nvSpPr>
            <p:spPr bwMode="auto">
              <a:xfrm>
                <a:off x="2112" y="76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AR2</a:t>
                </a:r>
              </a:p>
            </p:txBody>
          </p:sp>
        </p:grpSp>
        <p:sp>
          <p:nvSpPr>
            <p:cNvPr id="13386" name="Text Box 63"/>
            <p:cNvSpPr txBox="1">
              <a:spLocks noChangeArrowheads="1"/>
            </p:cNvSpPr>
            <p:nvPr/>
          </p:nvSpPr>
          <p:spPr bwMode="auto">
            <a:xfrm>
              <a:off x="2928" y="134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(b)</a:t>
              </a:r>
            </a:p>
          </p:txBody>
        </p:sp>
      </p:grpSp>
      <p:grpSp>
        <p:nvGrpSpPr>
          <p:cNvPr id="57424" name="Group 80"/>
          <p:cNvGrpSpPr>
            <a:grpSpLocks/>
          </p:cNvGrpSpPr>
          <p:nvPr/>
        </p:nvGrpSpPr>
        <p:grpSpPr bwMode="auto">
          <a:xfrm>
            <a:off x="6096000" y="939800"/>
            <a:ext cx="2438400" cy="1433513"/>
            <a:chOff x="3840" y="672"/>
            <a:chExt cx="1536" cy="903"/>
          </a:xfrm>
        </p:grpSpPr>
        <p:grpSp>
          <p:nvGrpSpPr>
            <p:cNvPr id="13374" name="Group 21"/>
            <p:cNvGrpSpPr>
              <a:grpSpLocks/>
            </p:cNvGrpSpPr>
            <p:nvPr/>
          </p:nvGrpSpPr>
          <p:grpSpPr bwMode="auto">
            <a:xfrm>
              <a:off x="3840" y="672"/>
              <a:ext cx="1536" cy="720"/>
              <a:chOff x="3840" y="528"/>
              <a:chExt cx="1536" cy="720"/>
            </a:xfrm>
          </p:grpSpPr>
          <p:grpSp>
            <p:nvGrpSpPr>
              <p:cNvPr id="13376" name="Group 12"/>
              <p:cNvGrpSpPr>
                <a:grpSpLocks/>
              </p:cNvGrpSpPr>
              <p:nvPr/>
            </p:nvGrpSpPr>
            <p:grpSpPr bwMode="auto">
              <a:xfrm>
                <a:off x="3840" y="768"/>
                <a:ext cx="1536" cy="480"/>
                <a:chOff x="2112" y="768"/>
                <a:chExt cx="1536" cy="480"/>
              </a:xfrm>
            </p:grpSpPr>
            <p:grpSp>
              <p:nvGrpSpPr>
                <p:cNvPr id="13380" name="Group 13"/>
                <p:cNvGrpSpPr>
                  <a:grpSpLocks/>
                </p:cNvGrpSpPr>
                <p:nvPr/>
              </p:nvGrpSpPr>
              <p:grpSpPr bwMode="auto">
                <a:xfrm>
                  <a:off x="2112" y="1008"/>
                  <a:ext cx="1536" cy="240"/>
                  <a:chOff x="384" y="1008"/>
                  <a:chExt cx="1536" cy="240"/>
                </a:xfrm>
              </p:grpSpPr>
              <p:sp>
                <p:nvSpPr>
                  <p:cNvPr id="13383" name="Rectangle 14"/>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84" name="Text Box 15"/>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81" name="Rectangle 16"/>
                <p:cNvSpPr>
                  <a:spLocks noChangeArrowheads="1"/>
                </p:cNvSpPr>
                <p:nvPr/>
              </p:nvSpPr>
              <p:spPr bwMode="auto">
                <a:xfrm>
                  <a:off x="2448" y="76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700">
                      <a:solidFill>
                        <a:schemeClr val="accent2"/>
                      </a:solidFill>
                    </a:rPr>
                    <a:t>X</a:t>
                  </a:r>
                  <a:r>
                    <a:rPr lang="zh-CN" altLang="en-US" sz="1700">
                      <a:solidFill>
                        <a:schemeClr val="accent2"/>
                      </a:solidFill>
                    </a:rPr>
                    <a:t>和参数</a:t>
                  </a:r>
                  <a:r>
                    <a:rPr lang="en-US" altLang="zh-CN" sz="1700">
                      <a:solidFill>
                        <a:schemeClr val="accent2"/>
                      </a:solidFill>
                    </a:rPr>
                    <a:t>IND</a:t>
                  </a:r>
                  <a:r>
                    <a:rPr lang="zh-CN" altLang="en-US" sz="1700">
                      <a:solidFill>
                        <a:schemeClr val="accent2"/>
                      </a:solidFill>
                    </a:rPr>
                    <a:t>数据区</a:t>
                  </a:r>
                </a:p>
              </p:txBody>
            </p:sp>
            <p:sp>
              <p:nvSpPr>
                <p:cNvPr id="13382" name="Text Box 17"/>
                <p:cNvSpPr txBox="1">
                  <a:spLocks noChangeArrowheads="1"/>
                </p:cNvSpPr>
                <p:nvPr/>
              </p:nvSpPr>
              <p:spPr bwMode="auto">
                <a:xfrm>
                  <a:off x="2112" y="76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AR2</a:t>
                  </a:r>
                </a:p>
              </p:txBody>
            </p:sp>
          </p:grpSp>
          <p:grpSp>
            <p:nvGrpSpPr>
              <p:cNvPr id="13377" name="Group 18"/>
              <p:cNvGrpSpPr>
                <a:grpSpLocks/>
              </p:cNvGrpSpPr>
              <p:nvPr/>
            </p:nvGrpSpPr>
            <p:grpSpPr bwMode="auto">
              <a:xfrm>
                <a:off x="3840" y="528"/>
                <a:ext cx="1536" cy="240"/>
                <a:chOff x="384" y="1008"/>
                <a:chExt cx="1536" cy="240"/>
              </a:xfrm>
            </p:grpSpPr>
            <p:sp>
              <p:nvSpPr>
                <p:cNvPr id="13378" name="Rectangle 19"/>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r>
                    <a:rPr lang="zh-CN" altLang="en-US" sz="1800">
                      <a:solidFill>
                        <a:schemeClr val="accent2"/>
                      </a:solidFill>
                    </a:rPr>
                    <a:t>参数</a:t>
                  </a:r>
                  <a:r>
                    <a:rPr lang="en-US" altLang="zh-CN" sz="1800">
                      <a:solidFill>
                        <a:schemeClr val="accent2"/>
                      </a:solidFill>
                    </a:rPr>
                    <a:t>J</a:t>
                  </a:r>
                </a:p>
              </p:txBody>
            </p:sp>
            <p:sp>
              <p:nvSpPr>
                <p:cNvPr id="13379" name="Text Box 20"/>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AR3</a:t>
                  </a:r>
                </a:p>
              </p:txBody>
            </p:sp>
          </p:grpSp>
        </p:grpSp>
        <p:sp>
          <p:nvSpPr>
            <p:cNvPr id="13375" name="Text Box 64"/>
            <p:cNvSpPr txBox="1">
              <a:spLocks noChangeArrowheads="1"/>
            </p:cNvSpPr>
            <p:nvPr/>
          </p:nvSpPr>
          <p:spPr bwMode="auto">
            <a:xfrm>
              <a:off x="4608" y="134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(c)</a:t>
              </a:r>
            </a:p>
          </p:txBody>
        </p:sp>
      </p:grpSp>
      <p:grpSp>
        <p:nvGrpSpPr>
          <p:cNvPr id="57425" name="Group 81"/>
          <p:cNvGrpSpPr>
            <a:grpSpLocks/>
          </p:cNvGrpSpPr>
          <p:nvPr/>
        </p:nvGrpSpPr>
        <p:grpSpPr bwMode="auto">
          <a:xfrm>
            <a:off x="533400" y="2692400"/>
            <a:ext cx="2438400" cy="1814513"/>
            <a:chOff x="336" y="1776"/>
            <a:chExt cx="1536" cy="1143"/>
          </a:xfrm>
        </p:grpSpPr>
        <p:grpSp>
          <p:nvGrpSpPr>
            <p:cNvPr id="13359" name="Group 69"/>
            <p:cNvGrpSpPr>
              <a:grpSpLocks/>
            </p:cNvGrpSpPr>
            <p:nvPr/>
          </p:nvGrpSpPr>
          <p:grpSpPr bwMode="auto">
            <a:xfrm>
              <a:off x="336" y="1776"/>
              <a:ext cx="1536" cy="960"/>
              <a:chOff x="336" y="1776"/>
              <a:chExt cx="1536" cy="960"/>
            </a:xfrm>
          </p:grpSpPr>
          <p:grpSp>
            <p:nvGrpSpPr>
              <p:cNvPr id="13361" name="Group 22"/>
              <p:cNvGrpSpPr>
                <a:grpSpLocks/>
              </p:cNvGrpSpPr>
              <p:nvPr/>
            </p:nvGrpSpPr>
            <p:grpSpPr bwMode="auto">
              <a:xfrm>
                <a:off x="336" y="2016"/>
                <a:ext cx="1536" cy="720"/>
                <a:chOff x="3840" y="528"/>
                <a:chExt cx="1536" cy="720"/>
              </a:xfrm>
            </p:grpSpPr>
            <p:grpSp>
              <p:nvGrpSpPr>
                <p:cNvPr id="13365" name="Group 23"/>
                <p:cNvGrpSpPr>
                  <a:grpSpLocks/>
                </p:cNvGrpSpPr>
                <p:nvPr/>
              </p:nvGrpSpPr>
              <p:grpSpPr bwMode="auto">
                <a:xfrm>
                  <a:off x="3840" y="768"/>
                  <a:ext cx="1536" cy="480"/>
                  <a:chOff x="2112" y="768"/>
                  <a:chExt cx="1536" cy="480"/>
                </a:xfrm>
              </p:grpSpPr>
              <p:grpSp>
                <p:nvGrpSpPr>
                  <p:cNvPr id="13369" name="Group 24"/>
                  <p:cNvGrpSpPr>
                    <a:grpSpLocks/>
                  </p:cNvGrpSpPr>
                  <p:nvPr/>
                </p:nvGrpSpPr>
                <p:grpSpPr bwMode="auto">
                  <a:xfrm>
                    <a:off x="2112" y="1008"/>
                    <a:ext cx="1536" cy="240"/>
                    <a:chOff x="384" y="1008"/>
                    <a:chExt cx="1536" cy="240"/>
                  </a:xfrm>
                </p:grpSpPr>
                <p:sp>
                  <p:nvSpPr>
                    <p:cNvPr id="13372" name="Rectangle 25"/>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73" name="Text Box 26"/>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70" name="Rectangle 27"/>
                  <p:cNvSpPr>
                    <a:spLocks noChangeArrowheads="1"/>
                  </p:cNvSpPr>
                  <p:nvPr/>
                </p:nvSpPr>
                <p:spPr bwMode="auto">
                  <a:xfrm>
                    <a:off x="2448" y="76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700">
                        <a:solidFill>
                          <a:schemeClr val="accent2"/>
                        </a:solidFill>
                      </a:rPr>
                      <a:t>X</a:t>
                    </a:r>
                    <a:r>
                      <a:rPr lang="zh-CN" altLang="en-US" sz="1700">
                        <a:solidFill>
                          <a:schemeClr val="accent2"/>
                        </a:solidFill>
                      </a:rPr>
                      <a:t>和参数</a:t>
                    </a:r>
                    <a:r>
                      <a:rPr lang="en-US" altLang="zh-CN" sz="1700">
                        <a:solidFill>
                          <a:schemeClr val="accent2"/>
                        </a:solidFill>
                      </a:rPr>
                      <a:t>IND</a:t>
                    </a:r>
                    <a:r>
                      <a:rPr lang="zh-CN" altLang="en-US" sz="1700">
                        <a:solidFill>
                          <a:schemeClr val="accent2"/>
                        </a:solidFill>
                      </a:rPr>
                      <a:t>数据区</a:t>
                    </a:r>
                  </a:p>
                </p:txBody>
              </p:sp>
              <p:sp>
                <p:nvSpPr>
                  <p:cNvPr id="13371" name="Text Box 28"/>
                  <p:cNvSpPr txBox="1">
                    <a:spLocks noChangeArrowheads="1"/>
                  </p:cNvSpPr>
                  <p:nvPr/>
                </p:nvSpPr>
                <p:spPr bwMode="auto">
                  <a:xfrm>
                    <a:off x="2112" y="76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AR2</a:t>
                    </a:r>
                  </a:p>
                </p:txBody>
              </p:sp>
            </p:grpSp>
            <p:grpSp>
              <p:nvGrpSpPr>
                <p:cNvPr id="13366" name="Group 29"/>
                <p:cNvGrpSpPr>
                  <a:grpSpLocks/>
                </p:cNvGrpSpPr>
                <p:nvPr/>
              </p:nvGrpSpPr>
              <p:grpSpPr bwMode="auto">
                <a:xfrm>
                  <a:off x="3840" y="528"/>
                  <a:ext cx="1536" cy="240"/>
                  <a:chOff x="384" y="1008"/>
                  <a:chExt cx="1536" cy="240"/>
                </a:xfrm>
              </p:grpSpPr>
              <p:sp>
                <p:nvSpPr>
                  <p:cNvPr id="13367" name="Rectangle 30"/>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r>
                      <a:rPr lang="zh-CN" altLang="en-US" sz="1800">
                        <a:solidFill>
                          <a:schemeClr val="accent2"/>
                        </a:solidFill>
                      </a:rPr>
                      <a:t>参数</a:t>
                    </a:r>
                    <a:r>
                      <a:rPr lang="en-US" altLang="zh-CN" sz="1800">
                        <a:solidFill>
                          <a:schemeClr val="accent2"/>
                        </a:solidFill>
                      </a:rPr>
                      <a:t>J</a:t>
                    </a:r>
                  </a:p>
                </p:txBody>
              </p:sp>
              <p:sp>
                <p:nvSpPr>
                  <p:cNvPr id="13368" name="Text Box 31"/>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AR3</a:t>
                    </a:r>
                  </a:p>
                </p:txBody>
              </p:sp>
            </p:grpSp>
          </p:grpSp>
          <p:grpSp>
            <p:nvGrpSpPr>
              <p:cNvPr id="13362" name="Group 49"/>
              <p:cNvGrpSpPr>
                <a:grpSpLocks/>
              </p:cNvGrpSpPr>
              <p:nvPr/>
            </p:nvGrpSpPr>
            <p:grpSpPr bwMode="auto">
              <a:xfrm>
                <a:off x="336" y="1776"/>
                <a:ext cx="1536" cy="240"/>
                <a:chOff x="384" y="1008"/>
                <a:chExt cx="1536" cy="240"/>
              </a:xfrm>
            </p:grpSpPr>
            <p:sp>
              <p:nvSpPr>
                <p:cNvPr id="13363" name="Rectangle 50"/>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r>
                    <a:rPr lang="en-US" altLang="zh-CN" sz="1800">
                      <a:solidFill>
                        <a:schemeClr val="accent2"/>
                      </a:solidFill>
                    </a:rPr>
                    <a:t>F</a:t>
                  </a:r>
                  <a:r>
                    <a:rPr lang="zh-CN" altLang="en-US" sz="1800">
                      <a:solidFill>
                        <a:schemeClr val="accent2"/>
                      </a:solidFill>
                    </a:rPr>
                    <a:t>，</a:t>
                  </a:r>
                  <a:r>
                    <a:rPr lang="en-US" altLang="zh-CN" sz="1800">
                      <a:solidFill>
                        <a:schemeClr val="accent2"/>
                      </a:solidFill>
                    </a:rPr>
                    <a:t>TEST1</a:t>
                  </a:r>
                  <a:r>
                    <a:rPr lang="zh-CN" altLang="en-US" sz="1800">
                      <a:solidFill>
                        <a:schemeClr val="accent2"/>
                      </a:solidFill>
                    </a:rPr>
                    <a:t>数据区</a:t>
                  </a:r>
                </a:p>
              </p:txBody>
            </p:sp>
            <p:sp>
              <p:nvSpPr>
                <p:cNvPr id="13364" name="Text Box 51"/>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AR4</a:t>
                  </a:r>
                </a:p>
              </p:txBody>
            </p:sp>
          </p:grpSp>
        </p:grpSp>
        <p:sp>
          <p:nvSpPr>
            <p:cNvPr id="13360" name="Text Box 65"/>
            <p:cNvSpPr txBox="1">
              <a:spLocks noChangeArrowheads="1"/>
            </p:cNvSpPr>
            <p:nvPr/>
          </p:nvSpPr>
          <p:spPr bwMode="auto">
            <a:xfrm>
              <a:off x="1056" y="268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(d)</a:t>
              </a:r>
            </a:p>
          </p:txBody>
        </p:sp>
      </p:grpSp>
      <p:grpSp>
        <p:nvGrpSpPr>
          <p:cNvPr id="57426" name="Group 82"/>
          <p:cNvGrpSpPr>
            <a:grpSpLocks/>
          </p:cNvGrpSpPr>
          <p:nvPr/>
        </p:nvGrpSpPr>
        <p:grpSpPr bwMode="auto">
          <a:xfrm>
            <a:off x="3352800" y="3073400"/>
            <a:ext cx="2438400" cy="1447800"/>
            <a:chOff x="2112" y="2016"/>
            <a:chExt cx="1536" cy="912"/>
          </a:xfrm>
        </p:grpSpPr>
        <p:grpSp>
          <p:nvGrpSpPr>
            <p:cNvPr id="13348" name="Group 32"/>
            <p:cNvGrpSpPr>
              <a:grpSpLocks/>
            </p:cNvGrpSpPr>
            <p:nvPr/>
          </p:nvGrpSpPr>
          <p:grpSpPr bwMode="auto">
            <a:xfrm>
              <a:off x="2112" y="2016"/>
              <a:ext cx="1536" cy="720"/>
              <a:chOff x="3840" y="528"/>
              <a:chExt cx="1536" cy="720"/>
            </a:xfrm>
          </p:grpSpPr>
          <p:grpSp>
            <p:nvGrpSpPr>
              <p:cNvPr id="13350" name="Group 33"/>
              <p:cNvGrpSpPr>
                <a:grpSpLocks/>
              </p:cNvGrpSpPr>
              <p:nvPr/>
            </p:nvGrpSpPr>
            <p:grpSpPr bwMode="auto">
              <a:xfrm>
                <a:off x="3840" y="768"/>
                <a:ext cx="1536" cy="480"/>
                <a:chOff x="2112" y="768"/>
                <a:chExt cx="1536" cy="480"/>
              </a:xfrm>
            </p:grpSpPr>
            <p:grpSp>
              <p:nvGrpSpPr>
                <p:cNvPr id="13354" name="Group 34"/>
                <p:cNvGrpSpPr>
                  <a:grpSpLocks/>
                </p:cNvGrpSpPr>
                <p:nvPr/>
              </p:nvGrpSpPr>
              <p:grpSpPr bwMode="auto">
                <a:xfrm>
                  <a:off x="2112" y="1008"/>
                  <a:ext cx="1536" cy="240"/>
                  <a:chOff x="384" y="1008"/>
                  <a:chExt cx="1536" cy="240"/>
                </a:xfrm>
              </p:grpSpPr>
              <p:sp>
                <p:nvSpPr>
                  <p:cNvPr id="13357" name="Rectangle 35"/>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58" name="Text Box 36"/>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55" name="Rectangle 37"/>
                <p:cNvSpPr>
                  <a:spLocks noChangeArrowheads="1"/>
                </p:cNvSpPr>
                <p:nvPr/>
              </p:nvSpPr>
              <p:spPr bwMode="auto">
                <a:xfrm>
                  <a:off x="2448" y="76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700">
                      <a:solidFill>
                        <a:schemeClr val="accent2"/>
                      </a:solidFill>
                    </a:rPr>
                    <a:t>X</a:t>
                  </a:r>
                  <a:r>
                    <a:rPr lang="zh-CN" altLang="en-US" sz="1700">
                      <a:solidFill>
                        <a:schemeClr val="accent2"/>
                      </a:solidFill>
                    </a:rPr>
                    <a:t>和参数</a:t>
                  </a:r>
                  <a:r>
                    <a:rPr lang="en-US" altLang="zh-CN" sz="1700">
                      <a:solidFill>
                        <a:schemeClr val="accent2"/>
                      </a:solidFill>
                    </a:rPr>
                    <a:t>IND</a:t>
                  </a:r>
                  <a:r>
                    <a:rPr lang="zh-CN" altLang="en-US" sz="1700">
                      <a:solidFill>
                        <a:schemeClr val="accent2"/>
                      </a:solidFill>
                    </a:rPr>
                    <a:t>数据区</a:t>
                  </a:r>
                </a:p>
              </p:txBody>
            </p:sp>
            <p:sp>
              <p:nvSpPr>
                <p:cNvPr id="13356" name="Text Box 38"/>
                <p:cNvSpPr txBox="1">
                  <a:spLocks noChangeArrowheads="1"/>
                </p:cNvSpPr>
                <p:nvPr/>
              </p:nvSpPr>
              <p:spPr bwMode="auto">
                <a:xfrm>
                  <a:off x="2112" y="76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AR2</a:t>
                  </a:r>
                </a:p>
              </p:txBody>
            </p:sp>
          </p:grpSp>
          <p:grpSp>
            <p:nvGrpSpPr>
              <p:cNvPr id="13351" name="Group 39"/>
              <p:cNvGrpSpPr>
                <a:grpSpLocks/>
              </p:cNvGrpSpPr>
              <p:nvPr/>
            </p:nvGrpSpPr>
            <p:grpSpPr bwMode="auto">
              <a:xfrm>
                <a:off x="3840" y="528"/>
                <a:ext cx="1536" cy="240"/>
                <a:chOff x="384" y="1008"/>
                <a:chExt cx="1536" cy="240"/>
              </a:xfrm>
            </p:grpSpPr>
            <p:sp>
              <p:nvSpPr>
                <p:cNvPr id="13352" name="Rectangle 40"/>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algn="ctr" eaLnBrk="1" hangingPunct="1"/>
                  <a:r>
                    <a:rPr lang="zh-CN" altLang="en-US" sz="1800">
                      <a:solidFill>
                        <a:schemeClr val="accent2"/>
                      </a:solidFill>
                    </a:rPr>
                    <a:t>参数</a:t>
                  </a:r>
                  <a:r>
                    <a:rPr lang="en-US" altLang="zh-CN" sz="1800">
                      <a:solidFill>
                        <a:schemeClr val="accent2"/>
                      </a:solidFill>
                    </a:rPr>
                    <a:t>J</a:t>
                  </a:r>
                </a:p>
              </p:txBody>
            </p:sp>
            <p:sp>
              <p:nvSpPr>
                <p:cNvPr id="13353" name="Text Box 41"/>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AR3</a:t>
                  </a:r>
                </a:p>
              </p:txBody>
            </p:sp>
          </p:grpSp>
        </p:grpSp>
        <p:sp>
          <p:nvSpPr>
            <p:cNvPr id="13349" name="Text Box 66"/>
            <p:cNvSpPr txBox="1">
              <a:spLocks noChangeArrowheads="1"/>
            </p:cNvSpPr>
            <p:nvPr/>
          </p:nvSpPr>
          <p:spPr bwMode="auto">
            <a:xfrm>
              <a:off x="2928" y="2697"/>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(e)</a:t>
              </a:r>
            </a:p>
          </p:txBody>
        </p:sp>
      </p:grpSp>
      <p:grpSp>
        <p:nvGrpSpPr>
          <p:cNvPr id="57427" name="Group 83"/>
          <p:cNvGrpSpPr>
            <a:grpSpLocks/>
          </p:cNvGrpSpPr>
          <p:nvPr/>
        </p:nvGrpSpPr>
        <p:grpSpPr bwMode="auto">
          <a:xfrm>
            <a:off x="6096000" y="3454400"/>
            <a:ext cx="2438400" cy="1066800"/>
            <a:chOff x="3840" y="2256"/>
            <a:chExt cx="1536" cy="672"/>
          </a:xfrm>
        </p:grpSpPr>
        <p:grpSp>
          <p:nvGrpSpPr>
            <p:cNvPr id="13341" name="Group 43"/>
            <p:cNvGrpSpPr>
              <a:grpSpLocks/>
            </p:cNvGrpSpPr>
            <p:nvPr/>
          </p:nvGrpSpPr>
          <p:grpSpPr bwMode="auto">
            <a:xfrm>
              <a:off x="3840" y="2256"/>
              <a:ext cx="1536" cy="480"/>
              <a:chOff x="2112" y="768"/>
              <a:chExt cx="1536" cy="480"/>
            </a:xfrm>
          </p:grpSpPr>
          <p:grpSp>
            <p:nvGrpSpPr>
              <p:cNvPr id="13343" name="Group 44"/>
              <p:cNvGrpSpPr>
                <a:grpSpLocks/>
              </p:cNvGrpSpPr>
              <p:nvPr/>
            </p:nvGrpSpPr>
            <p:grpSpPr bwMode="auto">
              <a:xfrm>
                <a:off x="2112" y="1008"/>
                <a:ext cx="1536" cy="240"/>
                <a:chOff x="384" y="1008"/>
                <a:chExt cx="1536" cy="240"/>
              </a:xfrm>
            </p:grpSpPr>
            <p:sp>
              <p:nvSpPr>
                <p:cNvPr id="13346" name="Rectangle 45"/>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47" name="Text Box 46"/>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44" name="Rectangle 47"/>
              <p:cNvSpPr>
                <a:spLocks noChangeArrowheads="1"/>
              </p:cNvSpPr>
              <p:nvPr/>
            </p:nvSpPr>
            <p:spPr bwMode="auto">
              <a:xfrm>
                <a:off x="2448" y="76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700">
                    <a:solidFill>
                      <a:schemeClr val="accent2"/>
                    </a:solidFill>
                  </a:rPr>
                  <a:t>X</a:t>
                </a:r>
                <a:r>
                  <a:rPr lang="zh-CN" altLang="en-US" sz="1700">
                    <a:solidFill>
                      <a:schemeClr val="accent2"/>
                    </a:solidFill>
                  </a:rPr>
                  <a:t>和参数</a:t>
                </a:r>
                <a:r>
                  <a:rPr lang="en-US" altLang="zh-CN" sz="1700">
                    <a:solidFill>
                      <a:schemeClr val="accent2"/>
                    </a:solidFill>
                  </a:rPr>
                  <a:t>IND</a:t>
                </a:r>
                <a:r>
                  <a:rPr lang="zh-CN" altLang="en-US" sz="1700">
                    <a:solidFill>
                      <a:schemeClr val="accent2"/>
                    </a:solidFill>
                  </a:rPr>
                  <a:t>数据区</a:t>
                </a:r>
              </a:p>
            </p:txBody>
          </p:sp>
          <p:sp>
            <p:nvSpPr>
              <p:cNvPr id="13345" name="Text Box 48"/>
              <p:cNvSpPr txBox="1">
                <a:spLocks noChangeArrowheads="1"/>
              </p:cNvSpPr>
              <p:nvPr/>
            </p:nvSpPr>
            <p:spPr bwMode="auto">
              <a:xfrm>
                <a:off x="2112" y="76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AR2</a:t>
                </a:r>
              </a:p>
            </p:txBody>
          </p:sp>
        </p:grpSp>
        <p:sp>
          <p:nvSpPr>
            <p:cNvPr id="13342" name="Text Box 67"/>
            <p:cNvSpPr txBox="1">
              <a:spLocks noChangeArrowheads="1"/>
            </p:cNvSpPr>
            <p:nvPr/>
          </p:nvSpPr>
          <p:spPr bwMode="auto">
            <a:xfrm>
              <a:off x="4656" y="2697"/>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(f)</a:t>
              </a:r>
            </a:p>
          </p:txBody>
        </p:sp>
      </p:grpSp>
      <p:grpSp>
        <p:nvGrpSpPr>
          <p:cNvPr id="57428" name="Group 84"/>
          <p:cNvGrpSpPr>
            <a:grpSpLocks/>
          </p:cNvGrpSpPr>
          <p:nvPr/>
        </p:nvGrpSpPr>
        <p:grpSpPr bwMode="auto">
          <a:xfrm>
            <a:off x="3338513" y="5116513"/>
            <a:ext cx="2438400" cy="671512"/>
            <a:chOff x="2112" y="3168"/>
            <a:chExt cx="1536" cy="423"/>
          </a:xfrm>
        </p:grpSpPr>
        <p:grpSp>
          <p:nvGrpSpPr>
            <p:cNvPr id="13337" name="Group 54"/>
            <p:cNvGrpSpPr>
              <a:grpSpLocks/>
            </p:cNvGrpSpPr>
            <p:nvPr/>
          </p:nvGrpSpPr>
          <p:grpSpPr bwMode="auto">
            <a:xfrm>
              <a:off x="2112" y="3168"/>
              <a:ext cx="1536" cy="240"/>
              <a:chOff x="384" y="1008"/>
              <a:chExt cx="1536" cy="240"/>
            </a:xfrm>
          </p:grpSpPr>
          <p:sp>
            <p:nvSpPr>
              <p:cNvPr id="13339" name="Rectangle 55"/>
              <p:cNvSpPr>
                <a:spLocks noChangeArrowheads="1"/>
              </p:cNvSpPr>
              <p:nvPr/>
            </p:nvSpPr>
            <p:spPr bwMode="auto">
              <a:xfrm>
                <a:off x="720" y="1008"/>
                <a:ext cx="1200" cy="2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r>
                  <a:rPr lang="en-US" altLang="zh-CN" sz="1800">
                    <a:solidFill>
                      <a:schemeClr val="accent2"/>
                    </a:solidFill>
                  </a:rPr>
                  <a:t>X,Y,NAME</a:t>
                </a:r>
                <a:r>
                  <a:rPr lang="zh-CN" altLang="en-US" sz="1800">
                    <a:solidFill>
                      <a:schemeClr val="accent2"/>
                    </a:solidFill>
                  </a:rPr>
                  <a:t>数据区</a:t>
                </a:r>
              </a:p>
            </p:txBody>
          </p:sp>
          <p:sp>
            <p:nvSpPr>
              <p:cNvPr id="13340" name="Text Box 56"/>
              <p:cNvSpPr txBox="1">
                <a:spLocks noChangeArrowheads="1"/>
              </p:cNvSpPr>
              <p:nvPr/>
            </p:nvSpPr>
            <p:spPr bwMode="auto">
              <a:xfrm>
                <a:off x="384" y="100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chemeClr val="accent2"/>
                    </a:solidFill>
                  </a:rPr>
                  <a:t>AR1</a:t>
                </a:r>
              </a:p>
            </p:txBody>
          </p:sp>
        </p:grpSp>
        <p:sp>
          <p:nvSpPr>
            <p:cNvPr id="13338" name="Text Box 68"/>
            <p:cNvSpPr txBox="1">
              <a:spLocks noChangeArrowheads="1"/>
            </p:cNvSpPr>
            <p:nvPr/>
          </p:nvSpPr>
          <p:spPr bwMode="auto">
            <a:xfrm>
              <a:off x="2976" y="336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1600" b="1">
                  <a:solidFill>
                    <a:srgbClr val="339933"/>
                  </a:solidFill>
                  <a:latin typeface="Times New Roman" panose="02020603050405020304" pitchFamily="18" charset="0"/>
                  <a:ea typeface="楷体_GB2312" panose="02010609030101010101" pitchFamily="49" charset="-122"/>
                </a:defRPr>
              </a:lvl1pPr>
              <a:lvl2pPr marL="742950" indent="-285750">
                <a:defRPr kumimoji="1" sz="1600" b="1">
                  <a:solidFill>
                    <a:srgbClr val="339933"/>
                  </a:solidFill>
                  <a:latin typeface="Times New Roman" panose="02020603050405020304" pitchFamily="18" charset="0"/>
                  <a:ea typeface="楷体_GB2312" panose="02010609030101010101" pitchFamily="49" charset="-122"/>
                </a:defRPr>
              </a:lvl2pPr>
              <a:lvl3pPr marL="1143000" indent="-228600">
                <a:defRPr kumimoji="1" sz="1600" b="1">
                  <a:solidFill>
                    <a:srgbClr val="339933"/>
                  </a:solidFill>
                  <a:latin typeface="Times New Roman" panose="02020603050405020304" pitchFamily="18" charset="0"/>
                  <a:ea typeface="楷体_GB2312" panose="02010609030101010101" pitchFamily="49" charset="-122"/>
                </a:defRPr>
              </a:lvl3pPr>
              <a:lvl4pPr marL="1600200" indent="-228600">
                <a:defRPr kumimoji="1" sz="1600" b="1">
                  <a:solidFill>
                    <a:srgbClr val="339933"/>
                  </a:solidFill>
                  <a:latin typeface="Times New Roman" panose="02020603050405020304" pitchFamily="18" charset="0"/>
                  <a:ea typeface="楷体_GB2312" panose="02010609030101010101" pitchFamily="49" charset="-122"/>
                </a:defRPr>
              </a:lvl4pPr>
              <a:lvl5pPr marL="2057400" indent="-228600">
                <a:defRPr kumimoji="1" sz="1600" b="1">
                  <a:solidFill>
                    <a:srgbClr val="339933"/>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1600" b="1">
                  <a:solidFill>
                    <a:srgbClr val="339933"/>
                  </a:solidFill>
                  <a:latin typeface="Times New Roman" panose="02020603050405020304" pitchFamily="18" charset="0"/>
                  <a:ea typeface="楷体_GB2312" panose="02010609030101010101" pitchFamily="49" charset="-122"/>
                </a:defRPr>
              </a:lvl9pPr>
            </a:lstStyle>
            <a:p>
              <a:pPr eaLnBrk="1" hangingPunct="1">
                <a:spcBef>
                  <a:spcPct val="50000"/>
                </a:spcBef>
              </a:pPr>
              <a:r>
                <a:rPr lang="en-US" altLang="zh-CN" sz="1800">
                  <a:solidFill>
                    <a:srgbClr val="008080"/>
                  </a:solidFill>
                </a:rPr>
                <a:t>(g)</a:t>
              </a:r>
            </a:p>
          </p:txBody>
        </p:sp>
      </p:grpSp>
      <p:cxnSp>
        <p:nvCxnSpPr>
          <p:cNvPr id="57414" name="AutoShape 70"/>
          <p:cNvCxnSpPr>
            <a:cxnSpLocks noChangeShapeType="1"/>
            <a:stCxn id="13393" idx="2"/>
            <a:endCxn id="13386" idx="2"/>
          </p:cNvCxnSpPr>
          <p:nvPr/>
        </p:nvCxnSpPr>
        <p:spPr bwMode="auto">
          <a:xfrm rot="16200000" flipH="1">
            <a:off x="3368675" y="866776"/>
            <a:ext cx="1587" cy="3014662"/>
          </a:xfrm>
          <a:prstGeom prst="curvedConnector3">
            <a:avLst>
              <a:gd name="adj1" fmla="val 14300000"/>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415" name="AutoShape 71"/>
          <p:cNvCxnSpPr>
            <a:cxnSpLocks noChangeShapeType="1"/>
            <a:stCxn id="13386" idx="2"/>
            <a:endCxn id="13375" idx="2"/>
          </p:cNvCxnSpPr>
          <p:nvPr/>
        </p:nvCxnSpPr>
        <p:spPr bwMode="auto">
          <a:xfrm rot="16200000" flipH="1">
            <a:off x="6209506" y="1040607"/>
            <a:ext cx="1587" cy="2667000"/>
          </a:xfrm>
          <a:prstGeom prst="curvedConnector3">
            <a:avLst>
              <a:gd name="adj1" fmla="val 14300000"/>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417" name="AutoShape 73"/>
          <p:cNvCxnSpPr>
            <a:cxnSpLocks noChangeShapeType="1"/>
          </p:cNvCxnSpPr>
          <p:nvPr/>
        </p:nvCxnSpPr>
        <p:spPr bwMode="auto">
          <a:xfrm rot="5400000">
            <a:off x="3733800" y="406400"/>
            <a:ext cx="2133600" cy="5638800"/>
          </a:xfrm>
          <a:prstGeom prst="curvedConnector3">
            <a:avLst>
              <a:gd name="adj1" fmla="val 110713"/>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418" name="AutoShape 74"/>
          <p:cNvCxnSpPr>
            <a:cxnSpLocks noChangeShapeType="1"/>
            <a:stCxn id="13360" idx="2"/>
            <a:endCxn id="13349" idx="2"/>
          </p:cNvCxnSpPr>
          <p:nvPr/>
        </p:nvCxnSpPr>
        <p:spPr bwMode="auto">
          <a:xfrm rot="16200000" flipH="1">
            <a:off x="3383756" y="3028157"/>
            <a:ext cx="14287" cy="2971800"/>
          </a:xfrm>
          <a:prstGeom prst="curvedConnector3">
            <a:avLst>
              <a:gd name="adj1" fmla="val 1688889"/>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419" name="AutoShape 75"/>
          <p:cNvCxnSpPr>
            <a:cxnSpLocks noChangeShapeType="1"/>
            <a:stCxn id="13349" idx="2"/>
            <a:endCxn id="13342" idx="2"/>
          </p:cNvCxnSpPr>
          <p:nvPr/>
        </p:nvCxnSpPr>
        <p:spPr bwMode="auto">
          <a:xfrm rot="16200000" flipH="1">
            <a:off x="6247606" y="3150394"/>
            <a:ext cx="1588" cy="2743200"/>
          </a:xfrm>
          <a:prstGeom prst="curvedConnector3">
            <a:avLst>
              <a:gd name="adj1" fmla="val 14300000"/>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421" name="AutoShape 77"/>
          <p:cNvCxnSpPr>
            <a:cxnSpLocks noChangeShapeType="1"/>
            <a:stCxn id="13342" idx="2"/>
            <a:endCxn id="13338" idx="3"/>
          </p:cNvCxnSpPr>
          <p:nvPr/>
        </p:nvCxnSpPr>
        <p:spPr bwMode="auto">
          <a:xfrm rot="5400000">
            <a:off x="5851525" y="3836988"/>
            <a:ext cx="1084263" cy="2452687"/>
          </a:xfrm>
          <a:prstGeom prst="curvedConnector2">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430" name="Line 86"/>
          <p:cNvSpPr>
            <a:spLocks noChangeShapeType="1"/>
          </p:cNvSpPr>
          <p:nvPr/>
        </p:nvSpPr>
        <p:spPr bwMode="auto">
          <a:xfrm>
            <a:off x="246063" y="6386513"/>
            <a:ext cx="276225"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
        <p:nvSpPr>
          <p:cNvPr id="57431" name="Line 87"/>
          <p:cNvSpPr>
            <a:spLocks noChangeShapeType="1"/>
          </p:cNvSpPr>
          <p:nvPr/>
        </p:nvSpPr>
        <p:spPr bwMode="auto">
          <a:xfrm>
            <a:off x="258763" y="5208588"/>
            <a:ext cx="900112"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
        <p:nvSpPr>
          <p:cNvPr id="57432" name="Line 88"/>
          <p:cNvSpPr>
            <a:spLocks noChangeShapeType="1"/>
          </p:cNvSpPr>
          <p:nvPr/>
        </p:nvSpPr>
        <p:spPr bwMode="auto">
          <a:xfrm>
            <a:off x="257175" y="5656263"/>
            <a:ext cx="576263"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
        <p:nvSpPr>
          <p:cNvPr id="57433" name="Line 89"/>
          <p:cNvSpPr>
            <a:spLocks noChangeShapeType="1"/>
          </p:cNvSpPr>
          <p:nvPr/>
        </p:nvSpPr>
        <p:spPr bwMode="auto">
          <a:xfrm>
            <a:off x="257175" y="6030913"/>
            <a:ext cx="900113"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
        <p:nvSpPr>
          <p:cNvPr id="57434" name="Line 90"/>
          <p:cNvSpPr>
            <a:spLocks noChangeShapeType="1"/>
          </p:cNvSpPr>
          <p:nvPr/>
        </p:nvSpPr>
        <p:spPr bwMode="auto">
          <a:xfrm flipH="1">
            <a:off x="1349375" y="6118225"/>
            <a:ext cx="900113"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
        <p:nvSpPr>
          <p:cNvPr id="57435" name="Line 91"/>
          <p:cNvSpPr>
            <a:spLocks noChangeShapeType="1"/>
          </p:cNvSpPr>
          <p:nvPr/>
        </p:nvSpPr>
        <p:spPr bwMode="auto">
          <a:xfrm flipH="1">
            <a:off x="1365250" y="6276975"/>
            <a:ext cx="900113"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
        <p:nvSpPr>
          <p:cNvPr id="57436" name="Line 92"/>
          <p:cNvSpPr>
            <a:spLocks noChangeShapeType="1"/>
          </p:cNvSpPr>
          <p:nvPr/>
        </p:nvSpPr>
        <p:spPr bwMode="auto">
          <a:xfrm flipH="1">
            <a:off x="1333500" y="5391150"/>
            <a:ext cx="900113"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82800" rIns="0" anchor="b"/>
          <a:lstStyle/>
          <a:p>
            <a:endParaRPr lang="zh-CN" altLang="en-US"/>
          </a:p>
        </p:txBody>
      </p:sp>
    </p:spTree>
    <p:extLst>
      <p:ext uri="{BB962C8B-B14F-4D97-AF65-F5344CB8AC3E}">
        <p14:creationId xmlns:p14="http://schemas.microsoft.com/office/powerpoint/2010/main" val="515235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7430"/>
                                        </p:tgtEl>
                                        <p:attrNameLst>
                                          <p:attrName>style.visibility</p:attrName>
                                        </p:attrNameLst>
                                      </p:cBhvr>
                                      <p:to>
                                        <p:strVal val="hidden"/>
                                      </p:to>
                                    </p:set>
                                  </p:childTnLst>
                                </p:cTn>
                              </p:par>
                            </p:childTnLst>
                          </p:cTn>
                        </p:par>
                        <p:par>
                          <p:cTn id="7" fill="hold" nodeType="afterGroup">
                            <p:stCondLst>
                              <p:cond delay="0"/>
                            </p:stCondLst>
                            <p:childTnLst>
                              <p:par>
                                <p:cTn id="8" presetID="3" presetClass="entr" presetSubtype="10" fill="hold" nodeType="afterEffect">
                                  <p:stCondLst>
                                    <p:cond delay="0"/>
                                  </p:stCondLst>
                                  <p:childTnLst>
                                    <p:set>
                                      <p:cBhvr>
                                        <p:cTn id="9" dur="1" fill="hold">
                                          <p:stCondLst>
                                            <p:cond delay="0"/>
                                          </p:stCondLst>
                                        </p:cTn>
                                        <p:tgtEl>
                                          <p:spTgt spid="57422"/>
                                        </p:tgtEl>
                                        <p:attrNameLst>
                                          <p:attrName>style.visibility</p:attrName>
                                        </p:attrNameLst>
                                      </p:cBhvr>
                                      <p:to>
                                        <p:strVal val="visible"/>
                                      </p:to>
                                    </p:set>
                                    <p:animEffect transition="in" filter="blinds(horizontal)">
                                      <p:cBhvr>
                                        <p:cTn id="10" dur="500"/>
                                        <p:tgtEl>
                                          <p:spTgt spid="57422"/>
                                        </p:tgtEl>
                                      </p:cBhvr>
                                    </p:animEffect>
                                  </p:childTnLst>
                                </p:cTn>
                              </p:par>
                              <p:par>
                                <p:cTn id="11" presetID="22" presetClass="entr" presetSubtype="8" fill="hold" nodeType="withEffect">
                                  <p:stCondLst>
                                    <p:cond delay="0"/>
                                  </p:stCondLst>
                                  <p:childTnLst>
                                    <p:set>
                                      <p:cBhvr>
                                        <p:cTn id="12" dur="1" fill="hold">
                                          <p:stCondLst>
                                            <p:cond delay="0"/>
                                          </p:stCondLst>
                                        </p:cTn>
                                        <p:tgtEl>
                                          <p:spTgt spid="57414"/>
                                        </p:tgtEl>
                                        <p:attrNameLst>
                                          <p:attrName>style.visibility</p:attrName>
                                        </p:attrNameLst>
                                      </p:cBhvr>
                                      <p:to>
                                        <p:strVal val="visible"/>
                                      </p:to>
                                    </p:set>
                                    <p:animEffect transition="in" filter="wipe(left)">
                                      <p:cBhvr>
                                        <p:cTn id="13" dur="500"/>
                                        <p:tgtEl>
                                          <p:spTgt spid="57414"/>
                                        </p:tgtEl>
                                      </p:cBhvr>
                                    </p:animEffect>
                                  </p:childTnLst>
                                  <p:subTnLst>
                                    <p:set>
                                      <p:cBhvr override="childStyle">
                                        <p:cTn dur="1" fill="hold" display="0" masterRel="nextClick" afterEffect="1"/>
                                        <p:tgtEl>
                                          <p:spTgt spid="57414"/>
                                        </p:tgtEl>
                                        <p:attrNameLst>
                                          <p:attrName>style.visibility</p:attrName>
                                        </p:attrNameLst>
                                      </p:cBhvr>
                                      <p:to>
                                        <p:strVal val="hidden"/>
                                      </p:to>
                                    </p:set>
                                  </p:subTnLst>
                                </p:cTn>
                              </p:par>
                              <p:par>
                                <p:cTn id="14" presetID="1" presetClass="entr" presetSubtype="0" fill="hold" nodeType="withEffect">
                                  <p:stCondLst>
                                    <p:cond delay="0"/>
                                  </p:stCondLst>
                                  <p:childTnLst>
                                    <p:set>
                                      <p:cBhvr>
                                        <p:cTn id="15" dur="1" fill="hold">
                                          <p:stCondLst>
                                            <p:cond delay="0"/>
                                          </p:stCondLst>
                                        </p:cTn>
                                        <p:tgtEl>
                                          <p:spTgt spid="5743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nodeType="clickEffect">
                                  <p:stCondLst>
                                    <p:cond delay="0"/>
                                  </p:stCondLst>
                                  <p:childTnLst>
                                    <p:set>
                                      <p:cBhvr>
                                        <p:cTn id="19" dur="1" fill="hold">
                                          <p:stCondLst>
                                            <p:cond delay="0"/>
                                          </p:stCondLst>
                                        </p:cTn>
                                        <p:tgtEl>
                                          <p:spTgt spid="57431"/>
                                        </p:tgtEl>
                                        <p:attrNameLst>
                                          <p:attrName>style.visibility</p:attrName>
                                        </p:attrNameLst>
                                      </p:cBhvr>
                                      <p:to>
                                        <p:strVal val="hidden"/>
                                      </p:to>
                                    </p:set>
                                  </p:childTnLst>
                                </p:cTn>
                              </p:par>
                            </p:childTnLst>
                          </p:cTn>
                        </p:par>
                        <p:par>
                          <p:cTn id="20" fill="hold" nodeType="afterGroup">
                            <p:stCondLst>
                              <p:cond delay="0"/>
                            </p:stCondLst>
                            <p:childTnLst>
                              <p:par>
                                <p:cTn id="21" presetID="1" presetClass="entr" presetSubtype="0" fill="hold" nodeType="afterEffect">
                                  <p:stCondLst>
                                    <p:cond delay="0"/>
                                  </p:stCondLst>
                                  <p:childTnLst>
                                    <p:set>
                                      <p:cBhvr>
                                        <p:cTn id="22" dur="1" fill="hold">
                                          <p:stCondLst>
                                            <p:cond delay="0"/>
                                          </p:stCondLst>
                                        </p:cTn>
                                        <p:tgtEl>
                                          <p:spTgt spid="57432"/>
                                        </p:tgtEl>
                                        <p:attrNameLst>
                                          <p:attrName>style.visibility</p:attrName>
                                        </p:attrNameLst>
                                      </p:cBhvr>
                                      <p:to>
                                        <p:strVal val="visible"/>
                                      </p:to>
                                    </p:set>
                                  </p:childTnLst>
                                </p:cTn>
                              </p:par>
                            </p:childTnLst>
                          </p:cTn>
                        </p:par>
                        <p:par>
                          <p:cTn id="23" fill="hold" nodeType="afterGroup">
                            <p:stCondLst>
                              <p:cond delay="0"/>
                            </p:stCondLst>
                            <p:childTnLst>
                              <p:par>
                                <p:cTn id="24" presetID="3" presetClass="entr" presetSubtype="10" fill="hold" nodeType="afterEffect">
                                  <p:stCondLst>
                                    <p:cond delay="0"/>
                                  </p:stCondLst>
                                  <p:childTnLst>
                                    <p:set>
                                      <p:cBhvr>
                                        <p:cTn id="25" dur="1" fill="hold">
                                          <p:stCondLst>
                                            <p:cond delay="0"/>
                                          </p:stCondLst>
                                        </p:cTn>
                                        <p:tgtEl>
                                          <p:spTgt spid="57424"/>
                                        </p:tgtEl>
                                        <p:attrNameLst>
                                          <p:attrName>style.visibility</p:attrName>
                                        </p:attrNameLst>
                                      </p:cBhvr>
                                      <p:to>
                                        <p:strVal val="visible"/>
                                      </p:to>
                                    </p:set>
                                    <p:animEffect transition="in" filter="blinds(horizontal)">
                                      <p:cBhvr>
                                        <p:cTn id="26" dur="500"/>
                                        <p:tgtEl>
                                          <p:spTgt spid="57424"/>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57415"/>
                                        </p:tgtEl>
                                        <p:attrNameLst>
                                          <p:attrName>style.visibility</p:attrName>
                                        </p:attrNameLst>
                                      </p:cBhvr>
                                      <p:to>
                                        <p:strVal val="visible"/>
                                      </p:to>
                                    </p:set>
                                    <p:animEffect transition="in" filter="wipe(left)">
                                      <p:cBhvr>
                                        <p:cTn id="30" dur="500"/>
                                        <p:tgtEl>
                                          <p:spTgt spid="57415"/>
                                        </p:tgtEl>
                                      </p:cBhvr>
                                    </p:animEffect>
                                  </p:childTnLst>
                                  <p:subTnLst>
                                    <p:set>
                                      <p:cBhvr override="childStyle">
                                        <p:cTn dur="1" fill="hold" display="0" masterRel="nextClick" afterEffect="1"/>
                                        <p:tgtEl>
                                          <p:spTgt spid="57415"/>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nodeType="clickEffect">
                                  <p:stCondLst>
                                    <p:cond delay="0"/>
                                  </p:stCondLst>
                                  <p:childTnLst>
                                    <p:set>
                                      <p:cBhvr>
                                        <p:cTn id="34" dur="1" fill="hold">
                                          <p:stCondLst>
                                            <p:cond delay="0"/>
                                          </p:stCondLst>
                                        </p:cTn>
                                        <p:tgtEl>
                                          <p:spTgt spid="57432"/>
                                        </p:tgtEl>
                                        <p:attrNameLst>
                                          <p:attrName>style.visibility</p:attrName>
                                        </p:attrNameLst>
                                      </p:cBhvr>
                                      <p:to>
                                        <p:strVal val="hidden"/>
                                      </p:to>
                                    </p:set>
                                  </p:childTnLst>
                                </p:cTn>
                              </p:par>
                            </p:childTnLst>
                          </p:cTn>
                        </p:par>
                        <p:par>
                          <p:cTn id="35" fill="hold" nodeType="afterGroup">
                            <p:stCondLst>
                              <p:cond delay="0"/>
                            </p:stCondLst>
                            <p:childTnLst>
                              <p:par>
                                <p:cTn id="36" presetID="1" presetClass="entr" presetSubtype="0" fill="hold" nodeType="afterEffect">
                                  <p:stCondLst>
                                    <p:cond delay="0"/>
                                  </p:stCondLst>
                                  <p:childTnLst>
                                    <p:set>
                                      <p:cBhvr>
                                        <p:cTn id="37" dur="1" fill="hold">
                                          <p:stCondLst>
                                            <p:cond delay="0"/>
                                          </p:stCondLst>
                                        </p:cTn>
                                        <p:tgtEl>
                                          <p:spTgt spid="57433"/>
                                        </p:tgtEl>
                                        <p:attrNameLst>
                                          <p:attrName>style.visibility</p:attrName>
                                        </p:attrNameLst>
                                      </p:cBhvr>
                                      <p:to>
                                        <p:strVal val="visible"/>
                                      </p:to>
                                    </p:set>
                                  </p:childTnLst>
                                </p:cTn>
                              </p:par>
                            </p:childTnLst>
                          </p:cTn>
                        </p:par>
                        <p:par>
                          <p:cTn id="38" fill="hold" nodeType="afterGroup">
                            <p:stCondLst>
                              <p:cond delay="0"/>
                            </p:stCondLst>
                            <p:childTnLst>
                              <p:par>
                                <p:cTn id="39" presetID="3" presetClass="entr" presetSubtype="10" fill="hold" nodeType="afterEffect">
                                  <p:stCondLst>
                                    <p:cond delay="0"/>
                                  </p:stCondLst>
                                  <p:childTnLst>
                                    <p:set>
                                      <p:cBhvr>
                                        <p:cTn id="40" dur="1" fill="hold">
                                          <p:stCondLst>
                                            <p:cond delay="0"/>
                                          </p:stCondLst>
                                        </p:cTn>
                                        <p:tgtEl>
                                          <p:spTgt spid="57425"/>
                                        </p:tgtEl>
                                        <p:attrNameLst>
                                          <p:attrName>style.visibility</p:attrName>
                                        </p:attrNameLst>
                                      </p:cBhvr>
                                      <p:to>
                                        <p:strVal val="visible"/>
                                      </p:to>
                                    </p:set>
                                    <p:animEffect transition="in" filter="blinds(horizontal)">
                                      <p:cBhvr>
                                        <p:cTn id="41" dur="500"/>
                                        <p:tgtEl>
                                          <p:spTgt spid="57425"/>
                                        </p:tgtEl>
                                      </p:cBhvr>
                                    </p:animEffect>
                                  </p:childTnLst>
                                </p:cTn>
                              </p:par>
                            </p:childTnLst>
                          </p:cTn>
                        </p:par>
                        <p:par>
                          <p:cTn id="42" fill="hold" nodeType="afterGroup">
                            <p:stCondLst>
                              <p:cond delay="500"/>
                            </p:stCondLst>
                            <p:childTnLst>
                              <p:par>
                                <p:cTn id="43" presetID="22" presetClass="entr" presetSubtype="2" fill="hold" nodeType="afterEffect">
                                  <p:stCondLst>
                                    <p:cond delay="0"/>
                                  </p:stCondLst>
                                  <p:childTnLst>
                                    <p:set>
                                      <p:cBhvr>
                                        <p:cTn id="44" dur="1" fill="hold">
                                          <p:stCondLst>
                                            <p:cond delay="0"/>
                                          </p:stCondLst>
                                        </p:cTn>
                                        <p:tgtEl>
                                          <p:spTgt spid="57417"/>
                                        </p:tgtEl>
                                        <p:attrNameLst>
                                          <p:attrName>style.visibility</p:attrName>
                                        </p:attrNameLst>
                                      </p:cBhvr>
                                      <p:to>
                                        <p:strVal val="visible"/>
                                      </p:to>
                                    </p:set>
                                    <p:animEffect transition="in" filter="wipe(right)">
                                      <p:cBhvr>
                                        <p:cTn id="45" dur="500"/>
                                        <p:tgtEl>
                                          <p:spTgt spid="57417"/>
                                        </p:tgtEl>
                                      </p:cBhvr>
                                    </p:animEffect>
                                  </p:childTnLst>
                                  <p:subTnLst>
                                    <p:set>
                                      <p:cBhvr override="childStyle">
                                        <p:cTn dur="1" fill="hold" display="0" masterRel="nextClick" afterEffect="1"/>
                                        <p:tgtEl>
                                          <p:spTgt spid="57417"/>
                                        </p:tgtEl>
                                        <p:attrNameLst>
                                          <p:attrName>style.visibility</p:attrName>
                                        </p:attrNameLst>
                                      </p:cBhvr>
                                      <p:to>
                                        <p:strVal val="hidden"/>
                                      </p:to>
                                    </p:set>
                                  </p:sub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xit" presetSubtype="0" fill="hold" nodeType="clickEffect">
                                  <p:stCondLst>
                                    <p:cond delay="0"/>
                                  </p:stCondLst>
                                  <p:childTnLst>
                                    <p:set>
                                      <p:cBhvr>
                                        <p:cTn id="49" dur="1" fill="hold">
                                          <p:stCondLst>
                                            <p:cond delay="0"/>
                                          </p:stCondLst>
                                        </p:cTn>
                                        <p:tgtEl>
                                          <p:spTgt spid="57433"/>
                                        </p:tgtEl>
                                        <p:attrNameLst>
                                          <p:attrName>style.visibility</p:attrName>
                                        </p:attrNameLst>
                                      </p:cBhvr>
                                      <p:to>
                                        <p:strVal val="hidden"/>
                                      </p:to>
                                    </p:set>
                                  </p:childTnLst>
                                </p:cTn>
                              </p:par>
                              <p:par>
                                <p:cTn id="50" presetID="1" presetClass="entr" presetSubtype="0" fill="hold" nodeType="withEffect">
                                  <p:stCondLst>
                                    <p:cond delay="0"/>
                                  </p:stCondLst>
                                  <p:childTnLst>
                                    <p:set>
                                      <p:cBhvr>
                                        <p:cTn id="51" dur="1" fill="hold">
                                          <p:stCondLst>
                                            <p:cond delay="0"/>
                                          </p:stCondLst>
                                        </p:cTn>
                                        <p:tgtEl>
                                          <p:spTgt spid="57434"/>
                                        </p:tgtEl>
                                        <p:attrNameLst>
                                          <p:attrName>style.visibility</p:attrName>
                                        </p:attrNameLst>
                                      </p:cBhvr>
                                      <p:to>
                                        <p:strVal val="visible"/>
                                      </p:to>
                                    </p:set>
                                  </p:childTnLst>
                                </p:cTn>
                              </p:par>
                            </p:childTnLst>
                          </p:cTn>
                        </p:par>
                        <p:par>
                          <p:cTn id="52" fill="hold" nodeType="afterGroup">
                            <p:stCondLst>
                              <p:cond delay="0"/>
                            </p:stCondLst>
                            <p:childTnLst>
                              <p:par>
                                <p:cTn id="53" presetID="3" presetClass="entr" presetSubtype="10" fill="hold" nodeType="afterEffect">
                                  <p:stCondLst>
                                    <p:cond delay="0"/>
                                  </p:stCondLst>
                                  <p:childTnLst>
                                    <p:set>
                                      <p:cBhvr>
                                        <p:cTn id="54" dur="1" fill="hold">
                                          <p:stCondLst>
                                            <p:cond delay="0"/>
                                          </p:stCondLst>
                                        </p:cTn>
                                        <p:tgtEl>
                                          <p:spTgt spid="57426"/>
                                        </p:tgtEl>
                                        <p:attrNameLst>
                                          <p:attrName>style.visibility</p:attrName>
                                        </p:attrNameLst>
                                      </p:cBhvr>
                                      <p:to>
                                        <p:strVal val="visible"/>
                                      </p:to>
                                    </p:set>
                                    <p:animEffect transition="in" filter="blinds(horizontal)">
                                      <p:cBhvr>
                                        <p:cTn id="55" dur="500"/>
                                        <p:tgtEl>
                                          <p:spTgt spid="57426"/>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57418"/>
                                        </p:tgtEl>
                                        <p:attrNameLst>
                                          <p:attrName>style.visibility</p:attrName>
                                        </p:attrNameLst>
                                      </p:cBhvr>
                                      <p:to>
                                        <p:strVal val="visible"/>
                                      </p:to>
                                    </p:set>
                                    <p:animEffect transition="in" filter="wipe(left)">
                                      <p:cBhvr>
                                        <p:cTn id="59" dur="500"/>
                                        <p:tgtEl>
                                          <p:spTgt spid="57418"/>
                                        </p:tgtEl>
                                      </p:cBhvr>
                                    </p:animEffect>
                                  </p:childTnLst>
                                  <p:subTnLst>
                                    <p:set>
                                      <p:cBhvr override="childStyle">
                                        <p:cTn dur="1" fill="hold" display="0" masterRel="nextClick" afterEffect="1"/>
                                        <p:tgtEl>
                                          <p:spTgt spid="57418"/>
                                        </p:tgtEl>
                                        <p:attrNameLst>
                                          <p:attrName>style.visibility</p:attrName>
                                        </p:attrNameLst>
                                      </p:cBhvr>
                                      <p:to>
                                        <p:strVal val="hidden"/>
                                      </p:to>
                                    </p:set>
                                  </p:sub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xit" presetSubtype="0" fill="hold" nodeType="clickEffect">
                                  <p:stCondLst>
                                    <p:cond delay="0"/>
                                  </p:stCondLst>
                                  <p:childTnLst>
                                    <p:set>
                                      <p:cBhvr>
                                        <p:cTn id="63" dur="1" fill="hold">
                                          <p:stCondLst>
                                            <p:cond delay="0"/>
                                          </p:stCondLst>
                                        </p:cTn>
                                        <p:tgtEl>
                                          <p:spTgt spid="57434"/>
                                        </p:tgtEl>
                                        <p:attrNameLst>
                                          <p:attrName>style.visibility</p:attrName>
                                        </p:attrNameLst>
                                      </p:cBhvr>
                                      <p:to>
                                        <p:strVal val="hidden"/>
                                      </p:to>
                                    </p:set>
                                  </p:childTnLst>
                                </p:cTn>
                              </p:par>
                              <p:par>
                                <p:cTn id="64" presetID="3" presetClass="entr" presetSubtype="10" fill="hold" nodeType="withEffect">
                                  <p:stCondLst>
                                    <p:cond delay="0"/>
                                  </p:stCondLst>
                                  <p:childTnLst>
                                    <p:set>
                                      <p:cBhvr>
                                        <p:cTn id="65" dur="1" fill="hold">
                                          <p:stCondLst>
                                            <p:cond delay="0"/>
                                          </p:stCondLst>
                                        </p:cTn>
                                        <p:tgtEl>
                                          <p:spTgt spid="57427"/>
                                        </p:tgtEl>
                                        <p:attrNameLst>
                                          <p:attrName>style.visibility</p:attrName>
                                        </p:attrNameLst>
                                      </p:cBhvr>
                                      <p:to>
                                        <p:strVal val="visible"/>
                                      </p:to>
                                    </p:set>
                                    <p:animEffect transition="in" filter="blinds(horizontal)">
                                      <p:cBhvr>
                                        <p:cTn id="66" dur="500"/>
                                        <p:tgtEl>
                                          <p:spTgt spid="57427"/>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57419"/>
                                        </p:tgtEl>
                                        <p:attrNameLst>
                                          <p:attrName>style.visibility</p:attrName>
                                        </p:attrNameLst>
                                      </p:cBhvr>
                                      <p:to>
                                        <p:strVal val="visible"/>
                                      </p:to>
                                    </p:set>
                                    <p:animEffect transition="in" filter="wipe(left)">
                                      <p:cBhvr>
                                        <p:cTn id="70" dur="500"/>
                                        <p:tgtEl>
                                          <p:spTgt spid="57419"/>
                                        </p:tgtEl>
                                      </p:cBhvr>
                                    </p:animEffect>
                                  </p:childTnLst>
                                  <p:subTnLst>
                                    <p:set>
                                      <p:cBhvr override="childStyle">
                                        <p:cTn dur="1" fill="hold" display="0" masterRel="nextClick" afterEffect="1"/>
                                        <p:tgtEl>
                                          <p:spTgt spid="57419"/>
                                        </p:tgtEl>
                                        <p:attrNameLst>
                                          <p:attrName>style.visibility</p:attrName>
                                        </p:attrNameLst>
                                      </p:cBhvr>
                                      <p:to>
                                        <p:strVal val="hidden"/>
                                      </p:to>
                                    </p:set>
                                  </p:subTnLst>
                                </p:cTn>
                              </p:par>
                              <p:par>
                                <p:cTn id="71" presetID="1" presetClass="entr" presetSubtype="0" fill="hold" nodeType="withEffect">
                                  <p:stCondLst>
                                    <p:cond delay="0"/>
                                  </p:stCondLst>
                                  <p:childTnLst>
                                    <p:set>
                                      <p:cBhvr>
                                        <p:cTn id="72" dur="1" fill="hold">
                                          <p:stCondLst>
                                            <p:cond delay="0"/>
                                          </p:stCondLst>
                                        </p:cTn>
                                        <p:tgtEl>
                                          <p:spTgt spid="57435"/>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57428"/>
                                        </p:tgtEl>
                                        <p:attrNameLst>
                                          <p:attrName>style.visibility</p:attrName>
                                        </p:attrNameLst>
                                      </p:cBhvr>
                                      <p:to>
                                        <p:strVal val="visible"/>
                                      </p:to>
                                    </p:set>
                                    <p:animEffect transition="in" filter="blinds(horizontal)">
                                      <p:cBhvr>
                                        <p:cTn id="77" dur="500"/>
                                        <p:tgtEl>
                                          <p:spTgt spid="57428"/>
                                        </p:tgtEl>
                                      </p:cBhvr>
                                    </p:animEffect>
                                  </p:childTnLst>
                                </p:cTn>
                              </p:par>
                              <p:par>
                                <p:cTn id="78" presetID="1" presetClass="exit" presetSubtype="0" fill="hold" nodeType="withEffect">
                                  <p:stCondLst>
                                    <p:cond delay="0"/>
                                  </p:stCondLst>
                                  <p:childTnLst>
                                    <p:set>
                                      <p:cBhvr>
                                        <p:cTn id="79" dur="1" fill="hold">
                                          <p:stCondLst>
                                            <p:cond delay="0"/>
                                          </p:stCondLst>
                                        </p:cTn>
                                        <p:tgtEl>
                                          <p:spTgt spid="57435"/>
                                        </p:tgtEl>
                                        <p:attrNameLst>
                                          <p:attrName>style.visibility</p:attrName>
                                        </p:attrNameLst>
                                      </p:cBhvr>
                                      <p:to>
                                        <p:strVal val="hidden"/>
                                      </p:to>
                                    </p:set>
                                  </p:childTnLst>
                                </p:cTn>
                              </p:par>
                            </p:childTnLst>
                          </p:cTn>
                        </p:par>
                        <p:par>
                          <p:cTn id="80" fill="hold" nodeType="afterGroup">
                            <p:stCondLst>
                              <p:cond delay="500"/>
                            </p:stCondLst>
                            <p:childTnLst>
                              <p:par>
                                <p:cTn id="81" presetID="22" presetClass="entr" presetSubtype="2" fill="hold" nodeType="afterEffect">
                                  <p:stCondLst>
                                    <p:cond delay="0"/>
                                  </p:stCondLst>
                                  <p:childTnLst>
                                    <p:set>
                                      <p:cBhvr>
                                        <p:cTn id="82" dur="1" fill="hold">
                                          <p:stCondLst>
                                            <p:cond delay="0"/>
                                          </p:stCondLst>
                                        </p:cTn>
                                        <p:tgtEl>
                                          <p:spTgt spid="57421"/>
                                        </p:tgtEl>
                                        <p:attrNameLst>
                                          <p:attrName>style.visibility</p:attrName>
                                        </p:attrNameLst>
                                      </p:cBhvr>
                                      <p:to>
                                        <p:strVal val="visible"/>
                                      </p:to>
                                    </p:set>
                                    <p:animEffect transition="in" filter="wipe(right)">
                                      <p:cBhvr>
                                        <p:cTn id="83" dur="500"/>
                                        <p:tgtEl>
                                          <p:spTgt spid="57421"/>
                                        </p:tgtEl>
                                      </p:cBhvr>
                                    </p:animEffect>
                                  </p:childTnLst>
                                </p:cTn>
                              </p:par>
                              <p:par>
                                <p:cTn id="84" presetID="1" presetClass="entr" presetSubtype="0" fill="hold" nodeType="withEffect">
                                  <p:stCondLst>
                                    <p:cond delay="0"/>
                                  </p:stCondLst>
                                  <p:childTnLst>
                                    <p:set>
                                      <p:cBhvr>
                                        <p:cTn id="85" dur="1" fill="hold">
                                          <p:stCondLst>
                                            <p:cond delay="0"/>
                                          </p:stCondLst>
                                        </p:cTn>
                                        <p:tgtEl>
                                          <p:spTgt spid="57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17588" y="609600"/>
            <a:ext cx="6938788" cy="685800"/>
          </a:xfrm>
        </p:spPr>
        <p:txBody>
          <a:bodyPr/>
          <a:lstStyle/>
          <a:p>
            <a:r>
              <a:rPr lang="zh-CN" altLang="en-US" sz="3600" dirty="0"/>
              <a:t>第七</a:t>
            </a:r>
            <a:r>
              <a:rPr lang="zh-CN" altLang="en-US" sz="3600" dirty="0" smtClean="0"/>
              <a:t>章 运行</a:t>
            </a:r>
            <a:r>
              <a:rPr lang="zh-CN" altLang="en-US" sz="3600" dirty="0"/>
              <a:t>时的存储组织及管理</a:t>
            </a:r>
            <a:endParaRPr lang="zh-CN" altLang="en-US" sz="3600" dirty="0" smtClean="0"/>
          </a:p>
        </p:txBody>
      </p:sp>
      <p:sp>
        <p:nvSpPr>
          <p:cNvPr id="3" name="内容占位符 2"/>
          <p:cNvSpPr>
            <a:spLocks noGrp="1"/>
          </p:cNvSpPr>
          <p:nvPr>
            <p:ph idx="1"/>
          </p:nvPr>
        </p:nvSpPr>
        <p:spPr>
          <a:xfrm>
            <a:off x="539552" y="1268413"/>
            <a:ext cx="8568952" cy="3773341"/>
          </a:xfrm>
        </p:spPr>
        <p:txBody>
          <a:bodyPr wrap="square">
            <a:spAutoFit/>
          </a:bodyPr>
          <a:lstStyle/>
          <a:p>
            <a:pPr marL="0" indent="0" eaLnBrk="1">
              <a:lnSpc>
                <a:spcPct val="130000"/>
              </a:lnSpc>
              <a:spcBef>
                <a:spcPts val="0"/>
              </a:spcBef>
              <a:buFontTx/>
              <a:buNone/>
              <a:defRPr/>
            </a:pPr>
            <a:r>
              <a:rPr lang="en-US" altLang="zh-CN" sz="2800" dirty="0" smtClean="0">
                <a:latin typeface="+mn-lt"/>
              </a:rPr>
              <a:t>2. </a:t>
            </a:r>
            <a:r>
              <a:rPr lang="zh-CN" altLang="en-US" sz="2800" dirty="0" smtClean="0">
                <a:latin typeface="+mn-lt"/>
              </a:rPr>
              <a:t>学习要求</a:t>
            </a:r>
          </a:p>
          <a:p>
            <a:pPr marL="192088" indent="0" eaLnBrk="1">
              <a:lnSpc>
                <a:spcPct val="130000"/>
              </a:lnSpc>
              <a:spcBef>
                <a:spcPts val="0"/>
              </a:spcBef>
              <a:buNone/>
              <a:defRPr/>
            </a:pPr>
            <a:r>
              <a:rPr lang="zh-CN" altLang="en-US" sz="2400" dirty="0" smtClean="0">
                <a:latin typeface="Times New Roman" panose="02020603050405020304" pitchFamily="18" charset="0"/>
                <a:cs typeface="Times New Roman" panose="02020603050405020304" pitchFamily="18" charset="0"/>
              </a:rPr>
              <a:t>了解静态存储和动态存储的区别。</a:t>
            </a:r>
            <a:endParaRPr lang="en-US" altLang="zh-CN" sz="2400" dirty="0" smtClean="0">
              <a:latin typeface="Times New Roman" panose="02020603050405020304" pitchFamily="18" charset="0"/>
              <a:cs typeface="Times New Roman" panose="02020603050405020304" pitchFamily="18" charset="0"/>
            </a:endParaRPr>
          </a:p>
          <a:p>
            <a:pPr marL="192088" indent="0" eaLnBrk="1">
              <a:lnSpc>
                <a:spcPct val="130000"/>
              </a:lnSpc>
              <a:spcBef>
                <a:spcPts val="0"/>
              </a:spcBef>
              <a:buNone/>
              <a:defRPr/>
            </a:pPr>
            <a:r>
              <a:rPr lang="zh-CN" altLang="en-US" sz="2400" dirty="0" smtClean="0">
                <a:latin typeface="Times New Roman" panose="02020603050405020304" pitchFamily="18" charset="0"/>
                <a:cs typeface="Times New Roman" panose="02020603050405020304" pitchFamily="18" charset="0"/>
              </a:rPr>
              <a:t>理解活动记录的工作原理，尤其是理解</a:t>
            </a:r>
            <a:r>
              <a:rPr lang="en-US" altLang="zh-CN" sz="2400" dirty="0" smtClean="0">
                <a:latin typeface="Times New Roman" panose="02020603050405020304" pitchFamily="18" charset="0"/>
                <a:cs typeface="Times New Roman" panose="02020603050405020304" pitchFamily="18" charset="0"/>
              </a:rPr>
              <a:t>display</a:t>
            </a:r>
            <a:r>
              <a:rPr lang="zh-CN" altLang="en-US" sz="2400" dirty="0" smtClean="0">
                <a:latin typeface="Times New Roman" panose="02020603050405020304" pitchFamily="18" charset="0"/>
                <a:cs typeface="Times New Roman" panose="02020603050405020304" pitchFamily="18" charset="0"/>
              </a:rPr>
              <a:t>的作用。</a:t>
            </a:r>
            <a:endParaRPr lang="en-US" altLang="zh-CN" sz="2400" dirty="0" smtClean="0">
              <a:latin typeface="Times New Roman" panose="02020603050405020304" pitchFamily="18" charset="0"/>
              <a:cs typeface="Times New Roman" panose="02020603050405020304" pitchFamily="18" charset="0"/>
            </a:endParaRPr>
          </a:p>
          <a:p>
            <a:pPr marL="192088" indent="0" eaLnBrk="1">
              <a:lnSpc>
                <a:spcPct val="130000"/>
              </a:lnSpc>
              <a:spcBef>
                <a:spcPts val="0"/>
              </a:spcBef>
              <a:buNone/>
              <a:defRPr/>
            </a:pPr>
            <a:r>
              <a:rPr lang="zh-CN" altLang="en-US" sz="2400" dirty="0" smtClean="0">
                <a:latin typeface="Times New Roman" panose="02020603050405020304" pitchFamily="18" charset="0"/>
                <a:cs typeface="Times New Roman" panose="02020603050405020304" pitchFamily="18" charset="0"/>
              </a:rPr>
              <a:t>注意，</a:t>
            </a:r>
            <a:r>
              <a:rPr lang="en-US" altLang="zh-CN" sz="2400" dirty="0" smtClean="0">
                <a:latin typeface="Times New Roman" panose="02020603050405020304" pitchFamily="18" charset="0"/>
                <a:cs typeface="Times New Roman" panose="02020603050405020304" pitchFamily="18" charset="0"/>
              </a:rPr>
              <a:t>display</a:t>
            </a:r>
            <a:r>
              <a:rPr lang="zh-CN" altLang="en-US" sz="2400" dirty="0" smtClean="0">
                <a:latin typeface="Times New Roman" panose="02020603050405020304" pitchFamily="18" charset="0"/>
                <a:cs typeface="Times New Roman" panose="02020603050405020304" pitchFamily="18" charset="0"/>
              </a:rPr>
              <a:t>区是</a:t>
            </a:r>
            <a:r>
              <a:rPr lang="en-US" altLang="zh-CN" sz="2400" dirty="0" smtClean="0">
                <a:latin typeface="Times New Roman" panose="02020603050405020304" pitchFamily="18" charset="0"/>
                <a:cs typeface="Times New Roman" panose="02020603050405020304" pitchFamily="18" charset="0"/>
              </a:rPr>
              <a:t>Pascal</a:t>
            </a:r>
            <a:r>
              <a:rPr lang="zh-CN" altLang="en-US" sz="2400" dirty="0" smtClean="0">
                <a:latin typeface="Times New Roman" panose="02020603050405020304" pitchFamily="18" charset="0"/>
                <a:cs typeface="Times New Roman" panose="02020603050405020304" pitchFamily="18" charset="0"/>
              </a:rPr>
              <a:t>语言特有的组织结构，并非对所有语言都是如此。如</a:t>
            </a:r>
            <a:r>
              <a:rPr lang="en-US" altLang="zh-CN" sz="2400" dirty="0" smtClean="0">
                <a:latin typeface="Times New Roman" panose="02020603050405020304" pitchFamily="18" charset="0"/>
                <a:cs typeface="Times New Roman" panose="02020603050405020304" pitchFamily="18" charset="0"/>
              </a:rPr>
              <a:t>RISC</a:t>
            </a:r>
            <a:r>
              <a:rPr lang="zh-CN" altLang="en-US" sz="2400" dirty="0" smtClean="0">
                <a:latin typeface="Times New Roman" panose="02020603050405020304" pitchFamily="18" charset="0"/>
                <a:cs typeface="Times New Roman" panose="02020603050405020304" pitchFamily="18" charset="0"/>
              </a:rPr>
              <a:t>体系架构中</a:t>
            </a:r>
            <a:r>
              <a:rPr lang="en-US" altLang="zh-CN" sz="2400" dirty="0" smtClean="0">
                <a:latin typeface="Times New Roman" panose="02020603050405020304" pitchFamily="18" charset="0"/>
                <a:cs typeface="Times New Roman" panose="02020603050405020304" pitchFamily="18" charset="0"/>
              </a:rPr>
              <a:t>C++</a:t>
            </a:r>
            <a:r>
              <a:rPr lang="zh-CN" altLang="en-US" sz="2400" dirty="0" smtClean="0">
                <a:latin typeface="Times New Roman" panose="02020603050405020304" pitchFamily="18" charset="0"/>
                <a:cs typeface="Times New Roman" panose="02020603050405020304" pitchFamily="18" charset="0"/>
              </a:rPr>
              <a:t>语言的程序运行栈。</a:t>
            </a:r>
            <a:endParaRPr lang="en-US" altLang="zh-CN" sz="2400" dirty="0" smtClean="0">
              <a:latin typeface="Times New Roman" panose="02020603050405020304" pitchFamily="18" charset="0"/>
              <a:cs typeface="Times New Roman" panose="02020603050405020304" pitchFamily="18" charset="0"/>
            </a:endParaRPr>
          </a:p>
          <a:p>
            <a:pPr marL="192088" indent="0" eaLnBrk="1">
              <a:lnSpc>
                <a:spcPct val="130000"/>
              </a:lnSpc>
              <a:spcBef>
                <a:spcPts val="0"/>
              </a:spcBef>
              <a:buNone/>
              <a:defRPr/>
            </a:pPr>
            <a:r>
              <a:rPr lang="zh-CN" altLang="en-US" sz="6000" dirty="0" smtClean="0">
                <a:solidFill>
                  <a:srgbClr val="FF0000"/>
                </a:solidFill>
                <a:sym typeface="Wingdings" panose="05000000000000000000" pitchFamily="2" charset="2"/>
              </a:rPr>
              <a:t>  </a:t>
            </a:r>
            <a:r>
              <a:rPr lang="en-US" altLang="zh-CN" dirty="0" smtClean="0">
                <a:sym typeface="Wingdings" panose="05000000000000000000" pitchFamily="2" charset="2"/>
              </a:rPr>
              <a:t>——</a:t>
            </a:r>
            <a:r>
              <a:rPr lang="zh-CN" altLang="en-US" dirty="0" smtClean="0">
                <a:sym typeface="Wingdings" panose="05000000000000000000" pitchFamily="2" charset="2"/>
              </a:rPr>
              <a:t>尽信书则不如无书也！</a:t>
            </a:r>
            <a:endParaRPr lang="zh-CN" altLang="en-US" dirty="0"/>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24</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25467970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179388" y="635000"/>
            <a:ext cx="8229600" cy="922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mtClean="0">
                <a:latin typeface="Times New Roman" panose="02020603050405020304" pitchFamily="18" charset="0"/>
                <a:cs typeface="Times New Roman" panose="02020603050405020304" pitchFamily="18" charset="0"/>
              </a:rPr>
              <a:t>12.2 </a:t>
            </a:r>
            <a:r>
              <a:rPr lang="zh-CN" altLang="en-US" smtClean="0">
                <a:latin typeface="Times New Roman" panose="02020603050405020304" pitchFamily="18" charset="0"/>
                <a:cs typeface="Times New Roman" panose="02020603050405020304" pitchFamily="18" charset="0"/>
              </a:rPr>
              <a:t>地址空间</a:t>
            </a:r>
          </a:p>
        </p:txBody>
      </p:sp>
      <p:sp>
        <p:nvSpPr>
          <p:cNvPr id="25603" name="Rectangle 3"/>
          <p:cNvSpPr>
            <a:spLocks noGrp="1" noChangeArrowheads="1"/>
          </p:cNvSpPr>
          <p:nvPr>
            <p:ph idx="1"/>
          </p:nvPr>
        </p:nvSpPr>
        <p:spPr bwMode="auto">
          <a:xfrm>
            <a:off x="457200" y="1471613"/>
            <a:ext cx="7210425" cy="47529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66700" indent="-266700" eaLnBrk="1" hangingPunct="1">
              <a:spcBef>
                <a:spcPts val="0"/>
              </a:spcBef>
              <a:spcAft>
                <a:spcPts val="600"/>
              </a:spcAft>
              <a:defRPr/>
            </a:pPr>
            <a:r>
              <a:rPr lang="zh-CN" altLang="en-US" sz="2800" b="1" dirty="0">
                <a:solidFill>
                  <a:srgbClr val="3333CC"/>
                </a:solidFill>
                <a:latin typeface="Times New Roman" panose="02020603050405020304" pitchFamily="18" charset="0"/>
                <a:ea typeface="楷体" panose="02010609060101010101" pitchFamily="49" charset="-122"/>
                <a:cs typeface="Times New Roman" panose="02020603050405020304" pitchFamily="18" charset="0"/>
              </a:rPr>
              <a:t>代码区 </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存放目标代码 </a:t>
            </a:r>
          </a:p>
          <a:p>
            <a:pPr marL="266700" indent="-266700" eaLnBrk="1" hangingPunct="1">
              <a:spcBef>
                <a:spcPts val="0"/>
              </a:spcBef>
              <a:spcAft>
                <a:spcPts val="600"/>
              </a:spcAft>
              <a:defRPr/>
            </a:pPr>
            <a:r>
              <a:rPr lang="zh-CN" altLang="en-US" sz="2800" b="1" dirty="0">
                <a:solidFill>
                  <a:srgbClr val="3333CC"/>
                </a:solidFill>
                <a:latin typeface="Times New Roman" panose="02020603050405020304" pitchFamily="18" charset="0"/>
                <a:ea typeface="楷体" panose="02010609060101010101" pitchFamily="49" charset="-122"/>
                <a:cs typeface="Times New Roman" panose="02020603050405020304" pitchFamily="18" charset="0"/>
              </a:rPr>
              <a:t>静态数据区 </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全局变量 </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静态变量 </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部分常量，例如字符串 </a:t>
            </a:r>
          </a:p>
          <a:p>
            <a:pPr marL="266700" indent="-266700" eaLnBrk="1" hangingPunct="1">
              <a:spcBef>
                <a:spcPts val="0"/>
              </a:spcBef>
              <a:spcAft>
                <a:spcPts val="600"/>
              </a:spcAft>
              <a:defRPr/>
            </a:pPr>
            <a:r>
              <a:rPr lang="zh-CN" altLang="en-US" sz="2800" b="1" dirty="0">
                <a:solidFill>
                  <a:srgbClr val="3333CC"/>
                </a:solidFill>
                <a:latin typeface="Times New Roman" panose="02020603050405020304" pitchFamily="18" charset="0"/>
                <a:ea typeface="楷体" panose="02010609060101010101" pitchFamily="49" charset="-122"/>
                <a:cs typeface="Times New Roman" panose="02020603050405020304" pitchFamily="18" charset="0"/>
              </a:rPr>
              <a:t>动态内存区 </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也被称为内存堆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Heap </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程序员管理：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a:t>
            </a:r>
          </a:p>
          <a:p>
            <a:pPr lvl="1" eaLnBrk="1" hangingPunct="1">
              <a:spcBef>
                <a:spcPts val="0"/>
              </a:spcBef>
              <a:spcAft>
                <a:spcPts val="600"/>
              </a:spcAft>
              <a:buFont typeface="Wingdings" panose="05000000000000000000" pitchFamily="2" charset="2"/>
              <a:buChar char="Ø"/>
              <a:defRP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自动管理（内存垃圾收集器）：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Java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Ada</a:t>
            </a:r>
          </a:p>
        </p:txBody>
      </p:sp>
      <p:sp>
        <p:nvSpPr>
          <p:cNvPr id="4" name="Rectangle 3"/>
          <p:cNvSpPr txBox="1">
            <a:spLocks noChangeArrowheads="1"/>
          </p:cNvSpPr>
          <p:nvPr/>
        </p:nvSpPr>
        <p:spPr bwMode="auto">
          <a:xfrm>
            <a:off x="4211638" y="1471613"/>
            <a:ext cx="4752975" cy="3600450"/>
          </a:xfrm>
          <a:prstGeom prst="rect">
            <a:avLst/>
          </a:prstGeom>
          <a:noFill/>
        </p:spPr>
        <p:txBody>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266700" indent="-266700" eaLnBrk="1" hangingPunct="1">
              <a:spcBef>
                <a:spcPts val="0"/>
              </a:spcBef>
              <a:spcAft>
                <a:spcPts val="600"/>
              </a:spcAft>
              <a:defRPr/>
            </a:pPr>
            <a:r>
              <a:rPr lang="zh-CN" altLang="en-US" sz="2800" b="1" kern="0" dirty="0">
                <a:solidFill>
                  <a:srgbClr val="3333CC"/>
                </a:solidFill>
                <a:latin typeface="Times New Roman" panose="02020603050405020304" pitchFamily="18" charset="0"/>
                <a:ea typeface="楷体" panose="02010609060101010101" pitchFamily="49" charset="-122"/>
                <a:cs typeface="Times New Roman" panose="02020603050405020304" pitchFamily="18" charset="0"/>
              </a:rPr>
              <a:t>程序运行栈 </a:t>
            </a:r>
          </a:p>
          <a:p>
            <a:pPr lvl="1" eaLnBrk="1" hangingPunct="1">
              <a:spcBef>
                <a:spcPts val="0"/>
              </a:spcBef>
              <a:spcAft>
                <a:spcPts val="600"/>
              </a:spcAft>
              <a:buFont typeface="Wingdings" panose="05000000000000000000" pitchFamily="2" charset="2"/>
              <a:buChar char="Ø"/>
              <a:defRPr/>
            </a:pPr>
            <a:r>
              <a:rPr lang="zh-CN" altLang="en-US" sz="2400" kern="0" dirty="0">
                <a:latin typeface="Times New Roman" panose="02020603050405020304" pitchFamily="18" charset="0"/>
                <a:ea typeface="楷体" panose="02010609060101010101" pitchFamily="49" charset="-122"/>
                <a:cs typeface="Times New Roman" panose="02020603050405020304" pitchFamily="18" charset="0"/>
              </a:rPr>
              <a:t>活动记录</a:t>
            </a:r>
          </a:p>
          <a:p>
            <a:pPr lvl="1" eaLnBrk="1" hangingPunct="1">
              <a:spcBef>
                <a:spcPts val="0"/>
              </a:spcBef>
              <a:spcAft>
                <a:spcPts val="600"/>
              </a:spcAft>
              <a:buFont typeface="Wingdings" panose="05000000000000000000" pitchFamily="2" charset="2"/>
              <a:buChar char="Ø"/>
              <a:defRPr/>
            </a:pPr>
            <a:r>
              <a:rPr lang="zh-CN" altLang="en-US" sz="2400" kern="0" dirty="0">
                <a:latin typeface="Times New Roman" panose="02020603050405020304" pitchFamily="18" charset="0"/>
                <a:ea typeface="楷体" panose="02010609060101010101" pitchFamily="49" charset="-122"/>
                <a:cs typeface="Times New Roman" panose="02020603050405020304" pitchFamily="18" charset="0"/>
              </a:rPr>
              <a:t>函数调用的上下文现场 </a:t>
            </a:r>
          </a:p>
          <a:p>
            <a:pPr marL="982663" lvl="2" indent="-266700" eaLnBrk="1" hangingPunct="1">
              <a:spcBef>
                <a:spcPts val="0"/>
              </a:spcBef>
              <a:spcAft>
                <a:spcPts val="600"/>
              </a:spcAft>
              <a:buSzPct val="60000"/>
              <a:buFont typeface="Wingdings" panose="05000000000000000000" pitchFamily="2" charset="2"/>
              <a:buChar char="u"/>
              <a:defRPr/>
            </a:pPr>
            <a:r>
              <a:rPr lang="zh-CN" altLang="en-US" sz="2000" kern="0" dirty="0">
                <a:latin typeface="Times New Roman" panose="02020603050405020304" pitchFamily="18" charset="0"/>
                <a:ea typeface="楷体" panose="02010609060101010101" pitchFamily="49" charset="-122"/>
                <a:cs typeface="Times New Roman" panose="02020603050405020304" pitchFamily="18" charset="0"/>
              </a:rPr>
              <a:t>由调用方保存的一些临时寄存器</a:t>
            </a:r>
          </a:p>
          <a:p>
            <a:pPr marL="982663" lvl="2" indent="-266700" eaLnBrk="1" hangingPunct="1">
              <a:spcBef>
                <a:spcPts val="0"/>
              </a:spcBef>
              <a:spcAft>
                <a:spcPts val="600"/>
              </a:spcAft>
              <a:buSzPct val="60000"/>
              <a:buFont typeface="Wingdings" panose="05000000000000000000" pitchFamily="2" charset="2"/>
              <a:buChar char="u"/>
              <a:defRPr/>
            </a:pPr>
            <a:r>
              <a:rPr lang="zh-CN" altLang="en-US" sz="2000" kern="0" dirty="0">
                <a:latin typeface="Times New Roman" panose="02020603050405020304" pitchFamily="18" charset="0"/>
                <a:ea typeface="楷体" panose="02010609060101010101" pitchFamily="49" charset="-122"/>
                <a:cs typeface="Times New Roman" panose="02020603050405020304" pitchFamily="18" charset="0"/>
              </a:rPr>
              <a:t>被调用方保存的一些全局寄存器</a:t>
            </a:r>
          </a:p>
        </p:txBody>
      </p:sp>
    </p:spTree>
    <p:extLst>
      <p:ext uri="{BB962C8B-B14F-4D97-AF65-F5344CB8AC3E}">
        <p14:creationId xmlns:p14="http://schemas.microsoft.com/office/powerpoint/2010/main" val="6984216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60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60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60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603">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ChangeArrowheads="1"/>
          </p:cNvSpPr>
          <p:nvPr/>
        </p:nvSpPr>
        <p:spPr bwMode="auto">
          <a:xfrm>
            <a:off x="4379913" y="115888"/>
            <a:ext cx="4741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12.2.1 </a:t>
            </a:r>
            <a:r>
              <a:rPr lang="zh-CN" altLang="en-US" b="1">
                <a:solidFill>
                  <a:schemeClr val="accent2"/>
                </a:solidFill>
                <a:latin typeface="楷体_GB2312" panose="02010609030101010101" pitchFamily="49" charset="-122"/>
                <a:ea typeface="楷体_GB2312" panose="02010609030101010101" pitchFamily="49" charset="-122"/>
              </a:rPr>
              <a:t>程序地址空间的实例分析</a:t>
            </a:r>
            <a:r>
              <a:rPr lang="zh-CN" altLang="en-US">
                <a:solidFill>
                  <a:schemeClr val="accent2"/>
                </a:solidFill>
                <a:latin typeface="楷体_GB2312" panose="02010609030101010101" pitchFamily="49" charset="-122"/>
                <a:ea typeface="楷体_GB2312" panose="02010609030101010101" pitchFamily="49" charset="-122"/>
              </a:rPr>
              <a:t> </a:t>
            </a:r>
          </a:p>
        </p:txBody>
      </p:sp>
      <p:sp>
        <p:nvSpPr>
          <p:cNvPr id="45059" name="Text Box 4"/>
          <p:cNvSpPr txBox="1">
            <a:spLocks noChangeArrowheads="1"/>
          </p:cNvSpPr>
          <p:nvPr/>
        </p:nvSpPr>
        <p:spPr bwMode="auto">
          <a:xfrm>
            <a:off x="107950" y="692150"/>
            <a:ext cx="4032250" cy="5689600"/>
          </a:xfrm>
          <a:prstGeom prst="rect">
            <a:avLst/>
          </a:prstGeom>
          <a:solidFill>
            <a:srgbClr val="FFFFFF"/>
          </a:solidFill>
          <a:ln w="9525">
            <a:solidFill>
              <a:srgbClr val="000000"/>
            </a:solidFill>
            <a:miter lim="800000"/>
            <a:headEnd/>
            <a:tailEnd/>
          </a:ln>
        </p:spPr>
        <p:txBody>
          <a:bodyPr/>
          <a:lstStyle>
            <a:lvl1pPr defTabSz="361950">
              <a:defRPr sz="2400">
                <a:solidFill>
                  <a:schemeClr val="tx1"/>
                </a:solidFill>
                <a:latin typeface="Times New Roman" panose="02020603050405020304" pitchFamily="18" charset="0"/>
                <a:ea typeface="宋体" panose="02010600030101010101" pitchFamily="2" charset="-122"/>
              </a:defRPr>
            </a:lvl1pPr>
            <a:lvl2pPr marL="742950" indent="-285750" defTabSz="361950">
              <a:defRPr sz="2400">
                <a:solidFill>
                  <a:schemeClr val="tx1"/>
                </a:solidFill>
                <a:latin typeface="Times New Roman" panose="02020603050405020304" pitchFamily="18" charset="0"/>
                <a:ea typeface="宋体" panose="02010600030101010101" pitchFamily="2" charset="-122"/>
              </a:defRPr>
            </a:lvl2pPr>
            <a:lvl3pPr marL="1143000" indent="-228600" defTabSz="361950">
              <a:defRPr sz="2400">
                <a:solidFill>
                  <a:schemeClr val="tx1"/>
                </a:solidFill>
                <a:latin typeface="Times New Roman" panose="02020603050405020304" pitchFamily="18" charset="0"/>
                <a:ea typeface="宋体" panose="02010600030101010101" pitchFamily="2" charset="-122"/>
              </a:defRPr>
            </a:lvl3pPr>
            <a:lvl4pPr marL="1600200" indent="-228600" defTabSz="361950">
              <a:defRPr sz="2400">
                <a:solidFill>
                  <a:schemeClr val="tx1"/>
                </a:solidFill>
                <a:latin typeface="Times New Roman" panose="02020603050405020304" pitchFamily="18" charset="0"/>
                <a:ea typeface="宋体" panose="02010600030101010101" pitchFamily="2" charset="-122"/>
              </a:defRPr>
            </a:lvl4pPr>
            <a:lvl5pPr marL="2057400" indent="-228600" defTabSz="361950">
              <a:defRPr sz="2400">
                <a:solidFill>
                  <a:schemeClr val="tx1"/>
                </a:solidFill>
                <a:latin typeface="Times New Roman" panose="02020603050405020304" pitchFamily="18" charset="0"/>
                <a:ea typeface="宋体" panose="02010600030101010101" pitchFamily="2" charset="-122"/>
              </a:defRPr>
            </a:lvl5pPr>
            <a:lvl6pPr marL="2514600" indent="-228600" defTabSz="36195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36195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36195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36195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00"/>
              <a:t>1	 // C12P1.cpp </a:t>
            </a:r>
          </a:p>
          <a:p>
            <a:pPr algn="just" eaLnBrk="1" hangingPunct="1"/>
            <a:r>
              <a:rPr lang="en-US" altLang="zh-CN" sz="1600"/>
              <a:t>2	 #include "stdafx.h"</a:t>
            </a:r>
          </a:p>
          <a:p>
            <a:pPr algn="just" eaLnBrk="1" hangingPunct="1"/>
            <a:r>
              <a:rPr lang="en-US" altLang="zh-CN" sz="1600">
                <a:solidFill>
                  <a:srgbClr val="FF0000"/>
                </a:solidFill>
              </a:rPr>
              <a:t>3	 int global_val = 0 ;</a:t>
            </a:r>
          </a:p>
          <a:p>
            <a:pPr algn="just" eaLnBrk="1" hangingPunct="1"/>
            <a:r>
              <a:rPr lang="en-US" altLang="zh-CN" sz="1600">
                <a:solidFill>
                  <a:srgbClr val="00FF00"/>
                </a:solidFill>
              </a:rPr>
              <a:t>4	 int foo(int n){</a:t>
            </a:r>
          </a:p>
          <a:p>
            <a:pPr algn="just" eaLnBrk="1" hangingPunct="1"/>
            <a:r>
              <a:rPr lang="en-US" altLang="zh-CN" sz="1600">
                <a:solidFill>
                  <a:srgbClr val="FF0000"/>
                </a:solidFill>
              </a:rPr>
              <a:t>5	     static int static_val = 0 ;</a:t>
            </a:r>
          </a:p>
          <a:p>
            <a:pPr algn="just" eaLnBrk="1" hangingPunct="1"/>
            <a:r>
              <a:rPr lang="en-US" altLang="zh-CN" sz="1600"/>
              <a:t>6	     int i ;</a:t>
            </a:r>
          </a:p>
          <a:p>
            <a:pPr algn="just" eaLnBrk="1" hangingPunct="1"/>
            <a:r>
              <a:rPr lang="en-US" altLang="zh-CN" sz="1600"/>
              <a:t>7	     for(i=0 ; i&lt;100; i++){</a:t>
            </a:r>
          </a:p>
          <a:p>
            <a:pPr algn="just" eaLnBrk="1" hangingPunct="1"/>
            <a:r>
              <a:rPr lang="pt-BR" altLang="zh-CN" sz="1600"/>
              <a:t>8	         n=n*i+global_val+static_val;</a:t>
            </a:r>
          </a:p>
          <a:p>
            <a:pPr algn="just" eaLnBrk="1" hangingPunct="1"/>
            <a:r>
              <a:rPr lang="pt-BR" altLang="zh-CN" sz="1600"/>
              <a:t>9	     </a:t>
            </a:r>
            <a:r>
              <a:rPr lang="en-US" altLang="zh-CN" sz="1600"/>
              <a:t>}</a:t>
            </a:r>
          </a:p>
          <a:p>
            <a:pPr algn="just" eaLnBrk="1" hangingPunct="1"/>
            <a:r>
              <a:rPr lang="en-US" altLang="zh-CN" sz="1600"/>
              <a:t>10 	     static_val = n / 2; </a:t>
            </a:r>
          </a:p>
          <a:p>
            <a:pPr algn="just" eaLnBrk="1" hangingPunct="1"/>
            <a:r>
              <a:rPr lang="en-US" altLang="zh-CN" sz="1600"/>
              <a:t>11	     printf(</a:t>
            </a:r>
            <a:r>
              <a:rPr lang="en-US" altLang="zh-CN" sz="1600">
                <a:solidFill>
                  <a:srgbClr val="3333CC"/>
                </a:solidFill>
              </a:rPr>
              <a:t>"static_val is %x\n",</a:t>
            </a:r>
            <a:r>
              <a:rPr lang="en-US" altLang="zh-CN" sz="1600"/>
              <a:t> static_val) ;</a:t>
            </a:r>
          </a:p>
          <a:p>
            <a:pPr algn="just" eaLnBrk="1" hangingPunct="1"/>
            <a:r>
              <a:rPr lang="en-US" altLang="zh-CN" sz="1600"/>
              <a:t>12	     return n ;</a:t>
            </a:r>
          </a:p>
          <a:p>
            <a:pPr algn="just" eaLnBrk="1" hangingPunct="1"/>
            <a:r>
              <a:rPr lang="en-US" altLang="zh-CN" sz="1600"/>
              <a:t>13	}</a:t>
            </a:r>
          </a:p>
          <a:p>
            <a:pPr algn="just" eaLnBrk="1" hangingPunct="1"/>
            <a:r>
              <a:rPr lang="en-US" altLang="zh-CN" sz="1600">
                <a:solidFill>
                  <a:srgbClr val="FF6600"/>
                </a:solidFill>
              </a:rPr>
              <a:t>14	int main(int argc, char* argv[]){</a:t>
            </a:r>
          </a:p>
          <a:p>
            <a:pPr algn="just" eaLnBrk="1" hangingPunct="1"/>
            <a:r>
              <a:rPr lang="en-US" altLang="zh-CN" sz="1600"/>
              <a:t>15	    global_val = 99 ;</a:t>
            </a:r>
          </a:p>
          <a:p>
            <a:pPr algn="just" eaLnBrk="1" hangingPunct="1"/>
            <a:r>
              <a:rPr lang="en-US" altLang="zh-CN" sz="1600"/>
              <a:t>16	    int n = foo(100) ;</a:t>
            </a:r>
          </a:p>
          <a:p>
            <a:pPr algn="just" eaLnBrk="1" hangingPunct="1"/>
            <a:r>
              <a:rPr lang="en-US" altLang="zh-CN" sz="1600"/>
              <a:t>17	    printf(</a:t>
            </a:r>
            <a:r>
              <a:rPr lang="en-US" altLang="zh-CN" sz="1600">
                <a:solidFill>
                  <a:srgbClr val="3333CC"/>
                </a:solidFill>
              </a:rPr>
              <a:t>"foo(100) is %x\n"</a:t>
            </a:r>
            <a:r>
              <a:rPr lang="en-US" altLang="zh-CN" sz="1600"/>
              <a:t>, n);</a:t>
            </a:r>
          </a:p>
          <a:p>
            <a:pPr algn="just" eaLnBrk="1" hangingPunct="1"/>
            <a:r>
              <a:rPr lang="en-US" altLang="zh-CN" sz="1600"/>
              <a:t>18	    return 0;</a:t>
            </a:r>
          </a:p>
          <a:p>
            <a:pPr algn="just" eaLnBrk="1" hangingPunct="1"/>
            <a:r>
              <a:rPr lang="en-US" altLang="zh-CN" sz="1600"/>
              <a:t>19	}</a:t>
            </a:r>
            <a:endParaRPr lang="en-US" altLang="zh-CN" sz="3600"/>
          </a:p>
        </p:txBody>
      </p:sp>
      <p:sp>
        <p:nvSpPr>
          <p:cNvPr id="38915" name="Text Box 5"/>
          <p:cNvSpPr txBox="1">
            <a:spLocks noChangeArrowheads="1"/>
          </p:cNvSpPr>
          <p:nvPr/>
        </p:nvSpPr>
        <p:spPr bwMode="auto">
          <a:xfrm>
            <a:off x="4140200" y="692150"/>
            <a:ext cx="4932363" cy="5689600"/>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defTabSz="266700" eaLnBrk="1" hangingPunct="1">
              <a:defRPr/>
            </a:pPr>
            <a:r>
              <a:rPr lang="en-US" altLang="zh-CN" sz="1050" dirty="0" smtClean="0"/>
              <a:t>1	TITLE	C12P1.cpp</a:t>
            </a:r>
          </a:p>
          <a:p>
            <a:pPr algn="just" defTabSz="266700" eaLnBrk="1" hangingPunct="1">
              <a:defRPr/>
            </a:pPr>
            <a:r>
              <a:rPr lang="en-US" altLang="zh-CN" sz="1050" dirty="0" smtClean="0"/>
              <a:t>2	.386P</a:t>
            </a:r>
          </a:p>
          <a:p>
            <a:pPr algn="just" defTabSz="266700" eaLnBrk="1" hangingPunct="1">
              <a:defRPr/>
            </a:pPr>
            <a:r>
              <a:rPr lang="en-US" altLang="zh-CN" sz="1050" dirty="0" smtClean="0"/>
              <a:t>3	.model FLAT</a:t>
            </a:r>
          </a:p>
          <a:p>
            <a:pPr algn="just" defTabSz="266700" eaLnBrk="1" hangingPunct="1">
              <a:defRPr/>
            </a:pPr>
            <a:r>
              <a:rPr lang="en-US" altLang="zh-CN" sz="1050" dirty="0" smtClean="0"/>
              <a:t>4	</a:t>
            </a:r>
          </a:p>
          <a:p>
            <a:pPr algn="just" defTabSz="266700" eaLnBrk="1" hangingPunct="1">
              <a:defRPr/>
            </a:pPr>
            <a:r>
              <a:rPr lang="pt-BR" altLang="zh-CN" sz="1050" dirty="0" smtClean="0">
                <a:solidFill>
                  <a:srgbClr val="FF0000"/>
                </a:solidFill>
              </a:rPr>
              <a:t>5	PUBLIC	?global_val@@3HA				; global_val</a:t>
            </a:r>
          </a:p>
          <a:p>
            <a:pPr algn="just" defTabSz="266700" eaLnBrk="1" hangingPunct="1">
              <a:defRPr/>
            </a:pPr>
            <a:r>
              <a:rPr lang="pt-BR" altLang="zh-CN" sz="1050" dirty="0" smtClean="0">
                <a:solidFill>
                  <a:srgbClr val="FF0000"/>
                </a:solidFill>
              </a:rPr>
              <a:t>6	_BSS	SEGMENT</a:t>
            </a:r>
          </a:p>
          <a:p>
            <a:pPr algn="just" defTabSz="266700" eaLnBrk="1" hangingPunct="1">
              <a:defRPr/>
            </a:pPr>
            <a:r>
              <a:rPr lang="pt-BR" altLang="zh-CN" sz="1050" dirty="0" smtClean="0">
                <a:solidFill>
                  <a:srgbClr val="FF0000"/>
                </a:solidFill>
              </a:rPr>
              <a:t>7	?global_val@@3HA DD 01H DUP (?)			; global_val</a:t>
            </a:r>
          </a:p>
          <a:p>
            <a:pPr algn="just" defTabSz="266700" eaLnBrk="1" hangingPunct="1">
              <a:defRPr/>
            </a:pPr>
            <a:r>
              <a:rPr lang="pt-BR" altLang="zh-CN" sz="1050" dirty="0" smtClean="0">
                <a:solidFill>
                  <a:srgbClr val="FF0000"/>
                </a:solidFill>
              </a:rPr>
              <a:t>8	_?static_val@?1??foo@@YAHH@Z@4HA DD 01H DUP (?)</a:t>
            </a:r>
          </a:p>
          <a:p>
            <a:pPr algn="just" defTabSz="266700" eaLnBrk="1" hangingPunct="1">
              <a:defRPr/>
            </a:pPr>
            <a:r>
              <a:rPr lang="pt-BR" altLang="zh-CN" sz="1050" dirty="0" smtClean="0">
                <a:solidFill>
                  <a:srgbClr val="FF0000"/>
                </a:solidFill>
              </a:rPr>
              <a:t>9	_BSS	ENDS</a:t>
            </a:r>
          </a:p>
          <a:p>
            <a:pPr algn="just" defTabSz="266700" eaLnBrk="1" hangingPunct="1">
              <a:defRPr/>
            </a:pPr>
            <a:r>
              <a:rPr lang="pt-BR" altLang="zh-CN" sz="1050" dirty="0" smtClean="0">
                <a:solidFill>
                  <a:srgbClr val="00FF00"/>
                </a:solidFill>
              </a:rPr>
              <a:t>10	PUBLIC	?foo@@YAHH@Z				; foo</a:t>
            </a:r>
          </a:p>
          <a:p>
            <a:pPr algn="just" defTabSz="266700" eaLnBrk="1" hangingPunct="1">
              <a:defRPr/>
            </a:pPr>
            <a:r>
              <a:rPr lang="en-US" altLang="zh-CN" sz="1050" dirty="0" smtClean="0"/>
              <a:t>11	PUBLIC	??_C@_0BC@BPOF@static_val?5is?5?$CFd?6?$AA@	; `string'</a:t>
            </a:r>
          </a:p>
          <a:p>
            <a:pPr algn="just" defTabSz="266700" eaLnBrk="1" hangingPunct="1">
              <a:defRPr/>
            </a:pPr>
            <a:r>
              <a:rPr lang="en-US" altLang="zh-CN" sz="1050" dirty="0" smtClean="0"/>
              <a:t>12	EXTRN	_</a:t>
            </a:r>
            <a:r>
              <a:rPr lang="en-US" altLang="zh-CN" sz="1050" dirty="0" err="1" smtClean="0"/>
              <a:t>printf:NEAR</a:t>
            </a:r>
            <a:endParaRPr lang="en-US" altLang="zh-CN" sz="1050" dirty="0" smtClean="0"/>
          </a:p>
          <a:p>
            <a:pPr algn="just" defTabSz="266700" eaLnBrk="1" hangingPunct="1">
              <a:defRPr/>
            </a:pPr>
            <a:r>
              <a:rPr lang="en-US" altLang="zh-CN" sz="1050" dirty="0" smtClean="0">
                <a:solidFill>
                  <a:srgbClr val="3333CC"/>
                </a:solidFill>
              </a:rPr>
              <a:t>13	_DATA	SEGMENT</a:t>
            </a:r>
          </a:p>
          <a:p>
            <a:pPr marL="228600" indent="-228600" algn="just" defTabSz="266700" eaLnBrk="1" hangingPunct="1">
              <a:buFontTx/>
              <a:buAutoNum type="arabicPlain" startAt="14"/>
              <a:defRPr/>
            </a:pPr>
            <a:r>
              <a:rPr lang="en-US" altLang="zh-CN" sz="1050" dirty="0" smtClean="0">
                <a:solidFill>
                  <a:srgbClr val="3333CC"/>
                </a:solidFill>
              </a:rPr>
              <a:t> ??_C@_0BC@BPOF@static_val?5is?5?$CFd?6?$AA@ DB '</a:t>
            </a:r>
            <a:r>
              <a:rPr lang="en-US" altLang="zh-CN" sz="1050" dirty="0" err="1" smtClean="0">
                <a:solidFill>
                  <a:srgbClr val="3333CC"/>
                </a:solidFill>
              </a:rPr>
              <a:t>static_val</a:t>
            </a:r>
            <a:r>
              <a:rPr lang="en-US" altLang="zh-CN" sz="1050" dirty="0" smtClean="0">
                <a:solidFill>
                  <a:srgbClr val="3333CC"/>
                </a:solidFill>
              </a:rPr>
              <a:t> is %x', </a:t>
            </a:r>
          </a:p>
          <a:p>
            <a:pPr algn="just" defTabSz="266700" eaLnBrk="1" hangingPunct="1">
              <a:defRPr/>
            </a:pPr>
            <a:r>
              <a:rPr lang="en-US" altLang="zh-CN" sz="1050" dirty="0">
                <a:solidFill>
                  <a:srgbClr val="3333CC"/>
                </a:solidFill>
              </a:rPr>
              <a:t> </a:t>
            </a:r>
            <a:r>
              <a:rPr lang="en-US" altLang="zh-CN" sz="1050" dirty="0" smtClean="0">
                <a:solidFill>
                  <a:srgbClr val="3333CC"/>
                </a:solidFill>
              </a:rPr>
              <a:t>       0aH, 00H ; `string'</a:t>
            </a:r>
          </a:p>
          <a:p>
            <a:pPr algn="just" defTabSz="266700" eaLnBrk="1" hangingPunct="1">
              <a:defRPr/>
            </a:pPr>
            <a:r>
              <a:rPr lang="en-US" altLang="zh-CN" sz="1050" dirty="0" smtClean="0">
                <a:solidFill>
                  <a:srgbClr val="3333CC"/>
                </a:solidFill>
              </a:rPr>
              <a:t>15	_DATA	ENDS</a:t>
            </a:r>
          </a:p>
          <a:p>
            <a:pPr algn="just" defTabSz="266700" eaLnBrk="1" hangingPunct="1">
              <a:defRPr/>
            </a:pPr>
            <a:r>
              <a:rPr lang="en-US" altLang="zh-CN" sz="1050" dirty="0" smtClean="0"/>
              <a:t>16	_TEXT	SEGMENT</a:t>
            </a:r>
          </a:p>
          <a:p>
            <a:pPr algn="just" defTabSz="266700" eaLnBrk="1" hangingPunct="1">
              <a:defRPr/>
            </a:pPr>
            <a:r>
              <a:rPr lang="en-US" altLang="zh-CN" sz="1050" dirty="0" smtClean="0"/>
              <a:t>17	_n$ = 8</a:t>
            </a:r>
          </a:p>
          <a:p>
            <a:pPr algn="just" defTabSz="266700" eaLnBrk="1" hangingPunct="1">
              <a:defRPr/>
            </a:pPr>
            <a:r>
              <a:rPr lang="en-US" altLang="zh-CN" sz="1050" dirty="0" smtClean="0"/>
              <a:t>18	?foo@@YAHH@Z PROC NEAR				; foo</a:t>
            </a:r>
          </a:p>
          <a:p>
            <a:pPr algn="just" defTabSz="266700" eaLnBrk="1" hangingPunct="1">
              <a:defRPr/>
            </a:pPr>
            <a:r>
              <a:rPr lang="de-DE" altLang="zh-CN" sz="1050" dirty="0" smtClean="0"/>
              <a:t>19	…; foo</a:t>
            </a:r>
            <a:r>
              <a:rPr lang="zh-CN" altLang="en-US" sz="1050" dirty="0" smtClean="0">
                <a:latin typeface="楷体_GB2312" panose="02010609030101010101" pitchFamily="49" charset="-122"/>
                <a:ea typeface="楷体_GB2312" panose="02010609030101010101" pitchFamily="49" charset="-122"/>
              </a:rPr>
              <a:t>的函数体被省略</a:t>
            </a:r>
            <a:endParaRPr lang="zh-CN" altLang="de-DE" sz="1050" dirty="0" smtClean="0">
              <a:latin typeface="楷体_GB2312" panose="02010609030101010101" pitchFamily="49" charset="-122"/>
              <a:ea typeface="楷体_GB2312" panose="02010609030101010101" pitchFamily="49" charset="-122"/>
            </a:endParaRPr>
          </a:p>
          <a:p>
            <a:pPr algn="just" defTabSz="266700" eaLnBrk="1" hangingPunct="1">
              <a:defRPr/>
            </a:pPr>
            <a:r>
              <a:rPr lang="de-DE" altLang="zh-CN" sz="1050" dirty="0" smtClean="0"/>
              <a:t>20	?foo@@YAHH@Z ENDP					; foo</a:t>
            </a:r>
          </a:p>
          <a:p>
            <a:pPr algn="just" defTabSz="266700" eaLnBrk="1" hangingPunct="1">
              <a:defRPr/>
            </a:pPr>
            <a:r>
              <a:rPr lang="de-DE" altLang="zh-CN" sz="1050" dirty="0" smtClean="0"/>
              <a:t>21	_TEXT	ENDS</a:t>
            </a:r>
          </a:p>
          <a:p>
            <a:pPr algn="just" defTabSz="266700" eaLnBrk="1" hangingPunct="1">
              <a:defRPr/>
            </a:pPr>
            <a:r>
              <a:rPr lang="de-DE" altLang="zh-CN" sz="1050" dirty="0" smtClean="0"/>
              <a:t>22	</a:t>
            </a:r>
          </a:p>
          <a:p>
            <a:pPr algn="just" defTabSz="266700" eaLnBrk="1" hangingPunct="1">
              <a:defRPr/>
            </a:pPr>
            <a:r>
              <a:rPr lang="en-US" altLang="zh-CN" sz="1050" dirty="0" smtClean="0">
                <a:solidFill>
                  <a:srgbClr val="FF6600"/>
                </a:solidFill>
              </a:rPr>
              <a:t>23	PUBLIC	_main</a:t>
            </a:r>
          </a:p>
          <a:p>
            <a:pPr algn="just" defTabSz="266700" eaLnBrk="1" hangingPunct="1">
              <a:defRPr/>
            </a:pPr>
            <a:r>
              <a:rPr lang="en-US" altLang="zh-CN" sz="1050" dirty="0" smtClean="0"/>
              <a:t>24	PUBLIC	??_C@_0BA@OOBN@foo?$CI100?$CJ?5is?5?$CFd?6?$AA@; `string'</a:t>
            </a:r>
          </a:p>
          <a:p>
            <a:pPr algn="just" defTabSz="266700" eaLnBrk="1" hangingPunct="1">
              <a:defRPr/>
            </a:pPr>
            <a:r>
              <a:rPr lang="en-US" altLang="zh-CN" sz="1050" dirty="0" smtClean="0">
                <a:solidFill>
                  <a:srgbClr val="3333CC"/>
                </a:solidFill>
              </a:rPr>
              <a:t>25	_DATA	SEGMENT</a:t>
            </a:r>
          </a:p>
          <a:p>
            <a:pPr marL="228600" indent="-228600" algn="just" defTabSz="266700" eaLnBrk="1" hangingPunct="1">
              <a:buFontTx/>
              <a:buAutoNum type="arabicPlain" startAt="26"/>
              <a:defRPr/>
            </a:pPr>
            <a:r>
              <a:rPr lang="en-US" altLang="zh-CN" sz="1050" dirty="0" smtClean="0">
                <a:solidFill>
                  <a:srgbClr val="3333CC"/>
                </a:solidFill>
              </a:rPr>
              <a:t> ??_C@_0BA@OOBN@foo?$CI100?$CJ?5is?5?$CFd?6?$AA@ DB 'foo(100) is</a:t>
            </a:r>
          </a:p>
          <a:p>
            <a:pPr algn="just" defTabSz="266700" eaLnBrk="1" hangingPunct="1">
              <a:defRPr/>
            </a:pPr>
            <a:r>
              <a:rPr lang="en-US" altLang="zh-CN" sz="1050" dirty="0">
                <a:solidFill>
                  <a:srgbClr val="3333CC"/>
                </a:solidFill>
              </a:rPr>
              <a:t> </a:t>
            </a:r>
            <a:r>
              <a:rPr lang="en-US" altLang="zh-CN" sz="1050" dirty="0" smtClean="0">
                <a:solidFill>
                  <a:srgbClr val="3333CC"/>
                </a:solidFill>
              </a:rPr>
              <a:t>       %x', 0aH, 00H ; `string'</a:t>
            </a:r>
          </a:p>
          <a:p>
            <a:pPr algn="just" defTabSz="266700" eaLnBrk="1" hangingPunct="1">
              <a:defRPr/>
            </a:pPr>
            <a:r>
              <a:rPr lang="en-US" altLang="zh-CN" sz="1050" dirty="0" smtClean="0">
                <a:solidFill>
                  <a:srgbClr val="3333CC"/>
                </a:solidFill>
              </a:rPr>
              <a:t>27	_DATA	ENDS</a:t>
            </a:r>
          </a:p>
          <a:p>
            <a:pPr algn="just" defTabSz="266700" eaLnBrk="1" hangingPunct="1">
              <a:defRPr/>
            </a:pPr>
            <a:r>
              <a:rPr lang="en-US" altLang="zh-CN" sz="1050" dirty="0" smtClean="0"/>
              <a:t>28	_TEXT	SEGMENT</a:t>
            </a:r>
          </a:p>
          <a:p>
            <a:pPr algn="just" defTabSz="266700" eaLnBrk="1" hangingPunct="1">
              <a:defRPr/>
            </a:pPr>
            <a:r>
              <a:rPr lang="en-US" altLang="zh-CN" sz="1050" dirty="0" smtClean="0"/>
              <a:t>29	_main	PROC NEAR					; </a:t>
            </a:r>
          </a:p>
          <a:p>
            <a:pPr algn="just" defTabSz="266700" eaLnBrk="1" hangingPunct="1">
              <a:defRPr/>
            </a:pPr>
            <a:r>
              <a:rPr lang="en-US" altLang="zh-CN" sz="1050" dirty="0" smtClean="0"/>
              <a:t>30	…; main</a:t>
            </a:r>
            <a:r>
              <a:rPr lang="zh-CN" altLang="en-US" sz="1050" dirty="0" smtClean="0">
                <a:latin typeface="楷体_GB2312" panose="02010609030101010101" pitchFamily="49" charset="-122"/>
                <a:ea typeface="楷体_GB2312" panose="02010609030101010101" pitchFamily="49" charset="-122"/>
              </a:rPr>
              <a:t>的函数体被省略</a:t>
            </a:r>
          </a:p>
          <a:p>
            <a:pPr algn="just" defTabSz="266700" eaLnBrk="1" hangingPunct="1">
              <a:defRPr/>
            </a:pPr>
            <a:r>
              <a:rPr lang="en-US" altLang="zh-CN" sz="1050" dirty="0" smtClean="0"/>
              <a:t>31	_main	ENDP</a:t>
            </a:r>
          </a:p>
          <a:p>
            <a:pPr algn="just" defTabSz="266700" eaLnBrk="1" hangingPunct="1">
              <a:defRPr/>
            </a:pPr>
            <a:r>
              <a:rPr lang="en-US" altLang="zh-CN" sz="1050" dirty="0" smtClean="0"/>
              <a:t>32	_TEXT	ENDS</a:t>
            </a:r>
          </a:p>
          <a:p>
            <a:pPr algn="just" defTabSz="266700" eaLnBrk="1" hangingPunct="1">
              <a:defRPr/>
            </a:pPr>
            <a:r>
              <a:rPr lang="en-US" altLang="zh-CN" sz="1050" dirty="0" smtClean="0"/>
              <a:t>33	END</a:t>
            </a:r>
          </a:p>
        </p:txBody>
      </p:sp>
      <p:sp>
        <p:nvSpPr>
          <p:cNvPr id="2" name="矩形 1"/>
          <p:cNvSpPr>
            <a:spLocks noChangeArrowheads="1"/>
          </p:cNvSpPr>
          <p:nvPr/>
        </p:nvSpPr>
        <p:spPr bwMode="auto">
          <a:xfrm>
            <a:off x="4140200" y="1341438"/>
            <a:ext cx="4932363" cy="863600"/>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r" eaLnBrk="1" hangingPunct="1"/>
            <a:r>
              <a:rPr kumimoji="1" lang="zh-CN" altLang="en-US">
                <a:solidFill>
                  <a:schemeClr val="tx2"/>
                </a:solidFill>
                <a:latin typeface="楷体_GB2312" panose="02010609030101010101" pitchFamily="49" charset="-122"/>
                <a:ea typeface="楷体_GB2312" panose="02010609030101010101" pitchFamily="49" charset="-122"/>
              </a:rPr>
              <a:t>全局变量和静态变量</a:t>
            </a:r>
          </a:p>
        </p:txBody>
      </p:sp>
      <p:sp>
        <p:nvSpPr>
          <p:cNvPr id="6" name="矩形 5"/>
          <p:cNvSpPr>
            <a:spLocks noChangeArrowheads="1"/>
          </p:cNvSpPr>
          <p:nvPr/>
        </p:nvSpPr>
        <p:spPr bwMode="auto">
          <a:xfrm>
            <a:off x="4124325" y="2682875"/>
            <a:ext cx="4930775" cy="611188"/>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r" eaLnBrk="1" hangingPunct="1"/>
            <a:r>
              <a:rPr kumimoji="1" lang="zh-CN" altLang="en-US">
                <a:solidFill>
                  <a:schemeClr val="tx2"/>
                </a:solidFill>
                <a:latin typeface="楷体_GB2312" panose="02010609030101010101" pitchFamily="49" charset="-122"/>
                <a:ea typeface="楷体_GB2312" panose="02010609030101010101" pitchFamily="49" charset="-122"/>
              </a:rPr>
              <a:t>字符串常量</a:t>
            </a:r>
          </a:p>
        </p:txBody>
      </p:sp>
      <p:sp>
        <p:nvSpPr>
          <p:cNvPr id="7" name="矩形 6"/>
          <p:cNvSpPr>
            <a:spLocks noChangeArrowheads="1"/>
          </p:cNvSpPr>
          <p:nvPr/>
        </p:nvSpPr>
        <p:spPr bwMode="auto">
          <a:xfrm>
            <a:off x="4140200" y="4768850"/>
            <a:ext cx="4932363" cy="611188"/>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r" eaLnBrk="1" hangingPunct="1"/>
            <a:r>
              <a:rPr kumimoji="1" lang="zh-CN" altLang="en-US">
                <a:solidFill>
                  <a:schemeClr val="tx2"/>
                </a:solidFill>
                <a:latin typeface="楷体_GB2312" panose="02010609030101010101" pitchFamily="49" charset="-122"/>
                <a:ea typeface="楷体_GB2312" panose="02010609030101010101" pitchFamily="49" charset="-122"/>
              </a:rPr>
              <a:t>字符串常量</a:t>
            </a:r>
          </a:p>
        </p:txBody>
      </p:sp>
      <p:sp>
        <p:nvSpPr>
          <p:cNvPr id="8" name="矩形 7"/>
          <p:cNvSpPr>
            <a:spLocks noChangeArrowheads="1"/>
          </p:cNvSpPr>
          <p:nvPr/>
        </p:nvSpPr>
        <p:spPr bwMode="auto">
          <a:xfrm>
            <a:off x="4138613" y="3294063"/>
            <a:ext cx="4932362" cy="998537"/>
          </a:xfrm>
          <a:prstGeom prst="rect">
            <a:avLst/>
          </a:prstGeom>
          <a:solidFill>
            <a:srgbClr val="FF00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r" eaLnBrk="1" hangingPunct="1"/>
            <a:r>
              <a:rPr kumimoji="1" lang="zh-CN" altLang="en-US">
                <a:solidFill>
                  <a:schemeClr val="tx2"/>
                </a:solidFill>
                <a:latin typeface="楷体_GB2312" panose="02010609030101010101" pitchFamily="49" charset="-122"/>
                <a:ea typeface="楷体_GB2312" panose="02010609030101010101" pitchFamily="49" charset="-122"/>
              </a:rPr>
              <a:t>代码区</a:t>
            </a:r>
          </a:p>
        </p:txBody>
      </p:sp>
    </p:spTree>
    <p:extLst>
      <p:ext uri="{BB962C8B-B14F-4D97-AF65-F5344CB8AC3E}">
        <p14:creationId xmlns:p14="http://schemas.microsoft.com/office/powerpoint/2010/main" val="19687597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bwMode="auto">
          <a:xfrm>
            <a:off x="395288" y="765175"/>
            <a:ext cx="5832475"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SzPct val="60000"/>
              <a:buFont typeface="Wingdings" panose="05000000000000000000" pitchFamily="2" charset="2"/>
              <a:buChar char="l"/>
            </a:pPr>
            <a:r>
              <a:rPr lang="zh-CN" altLang="en-US" sz="2800" dirty="0" smtClean="0">
                <a:latin typeface="+mn-lt"/>
                <a:ea typeface="楷体" panose="02010609060101010101" pitchFamily="49" charset="-122"/>
              </a:rPr>
              <a:t>以</a:t>
            </a:r>
            <a:r>
              <a:rPr lang="en-US" altLang="zh-CN" sz="2800" dirty="0" smtClean="0">
                <a:latin typeface="+mn-lt"/>
                <a:ea typeface="楷体" panose="02010609060101010101" pitchFamily="49" charset="-122"/>
                <a:cs typeface="Times New Roman" panose="02020603050405020304" pitchFamily="18" charset="0"/>
              </a:rPr>
              <a:t>MS-Win</a:t>
            </a:r>
            <a:r>
              <a:rPr lang="zh-CN" altLang="en-US" sz="2800" dirty="0" smtClean="0">
                <a:latin typeface="+mn-lt"/>
                <a:ea typeface="楷体" panose="02010609060101010101" pitchFamily="49" charset="-122"/>
              </a:rPr>
              <a:t>下的应用程序为例，从高地址到低地址，自上而下的是：</a:t>
            </a:r>
          </a:p>
          <a:p>
            <a:pPr lvl="1" eaLnBrk="1" hangingPunct="1">
              <a:buSzPct val="60000"/>
              <a:buFont typeface="Wingdings" panose="05000000000000000000" pitchFamily="2" charset="2"/>
              <a:buChar char="Ø"/>
            </a:pPr>
            <a:r>
              <a:rPr lang="zh-CN" altLang="en-US" dirty="0" smtClean="0">
                <a:latin typeface="+mn-lt"/>
                <a:ea typeface="楷体" panose="02010609060101010101" pitchFamily="49" charset="-122"/>
              </a:rPr>
              <a:t>静态数据区</a:t>
            </a:r>
          </a:p>
          <a:p>
            <a:pPr lvl="2" eaLnBrk="1" hangingPunct="1">
              <a:buSzPct val="60000"/>
              <a:buFont typeface="Wingdings" panose="05000000000000000000" pitchFamily="2" charset="2"/>
              <a:buChar char="u"/>
            </a:pPr>
            <a:r>
              <a:rPr lang="zh-CN" altLang="en-US" dirty="0" smtClean="0">
                <a:latin typeface="+mn-lt"/>
                <a:ea typeface="楷体" panose="02010609060101010101" pitchFamily="49" charset="-122"/>
              </a:rPr>
              <a:t>全局和静态量表</a:t>
            </a:r>
          </a:p>
          <a:p>
            <a:pPr lvl="1" eaLnBrk="1" hangingPunct="1">
              <a:buSzPct val="60000"/>
              <a:buFont typeface="Wingdings" panose="05000000000000000000" pitchFamily="2" charset="2"/>
              <a:buChar char="Ø"/>
            </a:pPr>
            <a:r>
              <a:rPr lang="zh-CN" altLang="en-US" dirty="0" smtClean="0">
                <a:latin typeface="+mn-lt"/>
                <a:ea typeface="楷体" panose="02010609060101010101" pitchFamily="49" charset="-122"/>
              </a:rPr>
              <a:t>代码区</a:t>
            </a:r>
          </a:p>
          <a:p>
            <a:pPr lvl="1" eaLnBrk="1" hangingPunct="1">
              <a:buSzPct val="60000"/>
              <a:buFont typeface="Wingdings" panose="05000000000000000000" pitchFamily="2" charset="2"/>
              <a:buChar char="Ø"/>
            </a:pPr>
            <a:r>
              <a:rPr lang="zh-CN" altLang="en-US" dirty="0" smtClean="0">
                <a:latin typeface="+mn-lt"/>
                <a:ea typeface="楷体" panose="02010609060101010101" pitchFamily="49" charset="-122"/>
              </a:rPr>
              <a:t>程序运行栈</a:t>
            </a:r>
          </a:p>
          <a:p>
            <a:pPr lvl="1" eaLnBrk="1" hangingPunct="1">
              <a:buSzPct val="60000"/>
              <a:buFont typeface="Wingdings" panose="05000000000000000000" pitchFamily="2" charset="2"/>
              <a:buChar char="Ø"/>
            </a:pPr>
            <a:r>
              <a:rPr lang="zh-CN" altLang="en-US" dirty="0" smtClean="0">
                <a:latin typeface="+mn-lt"/>
                <a:ea typeface="楷体" panose="02010609060101010101" pitchFamily="49" charset="-122"/>
              </a:rPr>
              <a:t>动态内存区</a:t>
            </a:r>
          </a:p>
          <a:p>
            <a:pPr lvl="2" eaLnBrk="1" hangingPunct="1">
              <a:buSzPct val="60000"/>
              <a:buFont typeface="Wingdings" panose="05000000000000000000" pitchFamily="2" charset="2"/>
              <a:buChar char="u"/>
            </a:pPr>
            <a:r>
              <a:rPr lang="zh-CN" altLang="en-US" dirty="0" smtClean="0">
                <a:latin typeface="+mn-lt"/>
                <a:ea typeface="楷体" panose="02010609060101010101" pitchFamily="49" charset="-122"/>
              </a:rPr>
              <a:t>内存堆</a:t>
            </a:r>
          </a:p>
        </p:txBody>
      </p:sp>
      <p:sp>
        <p:nvSpPr>
          <p:cNvPr id="47107" name="Text Box 4"/>
          <p:cNvSpPr txBox="1">
            <a:spLocks noChangeArrowheads="1"/>
          </p:cNvSpPr>
          <p:nvPr/>
        </p:nvSpPr>
        <p:spPr bwMode="auto">
          <a:xfrm>
            <a:off x="6372225" y="2636838"/>
            <a:ext cx="1008063" cy="1584325"/>
          </a:xfrm>
          <a:prstGeom prst="rect">
            <a:avLst/>
          </a:prstGeom>
          <a:solidFill>
            <a:srgbClr val="FF6600"/>
          </a:solidFill>
          <a:ln w="9525">
            <a:solidFill>
              <a:schemeClr val="tx1"/>
            </a:solidFill>
            <a:miter lim="800000"/>
            <a:headEnd/>
            <a:tailEnd/>
          </a:ln>
        </p:spPr>
        <p:txBody>
          <a:bodyPr lIns="36000" rIns="36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latin typeface="楷体" panose="02010609060101010101" pitchFamily="49" charset="-122"/>
                <a:ea typeface="楷体" panose="02010609060101010101" pitchFamily="49" charset="-122"/>
              </a:rPr>
              <a:t>运行栈</a:t>
            </a:r>
          </a:p>
        </p:txBody>
      </p:sp>
      <p:sp>
        <p:nvSpPr>
          <p:cNvPr id="47108" name="Text Box 5"/>
          <p:cNvSpPr txBox="1">
            <a:spLocks noChangeArrowheads="1"/>
          </p:cNvSpPr>
          <p:nvPr/>
        </p:nvSpPr>
        <p:spPr bwMode="auto">
          <a:xfrm>
            <a:off x="6372225" y="4221163"/>
            <a:ext cx="1008063" cy="1584325"/>
          </a:xfrm>
          <a:prstGeom prst="rect">
            <a:avLst/>
          </a:prstGeom>
          <a:solidFill>
            <a:srgbClr val="00FF00"/>
          </a:solidFill>
          <a:ln w="9525">
            <a:solidFill>
              <a:schemeClr val="tx1"/>
            </a:solidFill>
            <a:miter lim="800000"/>
            <a:headEnd/>
            <a:tailEnd/>
          </a:ln>
        </p:spPr>
        <p:txBody>
          <a:bodyPr lIns="36000" rIns="36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latin typeface="楷体" panose="02010609060101010101" pitchFamily="49" charset="-122"/>
                <a:ea typeface="楷体" panose="02010609060101010101" pitchFamily="49" charset="-122"/>
              </a:rPr>
              <a:t>内存堆</a:t>
            </a:r>
          </a:p>
        </p:txBody>
      </p:sp>
      <p:sp>
        <p:nvSpPr>
          <p:cNvPr id="47109" name="Text Box 6"/>
          <p:cNvSpPr txBox="1">
            <a:spLocks noChangeArrowheads="1"/>
          </p:cNvSpPr>
          <p:nvPr/>
        </p:nvSpPr>
        <p:spPr bwMode="auto">
          <a:xfrm>
            <a:off x="6372225" y="620713"/>
            <a:ext cx="1008063" cy="1008062"/>
          </a:xfrm>
          <a:prstGeom prst="rect">
            <a:avLst/>
          </a:prstGeom>
          <a:solidFill>
            <a:srgbClr val="993300"/>
          </a:solidFill>
          <a:ln w="9525">
            <a:solidFill>
              <a:schemeClr val="tx1"/>
            </a:solidFill>
            <a:miter lim="800000"/>
            <a:headEnd/>
            <a:tailEnd/>
          </a:ln>
        </p:spPr>
        <p:txBody>
          <a:bodyPr lIns="36000" rIns="36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solidFill>
                  <a:schemeClr val="bg1"/>
                </a:solidFill>
                <a:latin typeface="楷体" panose="02010609060101010101" pitchFamily="49" charset="-122"/>
                <a:ea typeface="楷体" panose="02010609060101010101" pitchFamily="49" charset="-122"/>
              </a:rPr>
              <a:t>全局和静态量表</a:t>
            </a:r>
          </a:p>
        </p:txBody>
      </p:sp>
      <p:sp>
        <p:nvSpPr>
          <p:cNvPr id="47110" name="Text Box 7"/>
          <p:cNvSpPr txBox="1">
            <a:spLocks noChangeArrowheads="1"/>
          </p:cNvSpPr>
          <p:nvPr/>
        </p:nvSpPr>
        <p:spPr bwMode="auto">
          <a:xfrm>
            <a:off x="6372225" y="1628775"/>
            <a:ext cx="1008063" cy="1008063"/>
          </a:xfrm>
          <a:prstGeom prst="rect">
            <a:avLst/>
          </a:prstGeom>
          <a:solidFill>
            <a:srgbClr val="FF0000"/>
          </a:solidFill>
          <a:ln w="9525">
            <a:solidFill>
              <a:schemeClr val="tx1"/>
            </a:solidFill>
            <a:miter lim="800000"/>
            <a:headEnd/>
            <a:tailEnd/>
          </a:ln>
        </p:spPr>
        <p:txBody>
          <a:bodyPr lIns="36000" rIns="36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latin typeface="楷体" panose="02010609060101010101" pitchFamily="49" charset="-122"/>
                <a:ea typeface="楷体" panose="02010609060101010101" pitchFamily="49" charset="-122"/>
              </a:rPr>
              <a:t>代码区</a:t>
            </a:r>
          </a:p>
        </p:txBody>
      </p:sp>
      <p:sp>
        <p:nvSpPr>
          <p:cNvPr id="47111" name="Text Box 8"/>
          <p:cNvSpPr txBox="1">
            <a:spLocks noChangeArrowheads="1"/>
          </p:cNvSpPr>
          <p:nvPr/>
        </p:nvSpPr>
        <p:spPr bwMode="auto">
          <a:xfrm>
            <a:off x="7812088" y="692150"/>
            <a:ext cx="1223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a:latin typeface="楷体" panose="02010609060101010101" pitchFamily="49" charset="-122"/>
                <a:ea typeface="楷体" panose="02010609060101010101" pitchFamily="49" charset="-122"/>
              </a:rPr>
              <a:t>地址：高</a:t>
            </a:r>
          </a:p>
        </p:txBody>
      </p:sp>
      <p:sp>
        <p:nvSpPr>
          <p:cNvPr id="47112" name="Text Box 9"/>
          <p:cNvSpPr txBox="1">
            <a:spLocks noChangeArrowheads="1"/>
          </p:cNvSpPr>
          <p:nvPr/>
        </p:nvSpPr>
        <p:spPr bwMode="auto">
          <a:xfrm>
            <a:off x="7812088" y="5516563"/>
            <a:ext cx="12239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a:latin typeface="楷体" panose="02010609060101010101" pitchFamily="49" charset="-122"/>
                <a:ea typeface="楷体" panose="02010609060101010101" pitchFamily="49" charset="-122"/>
              </a:rPr>
              <a:t>地址：低</a:t>
            </a:r>
          </a:p>
        </p:txBody>
      </p:sp>
      <p:sp>
        <p:nvSpPr>
          <p:cNvPr id="47113" name="Line 10"/>
          <p:cNvSpPr>
            <a:spLocks noChangeShapeType="1"/>
          </p:cNvSpPr>
          <p:nvPr/>
        </p:nvSpPr>
        <p:spPr bwMode="auto">
          <a:xfrm>
            <a:off x="7596188" y="692150"/>
            <a:ext cx="0" cy="792163"/>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114" name="Line 11"/>
          <p:cNvSpPr>
            <a:spLocks noChangeShapeType="1"/>
          </p:cNvSpPr>
          <p:nvPr/>
        </p:nvSpPr>
        <p:spPr bwMode="auto">
          <a:xfrm flipV="1">
            <a:off x="7596188" y="5013325"/>
            <a:ext cx="0" cy="792163"/>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2621899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bwMode="auto">
          <a:xfrm>
            <a:off x="0" y="549275"/>
            <a:ext cx="5724525" cy="549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mtClean="0">
                <a:solidFill>
                  <a:schemeClr val="accent2"/>
                </a:solidFill>
                <a:latin typeface="Times New Roman" panose="02020603050405020304" pitchFamily="18" charset="0"/>
                <a:cs typeface="Times New Roman" panose="02020603050405020304" pitchFamily="18" charset="0"/>
              </a:rPr>
              <a:t>12.2.2 </a:t>
            </a:r>
            <a:r>
              <a:rPr lang="zh-CN" altLang="en-US" smtClean="0">
                <a:solidFill>
                  <a:schemeClr val="accent2"/>
                </a:solidFill>
                <a:latin typeface="Times New Roman" panose="02020603050405020304" pitchFamily="18" charset="0"/>
                <a:cs typeface="Times New Roman" panose="02020603050405020304" pitchFamily="18" charset="0"/>
              </a:rPr>
              <a:t>程序运行栈的设计</a:t>
            </a:r>
          </a:p>
        </p:txBody>
      </p:sp>
      <p:sp>
        <p:nvSpPr>
          <p:cNvPr id="48131" name="Rectangle 3"/>
          <p:cNvSpPr>
            <a:spLocks noGrp="1" noChangeArrowheads="1"/>
          </p:cNvSpPr>
          <p:nvPr>
            <p:ph idx="1"/>
          </p:nvPr>
        </p:nvSpPr>
        <p:spPr bwMode="auto">
          <a:xfrm>
            <a:off x="179388" y="1557338"/>
            <a:ext cx="8713787" cy="46799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5000"/>
              </a:lnSpc>
              <a:spcBef>
                <a:spcPts val="600"/>
              </a:spcBef>
              <a:spcAft>
                <a:spcPts val="600"/>
              </a:spcAft>
            </a:pPr>
            <a:r>
              <a:rPr lang="zh-CN" altLang="en-US" sz="2800" b="1" smtClean="0">
                <a:latin typeface="楷体" panose="02010609060101010101" pitchFamily="49" charset="-122"/>
                <a:ea typeface="楷体" panose="02010609060101010101" pitchFamily="49" charset="-122"/>
              </a:rPr>
              <a:t>子程序</a:t>
            </a:r>
            <a:r>
              <a:rPr lang="en-US" altLang="zh-CN" sz="2800" b="1" smtClean="0">
                <a:latin typeface="楷体" panose="02010609060101010101" pitchFamily="49" charset="-122"/>
                <a:ea typeface="楷体" panose="02010609060101010101" pitchFamily="49" charset="-122"/>
              </a:rPr>
              <a:t>/</a:t>
            </a:r>
            <a:r>
              <a:rPr lang="zh-CN" altLang="en-US" sz="2800" b="1" smtClean="0">
                <a:latin typeface="楷体" panose="02010609060101010101" pitchFamily="49" charset="-122"/>
                <a:ea typeface="楷体" panose="02010609060101010101" pitchFamily="49" charset="-122"/>
              </a:rPr>
              <a:t>函数</a:t>
            </a:r>
            <a:r>
              <a:rPr lang="zh-CN" altLang="en-US" sz="2800" smtClean="0">
                <a:latin typeface="楷体" panose="02010609060101010101" pitchFamily="49" charset="-122"/>
                <a:ea typeface="楷体" panose="02010609060101010101" pitchFamily="49" charset="-122"/>
              </a:rPr>
              <a:t>运行时所需的基本空间：活动记录</a:t>
            </a:r>
          </a:p>
          <a:p>
            <a:pPr eaLnBrk="1" hangingPunct="1">
              <a:lnSpc>
                <a:spcPct val="125000"/>
              </a:lnSpc>
              <a:spcBef>
                <a:spcPts val="600"/>
              </a:spcBef>
              <a:spcAft>
                <a:spcPts val="600"/>
              </a:spcAft>
            </a:pPr>
            <a:r>
              <a:rPr lang="zh-CN" altLang="en-US" sz="2800" b="1" smtClean="0">
                <a:solidFill>
                  <a:srgbClr val="C00000"/>
                </a:solidFill>
                <a:latin typeface="楷体" panose="02010609060101010101" pitchFamily="49" charset="-122"/>
                <a:ea typeface="楷体" panose="02010609060101010101" pitchFamily="49" charset="-122"/>
              </a:rPr>
              <a:t>进入</a:t>
            </a:r>
            <a:r>
              <a:rPr lang="zh-CN" altLang="en-US" sz="2800" smtClean="0">
                <a:latin typeface="楷体" panose="02010609060101010101" pitchFamily="49" charset="-122"/>
                <a:ea typeface="楷体" panose="02010609060101010101" pitchFamily="49" charset="-122"/>
              </a:rPr>
              <a:t>子程序</a:t>
            </a:r>
            <a:r>
              <a:rPr lang="en-US" altLang="zh-CN" sz="2800" smtClean="0">
                <a:latin typeface="楷体" panose="02010609060101010101" pitchFamily="49" charset="-122"/>
                <a:ea typeface="楷体" panose="02010609060101010101" pitchFamily="49" charset="-122"/>
              </a:rPr>
              <a:t>/</a:t>
            </a:r>
            <a:r>
              <a:rPr lang="zh-CN" altLang="en-US" sz="2800" smtClean="0">
                <a:latin typeface="楷体" panose="02010609060101010101" pitchFamily="49" charset="-122"/>
                <a:ea typeface="楷体" panose="02010609060101010101" pitchFamily="49" charset="-122"/>
              </a:rPr>
              <a:t>函数时分配，地址空间向下生长（从高地址到低地址）</a:t>
            </a:r>
          </a:p>
          <a:p>
            <a:pPr eaLnBrk="1" hangingPunct="1">
              <a:lnSpc>
                <a:spcPct val="125000"/>
              </a:lnSpc>
              <a:spcBef>
                <a:spcPts val="600"/>
              </a:spcBef>
              <a:spcAft>
                <a:spcPts val="600"/>
              </a:spcAft>
            </a:pPr>
            <a:r>
              <a:rPr lang="zh-CN" altLang="en-US" sz="2800" smtClean="0">
                <a:latin typeface="楷体" panose="02010609060101010101" pitchFamily="49" charset="-122"/>
                <a:ea typeface="楷体" panose="02010609060101010101" pitchFamily="49" charset="-122"/>
              </a:rPr>
              <a:t>从子程序</a:t>
            </a:r>
            <a:r>
              <a:rPr lang="en-US" altLang="zh-CN" sz="2800" smtClean="0">
                <a:latin typeface="楷体" panose="02010609060101010101" pitchFamily="49" charset="-122"/>
                <a:ea typeface="楷体" panose="02010609060101010101" pitchFamily="49" charset="-122"/>
              </a:rPr>
              <a:t>/</a:t>
            </a:r>
            <a:r>
              <a:rPr lang="zh-CN" altLang="en-US" sz="2800" smtClean="0">
                <a:latin typeface="楷体" panose="02010609060101010101" pitchFamily="49" charset="-122"/>
                <a:ea typeface="楷体" panose="02010609060101010101" pitchFamily="49" charset="-122"/>
              </a:rPr>
              <a:t>函数</a:t>
            </a:r>
            <a:r>
              <a:rPr lang="zh-CN" altLang="en-US" sz="2800" b="1" smtClean="0">
                <a:solidFill>
                  <a:srgbClr val="C00000"/>
                </a:solidFill>
                <a:latin typeface="楷体" panose="02010609060101010101" pitchFamily="49" charset="-122"/>
                <a:ea typeface="楷体" panose="02010609060101010101" pitchFamily="49" charset="-122"/>
              </a:rPr>
              <a:t>返回时</a:t>
            </a:r>
            <a:r>
              <a:rPr lang="zh-CN" altLang="en-US" sz="2800" smtClean="0">
                <a:latin typeface="楷体" panose="02010609060101010101" pitchFamily="49" charset="-122"/>
                <a:ea typeface="楷体" panose="02010609060101010101" pitchFamily="49" charset="-122"/>
              </a:rPr>
              <a:t>，当前运行栈将被废弃</a:t>
            </a:r>
          </a:p>
          <a:p>
            <a:pPr eaLnBrk="1" hangingPunct="1">
              <a:lnSpc>
                <a:spcPct val="125000"/>
              </a:lnSpc>
              <a:spcBef>
                <a:spcPts val="600"/>
              </a:spcBef>
              <a:spcAft>
                <a:spcPts val="600"/>
              </a:spcAft>
            </a:pPr>
            <a:r>
              <a:rPr lang="zh-CN" altLang="en-US" sz="2800" smtClean="0">
                <a:latin typeface="楷体" panose="02010609060101010101" pitchFamily="49" charset="-122"/>
                <a:ea typeface="楷体" panose="02010609060101010101" pitchFamily="49" charset="-122"/>
              </a:rPr>
              <a:t>递归调用的同一个子程序</a:t>
            </a:r>
            <a:r>
              <a:rPr lang="en-US" altLang="zh-CN" sz="2800" smtClean="0">
                <a:latin typeface="楷体" panose="02010609060101010101" pitchFamily="49" charset="-122"/>
                <a:ea typeface="楷体" panose="02010609060101010101" pitchFamily="49" charset="-122"/>
              </a:rPr>
              <a:t>/</a:t>
            </a:r>
            <a:r>
              <a:rPr lang="zh-CN" altLang="en-US" sz="2800" smtClean="0">
                <a:latin typeface="楷体" panose="02010609060101010101" pitchFamily="49" charset="-122"/>
                <a:ea typeface="楷体" panose="02010609060101010101" pitchFamily="49" charset="-122"/>
              </a:rPr>
              <a:t>函数，每次调用都将获得</a:t>
            </a:r>
            <a:r>
              <a:rPr lang="zh-CN" altLang="en-US" sz="2800" b="1" smtClean="0">
                <a:solidFill>
                  <a:srgbClr val="C00000"/>
                </a:solidFill>
                <a:latin typeface="楷体" panose="02010609060101010101" pitchFamily="49" charset="-122"/>
                <a:ea typeface="楷体" panose="02010609060101010101" pitchFamily="49" charset="-122"/>
              </a:rPr>
              <a:t>独立的</a:t>
            </a:r>
            <a:r>
              <a:rPr lang="zh-CN" altLang="en-US" sz="2800" smtClean="0">
                <a:latin typeface="楷体" panose="02010609060101010101" pitchFamily="49" charset="-122"/>
                <a:ea typeface="楷体" panose="02010609060101010101" pitchFamily="49" charset="-122"/>
              </a:rPr>
              <a:t>运行栈空间，从而保证了递归程序和多线程程序的正确运行。</a:t>
            </a:r>
          </a:p>
          <a:p>
            <a:pPr eaLnBrk="1" hangingPunct="1">
              <a:lnSpc>
                <a:spcPct val="125000"/>
              </a:lnSpc>
              <a:spcBef>
                <a:spcPts val="600"/>
              </a:spcBef>
              <a:spcAft>
                <a:spcPts val="600"/>
              </a:spcAft>
              <a:buFontTx/>
              <a:buNone/>
            </a:pPr>
            <a:endParaRPr lang="en-US" altLang="zh-CN" sz="280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8504545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p:cNvSpPr txBox="1">
            <a:spLocks noChangeArrowheads="1"/>
          </p:cNvSpPr>
          <p:nvPr/>
        </p:nvSpPr>
        <p:spPr bwMode="auto">
          <a:xfrm>
            <a:off x="3708400" y="115888"/>
            <a:ext cx="5327650" cy="6248400"/>
          </a:xfrm>
          <a:prstGeom prst="rect">
            <a:avLst/>
          </a:prstGeom>
          <a:solidFill>
            <a:srgbClr val="FFFFFF"/>
          </a:solidFill>
          <a:ln w="9525">
            <a:solidFill>
              <a:srgbClr val="000000"/>
            </a:solidFill>
            <a:miter lim="800000"/>
            <a:headEnd/>
            <a:tailEnd/>
          </a:ln>
        </p:spPr>
        <p:txBody>
          <a:bodyPr>
            <a:spAutoFit/>
          </a:bodyPr>
          <a:lstStyle>
            <a:lvl1pPr defTabSz="830263">
              <a:defRPr sz="2400">
                <a:solidFill>
                  <a:schemeClr val="tx1"/>
                </a:solidFill>
                <a:latin typeface="Times New Roman" panose="02020603050405020304" pitchFamily="18" charset="0"/>
                <a:ea typeface="宋体" panose="02010600030101010101" pitchFamily="2" charset="-122"/>
              </a:defRPr>
            </a:lvl1pPr>
            <a:lvl2pPr marL="742950" indent="-285750" defTabSz="830263">
              <a:defRPr sz="2400">
                <a:solidFill>
                  <a:schemeClr val="tx1"/>
                </a:solidFill>
                <a:latin typeface="Times New Roman" panose="02020603050405020304" pitchFamily="18" charset="0"/>
                <a:ea typeface="宋体" panose="02010600030101010101" pitchFamily="2" charset="-122"/>
              </a:defRPr>
            </a:lvl2pPr>
            <a:lvl3pPr marL="1143000" indent="-228600" defTabSz="830263">
              <a:defRPr sz="2400">
                <a:solidFill>
                  <a:schemeClr val="tx1"/>
                </a:solidFill>
                <a:latin typeface="Times New Roman" panose="02020603050405020304" pitchFamily="18" charset="0"/>
                <a:ea typeface="宋体" panose="02010600030101010101" pitchFamily="2" charset="-122"/>
              </a:defRPr>
            </a:lvl3pPr>
            <a:lvl4pPr marL="1600200" indent="-228600" defTabSz="830263">
              <a:defRPr sz="2400">
                <a:solidFill>
                  <a:schemeClr val="tx1"/>
                </a:solidFill>
                <a:latin typeface="Times New Roman" panose="02020603050405020304" pitchFamily="18" charset="0"/>
                <a:ea typeface="宋体" panose="02010600030101010101" pitchFamily="2" charset="-122"/>
              </a:defRPr>
            </a:lvl4pPr>
            <a:lvl5pPr marL="2057400" indent="-228600" defTabSz="830263">
              <a:defRPr sz="2400">
                <a:solidFill>
                  <a:schemeClr val="tx1"/>
                </a:solidFill>
                <a:latin typeface="Times New Roman" panose="02020603050405020304" pitchFamily="18" charset="0"/>
                <a:ea typeface="宋体" panose="02010600030101010101" pitchFamily="2" charset="-122"/>
              </a:defRPr>
            </a:lvl5pPr>
            <a:lvl6pPr marL="2514600" indent="-228600" defTabSz="830263"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defTabSz="830263"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defTabSz="830263"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defTabSz="830263"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000"/>
              <a:t>1    PUBLIC	  ?foo@@YAHH@Z 		; foo</a:t>
            </a:r>
          </a:p>
          <a:p>
            <a:pPr algn="just" eaLnBrk="1" hangingPunct="1"/>
            <a:r>
              <a:rPr lang="en-US" altLang="zh-CN" sz="1000"/>
              <a:t>2    PUBLIC	  ??_C@_0BC@BPOF@static_val?5is?5?$CFd?6?$AA@	;  `string'</a:t>
            </a:r>
          </a:p>
          <a:p>
            <a:pPr algn="just" eaLnBrk="1" hangingPunct="1"/>
            <a:r>
              <a:rPr lang="en-US" altLang="zh-CN" sz="1000"/>
              <a:t>3    EXTRN	_printf:NEAR</a:t>
            </a:r>
          </a:p>
          <a:p>
            <a:pPr algn="just" eaLnBrk="1" hangingPunct="1"/>
            <a:r>
              <a:rPr lang="en-US" altLang="zh-CN" sz="1000"/>
              <a:t>4    _DATA	SEGMENT</a:t>
            </a:r>
          </a:p>
          <a:p>
            <a:pPr algn="just" eaLnBrk="1" hangingPunct="1">
              <a:buFontTx/>
              <a:buAutoNum type="arabicPlain" startAt="5"/>
            </a:pPr>
            <a:r>
              <a:rPr lang="en-US" altLang="zh-CN" sz="1000"/>
              <a:t>??_C@_0BC@BPOF@static_val?5is?5?$CFd?6?$AA@ DB 'static_val is %x', 0aH, 00H ;</a:t>
            </a:r>
          </a:p>
          <a:p>
            <a:pPr algn="just" eaLnBrk="1" hangingPunct="1"/>
            <a:r>
              <a:rPr lang="en-US" altLang="zh-CN" sz="1000"/>
              <a:t>       'string'</a:t>
            </a:r>
          </a:p>
          <a:p>
            <a:pPr algn="just" eaLnBrk="1" hangingPunct="1"/>
            <a:r>
              <a:rPr lang="en-US" altLang="zh-CN" sz="1000"/>
              <a:t>6    _DATA	ENDS</a:t>
            </a:r>
          </a:p>
          <a:p>
            <a:pPr algn="just" eaLnBrk="1" hangingPunct="1"/>
            <a:r>
              <a:rPr lang="en-US" altLang="zh-CN" sz="1000"/>
              <a:t>7    _TEXT	SEGMENT</a:t>
            </a:r>
          </a:p>
          <a:p>
            <a:pPr algn="just" eaLnBrk="1" hangingPunct="1"/>
            <a:r>
              <a:rPr lang="en-US" altLang="zh-CN" sz="1000"/>
              <a:t>8    _n$ = 8</a:t>
            </a:r>
          </a:p>
          <a:p>
            <a:pPr algn="just" eaLnBrk="1" hangingPunct="1"/>
            <a:r>
              <a:rPr lang="en-US" altLang="zh-CN" sz="1000"/>
              <a:t>9    ?foo@@YAHH@Z PROC NEAR		; foo</a:t>
            </a:r>
          </a:p>
          <a:p>
            <a:pPr algn="just" eaLnBrk="1" hangingPunct="1"/>
            <a:r>
              <a:rPr lang="en-US" altLang="zh-CN" sz="1000"/>
              <a:t>10       mov	ecx, DWORD PTR ?global_val@@3HA 	; global_val</a:t>
            </a:r>
          </a:p>
          <a:p>
            <a:pPr algn="just" eaLnBrk="1" hangingPunct="1"/>
            <a:r>
              <a:rPr lang="en-US" altLang="zh-CN" sz="1000"/>
              <a:t>11       mov	edx, DWORD PTR _?static_val@?1??foo@@YAHH@Z@4HA</a:t>
            </a:r>
          </a:p>
          <a:p>
            <a:pPr algn="just" eaLnBrk="1" hangingPunct="1"/>
            <a:r>
              <a:rPr lang="en-US" altLang="zh-CN" sz="1000" b="1">
                <a:solidFill>
                  <a:srgbClr val="FF0000"/>
                </a:solidFill>
              </a:rPr>
              <a:t>12       push	esi</a:t>
            </a:r>
          </a:p>
          <a:p>
            <a:pPr algn="just" eaLnBrk="1" hangingPunct="1"/>
            <a:r>
              <a:rPr lang="en-US" altLang="zh-CN" sz="1000" b="1">
                <a:solidFill>
                  <a:srgbClr val="FF0000"/>
                </a:solidFill>
              </a:rPr>
              <a:t>13       mov	esi, DWORD PTR _n$[esp]</a:t>
            </a:r>
          </a:p>
          <a:p>
            <a:pPr algn="just" eaLnBrk="1" hangingPunct="1"/>
            <a:r>
              <a:rPr lang="en-US" altLang="zh-CN" sz="1000" b="1">
                <a:solidFill>
                  <a:srgbClr val="FF0000"/>
                </a:solidFill>
              </a:rPr>
              <a:t>14       push	edi</a:t>
            </a:r>
          </a:p>
          <a:p>
            <a:pPr algn="just" eaLnBrk="1" hangingPunct="1"/>
            <a:r>
              <a:rPr lang="en-US" altLang="zh-CN" sz="1000"/>
              <a:t>15       xor	eax, eax</a:t>
            </a:r>
          </a:p>
          <a:p>
            <a:pPr algn="just" eaLnBrk="1" hangingPunct="1"/>
            <a:r>
              <a:rPr lang="en-US" altLang="zh-CN" sz="1000"/>
              <a:t>16  $L533:</a:t>
            </a:r>
          </a:p>
          <a:p>
            <a:pPr algn="just" eaLnBrk="1" hangingPunct="1"/>
            <a:r>
              <a:rPr lang="en-US" altLang="zh-CN" sz="1000"/>
              <a:t>17       mov	edi, eax</a:t>
            </a:r>
          </a:p>
          <a:p>
            <a:pPr algn="just" eaLnBrk="1" hangingPunct="1"/>
            <a:r>
              <a:rPr lang="pt-BR" altLang="zh-CN" sz="1000"/>
              <a:t>18       imul	edi, esi</a:t>
            </a:r>
          </a:p>
          <a:p>
            <a:pPr algn="just" eaLnBrk="1" hangingPunct="1"/>
            <a:r>
              <a:rPr lang="pt-BR" altLang="zh-CN" sz="1000"/>
              <a:t>19       add	edi, edx</a:t>
            </a:r>
          </a:p>
          <a:p>
            <a:pPr algn="just" eaLnBrk="1" hangingPunct="1"/>
            <a:r>
              <a:rPr lang="pt-BR" altLang="zh-CN" sz="1000"/>
              <a:t>20       add	edi, ecx</a:t>
            </a:r>
          </a:p>
          <a:p>
            <a:pPr algn="just" eaLnBrk="1" hangingPunct="1"/>
            <a:r>
              <a:rPr lang="pt-BR" altLang="zh-CN" sz="1000"/>
              <a:t>21       inc	eax</a:t>
            </a:r>
          </a:p>
          <a:p>
            <a:pPr algn="just" eaLnBrk="1" hangingPunct="1"/>
            <a:r>
              <a:rPr lang="pt-BR" altLang="zh-CN" sz="1000"/>
              <a:t>22       cmp	eax, 100	; 00000064H</a:t>
            </a:r>
          </a:p>
          <a:p>
            <a:pPr algn="just" eaLnBrk="1" hangingPunct="1"/>
            <a:r>
              <a:rPr lang="pt-BR" altLang="zh-CN" sz="1000"/>
              <a:t>23       mov	esi, edi</a:t>
            </a:r>
          </a:p>
          <a:p>
            <a:pPr algn="just" eaLnBrk="1" hangingPunct="1"/>
            <a:r>
              <a:rPr lang="en-US" altLang="zh-CN" sz="1000"/>
              <a:t>24       jl	SHORT $L533</a:t>
            </a:r>
          </a:p>
          <a:p>
            <a:pPr algn="just" eaLnBrk="1" hangingPunct="1"/>
            <a:r>
              <a:rPr lang="en-US" altLang="zh-CN" sz="1000"/>
              <a:t>25       mov	eax, esi</a:t>
            </a:r>
          </a:p>
          <a:p>
            <a:pPr algn="just" eaLnBrk="1" hangingPunct="1"/>
            <a:r>
              <a:rPr lang="pt-BR" altLang="zh-CN" sz="1000"/>
              <a:t>26       cdq</a:t>
            </a:r>
          </a:p>
          <a:p>
            <a:pPr algn="just" eaLnBrk="1" hangingPunct="1"/>
            <a:r>
              <a:rPr lang="pt-BR" altLang="zh-CN" sz="1000"/>
              <a:t>27       sub	eax, edx</a:t>
            </a:r>
          </a:p>
          <a:p>
            <a:pPr algn="just" eaLnBrk="1" hangingPunct="1"/>
            <a:r>
              <a:rPr lang="pt-BR" altLang="zh-CN" sz="1000"/>
              <a:t>28       sar	eax, 1</a:t>
            </a:r>
          </a:p>
          <a:p>
            <a:pPr algn="just" eaLnBrk="1" hangingPunct="1"/>
            <a:r>
              <a:rPr lang="en-US" altLang="zh-CN" sz="1000"/>
              <a:t>29       push	eax</a:t>
            </a:r>
          </a:p>
          <a:p>
            <a:pPr algn="just" eaLnBrk="1" hangingPunct="1"/>
            <a:r>
              <a:rPr lang="en-US" altLang="zh-CN" sz="1000"/>
              <a:t>30       push	OFFSET FLAT:??_C@_0BC@BPOF@static_val?5is?5?$CFd?6?$AA@ ; `string'</a:t>
            </a:r>
          </a:p>
          <a:p>
            <a:pPr algn="just" eaLnBrk="1" hangingPunct="1"/>
            <a:r>
              <a:rPr lang="en-US" altLang="zh-CN" sz="1000"/>
              <a:t>31       mov	DWORD PTR _?static_val@?1??foo@@YAHH@Z@4HA, eax</a:t>
            </a:r>
          </a:p>
          <a:p>
            <a:pPr algn="just" eaLnBrk="1" hangingPunct="1"/>
            <a:r>
              <a:rPr lang="en-US" altLang="zh-CN" sz="1000"/>
              <a:t>32       call	_printf</a:t>
            </a:r>
          </a:p>
          <a:p>
            <a:pPr algn="just" eaLnBrk="1" hangingPunct="1"/>
            <a:r>
              <a:rPr lang="en-US" altLang="zh-CN" sz="1000"/>
              <a:t>33       add	esp, 8</a:t>
            </a:r>
          </a:p>
          <a:p>
            <a:pPr algn="just" eaLnBrk="1" hangingPunct="1"/>
            <a:r>
              <a:rPr lang="en-US" altLang="zh-CN" sz="1000" b="1">
                <a:solidFill>
                  <a:srgbClr val="FF0000"/>
                </a:solidFill>
              </a:rPr>
              <a:t>34       mov	eax, esi</a:t>
            </a:r>
          </a:p>
          <a:p>
            <a:pPr algn="just" eaLnBrk="1" hangingPunct="1"/>
            <a:r>
              <a:rPr lang="en-US" altLang="zh-CN" sz="1000" b="1">
                <a:solidFill>
                  <a:srgbClr val="FF0000"/>
                </a:solidFill>
              </a:rPr>
              <a:t>35       pop	edi</a:t>
            </a:r>
          </a:p>
          <a:p>
            <a:pPr algn="just" eaLnBrk="1" hangingPunct="1"/>
            <a:r>
              <a:rPr lang="en-US" altLang="zh-CN" sz="1000" b="1">
                <a:solidFill>
                  <a:srgbClr val="FF0000"/>
                </a:solidFill>
              </a:rPr>
              <a:t>36       pop	esi</a:t>
            </a:r>
          </a:p>
          <a:p>
            <a:pPr algn="just" eaLnBrk="1" hangingPunct="1"/>
            <a:r>
              <a:rPr lang="en-US" altLang="zh-CN" sz="1000" b="1">
                <a:solidFill>
                  <a:srgbClr val="FF0000"/>
                </a:solidFill>
              </a:rPr>
              <a:t>37       ret	0</a:t>
            </a:r>
          </a:p>
          <a:p>
            <a:pPr algn="just" eaLnBrk="1" hangingPunct="1"/>
            <a:r>
              <a:rPr lang="en-US" altLang="zh-CN" sz="1000"/>
              <a:t>38  ?foo@@YAHH@Z ENDP		; foo</a:t>
            </a:r>
          </a:p>
          <a:p>
            <a:pPr algn="just" eaLnBrk="1" hangingPunct="1"/>
            <a:r>
              <a:rPr lang="en-US" altLang="zh-CN" sz="1000"/>
              <a:t>39  _TEXT	ENDS</a:t>
            </a:r>
          </a:p>
        </p:txBody>
      </p:sp>
      <p:sp>
        <p:nvSpPr>
          <p:cNvPr id="49155" name="Text Box 5"/>
          <p:cNvSpPr txBox="1">
            <a:spLocks noChangeArrowheads="1"/>
          </p:cNvSpPr>
          <p:nvPr/>
        </p:nvSpPr>
        <p:spPr bwMode="auto">
          <a:xfrm>
            <a:off x="107950" y="620713"/>
            <a:ext cx="3600450" cy="5400675"/>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a:t>1   // C12P1.cpp </a:t>
            </a:r>
          </a:p>
          <a:p>
            <a:pPr algn="just" eaLnBrk="1" hangingPunct="1"/>
            <a:r>
              <a:rPr lang="en-US" altLang="zh-CN" sz="1400"/>
              <a:t>2   #include "stdafx.h"</a:t>
            </a:r>
          </a:p>
          <a:p>
            <a:pPr algn="just" eaLnBrk="1" hangingPunct="1"/>
            <a:r>
              <a:rPr lang="en-US" altLang="zh-CN" sz="1400"/>
              <a:t>3   int global_val = 0 ;</a:t>
            </a:r>
          </a:p>
          <a:p>
            <a:pPr algn="just" eaLnBrk="1" hangingPunct="1"/>
            <a:r>
              <a:rPr lang="en-US" altLang="zh-CN" sz="1400"/>
              <a:t>4</a:t>
            </a:r>
            <a:r>
              <a:rPr lang="en-US" altLang="zh-CN" sz="1400" b="1">
                <a:solidFill>
                  <a:srgbClr val="FF0000"/>
                </a:solidFill>
              </a:rPr>
              <a:t>   int foo(int n){</a:t>
            </a:r>
          </a:p>
          <a:p>
            <a:pPr algn="just" eaLnBrk="1" hangingPunct="1"/>
            <a:r>
              <a:rPr lang="en-US" altLang="zh-CN" sz="1400"/>
              <a:t>5</a:t>
            </a:r>
            <a:r>
              <a:rPr lang="en-US" altLang="zh-CN" sz="1400" b="1"/>
              <a:t>       static int static_val = 0 ;</a:t>
            </a:r>
          </a:p>
          <a:p>
            <a:pPr algn="just" eaLnBrk="1" hangingPunct="1"/>
            <a:r>
              <a:rPr lang="en-US" altLang="zh-CN" sz="1400"/>
              <a:t>6</a:t>
            </a:r>
            <a:r>
              <a:rPr lang="en-US" altLang="zh-CN" sz="1400" b="1"/>
              <a:t>       int i ;</a:t>
            </a:r>
          </a:p>
          <a:p>
            <a:pPr algn="just" eaLnBrk="1" hangingPunct="1"/>
            <a:r>
              <a:rPr lang="en-US" altLang="zh-CN" sz="1400"/>
              <a:t>7</a:t>
            </a:r>
            <a:r>
              <a:rPr lang="en-US" altLang="zh-CN" sz="1400" b="1"/>
              <a:t>       for(i=0 ; i&lt;100; i++){</a:t>
            </a:r>
          </a:p>
          <a:p>
            <a:pPr algn="just" eaLnBrk="1" hangingPunct="1"/>
            <a:r>
              <a:rPr lang="pt-BR" altLang="zh-CN" sz="1400"/>
              <a:t>8</a:t>
            </a:r>
            <a:r>
              <a:rPr lang="pt-BR" altLang="zh-CN" sz="1400" b="1"/>
              <a:t>           n = n * i + global_val + static_val;</a:t>
            </a:r>
          </a:p>
          <a:p>
            <a:pPr algn="just" eaLnBrk="1" hangingPunct="1"/>
            <a:r>
              <a:rPr lang="pt-BR" altLang="zh-CN" sz="1400"/>
              <a:t>9</a:t>
            </a:r>
            <a:r>
              <a:rPr lang="pt-BR" altLang="zh-CN" sz="1400" b="1"/>
              <a:t>       </a:t>
            </a:r>
            <a:r>
              <a:rPr lang="en-US" altLang="zh-CN" sz="1400" b="1"/>
              <a:t>}</a:t>
            </a:r>
          </a:p>
          <a:p>
            <a:pPr algn="just" eaLnBrk="1" hangingPunct="1"/>
            <a:r>
              <a:rPr lang="en-US" altLang="zh-CN" sz="1400"/>
              <a:t>10</a:t>
            </a:r>
            <a:r>
              <a:rPr lang="en-US" altLang="zh-CN" sz="1400" b="1"/>
              <a:t>     static_val = n / 2; </a:t>
            </a:r>
          </a:p>
          <a:p>
            <a:pPr algn="just" eaLnBrk="1" hangingPunct="1"/>
            <a:r>
              <a:rPr lang="en-US" altLang="zh-CN" sz="1400"/>
              <a:t>11</a:t>
            </a:r>
            <a:r>
              <a:rPr lang="en-US" altLang="zh-CN" sz="1400" b="1"/>
              <a:t>     printf("static_val is %x\n", static_val) ;</a:t>
            </a:r>
          </a:p>
          <a:p>
            <a:pPr algn="just" eaLnBrk="1" hangingPunct="1"/>
            <a:r>
              <a:rPr lang="en-US" altLang="zh-CN" sz="1400"/>
              <a:t>12</a:t>
            </a:r>
            <a:r>
              <a:rPr lang="en-US" altLang="zh-CN" sz="1400" b="1"/>
              <a:t>     return n ;</a:t>
            </a:r>
          </a:p>
          <a:p>
            <a:pPr algn="just" eaLnBrk="1" hangingPunct="1"/>
            <a:r>
              <a:rPr lang="en-US" altLang="zh-CN" sz="1400"/>
              <a:t>13</a:t>
            </a:r>
            <a:r>
              <a:rPr lang="en-US" altLang="zh-CN" sz="1400" b="1">
                <a:solidFill>
                  <a:srgbClr val="FF0000"/>
                </a:solidFill>
              </a:rPr>
              <a:t>  }</a:t>
            </a:r>
          </a:p>
          <a:p>
            <a:pPr algn="just" eaLnBrk="1" hangingPunct="1"/>
            <a:r>
              <a:rPr lang="en-US" altLang="zh-CN" sz="1400"/>
              <a:t>14  int main(int argc, char* argv[]){</a:t>
            </a:r>
          </a:p>
          <a:p>
            <a:pPr algn="just" eaLnBrk="1" hangingPunct="1"/>
            <a:r>
              <a:rPr lang="en-US" altLang="zh-CN" sz="1400"/>
              <a:t>15     global_val = 99 ;</a:t>
            </a:r>
          </a:p>
          <a:p>
            <a:pPr algn="just" eaLnBrk="1" hangingPunct="1"/>
            <a:r>
              <a:rPr lang="en-US" altLang="zh-CN" sz="1400"/>
              <a:t>16     int n = foo(100) ;</a:t>
            </a:r>
          </a:p>
          <a:p>
            <a:pPr algn="just" eaLnBrk="1" hangingPunct="1"/>
            <a:r>
              <a:rPr lang="en-US" altLang="zh-CN" sz="1400"/>
              <a:t>17     printf("foo(100) is %x\n",n);</a:t>
            </a:r>
          </a:p>
          <a:p>
            <a:pPr algn="just" eaLnBrk="1" hangingPunct="1"/>
            <a:r>
              <a:rPr lang="en-US" altLang="zh-CN" sz="1400"/>
              <a:t>18     return 0;</a:t>
            </a:r>
          </a:p>
          <a:p>
            <a:pPr algn="just" eaLnBrk="1" hangingPunct="1"/>
            <a:r>
              <a:rPr lang="en-US" altLang="zh-CN" sz="1400"/>
              <a:t>19  }</a:t>
            </a:r>
          </a:p>
        </p:txBody>
      </p:sp>
    </p:spTree>
    <p:extLst>
      <p:ext uri="{BB962C8B-B14F-4D97-AF65-F5344CB8AC3E}">
        <p14:creationId xmlns:p14="http://schemas.microsoft.com/office/powerpoint/2010/main" val="12853834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title"/>
          </p:nvPr>
        </p:nvSpPr>
        <p:spPr bwMode="auto">
          <a:xfrm>
            <a:off x="457200" y="731838"/>
            <a:ext cx="8229600"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defRPr/>
            </a:pPr>
            <a:r>
              <a:rPr lang="zh-CN" altLang="zh-CN" b="0" dirty="0" smtClean="0">
                <a:latin typeface="+mn-lt"/>
              </a:rPr>
              <a:t>函数</a:t>
            </a:r>
            <a:r>
              <a:rPr lang="en-US" altLang="zh-CN" b="0" dirty="0" smtClean="0">
                <a:latin typeface="+mn-lt"/>
              </a:rPr>
              <a:t>foo</a:t>
            </a:r>
            <a:r>
              <a:rPr lang="zh-CN" altLang="zh-CN" b="0" dirty="0" smtClean="0">
                <a:latin typeface="+mn-lt"/>
              </a:rPr>
              <a:t>的运行栈示例</a:t>
            </a:r>
            <a:endParaRPr lang="zh-CN" altLang="en-US" b="0" dirty="0" smtClean="0">
              <a:latin typeface="+mn-lt"/>
            </a:endParaRPr>
          </a:p>
        </p:txBody>
      </p:sp>
      <p:grpSp>
        <p:nvGrpSpPr>
          <p:cNvPr id="51203" name="组合 1"/>
          <p:cNvGrpSpPr>
            <a:grpSpLocks/>
          </p:cNvGrpSpPr>
          <p:nvPr/>
        </p:nvGrpSpPr>
        <p:grpSpPr bwMode="auto">
          <a:xfrm>
            <a:off x="4548188" y="1081088"/>
            <a:ext cx="4056062" cy="2852737"/>
            <a:chOff x="3995936" y="890445"/>
            <a:chExt cx="4056864" cy="2852602"/>
          </a:xfrm>
        </p:grpSpPr>
        <p:sp>
          <p:nvSpPr>
            <p:cNvPr id="45065" name="Text Box 15"/>
            <p:cNvSpPr txBox="1">
              <a:spLocks noChangeArrowheads="1"/>
            </p:cNvSpPr>
            <p:nvPr/>
          </p:nvSpPr>
          <p:spPr bwMode="auto">
            <a:xfrm>
              <a:off x="5294768" y="890445"/>
              <a:ext cx="1462376" cy="474640"/>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defRPr/>
              </a:pPr>
              <a:r>
                <a:rPr lang="en-US" altLang="zh-CN" sz="1600" smtClean="0">
                  <a:latin typeface="+mn-lt"/>
                </a:rPr>
                <a:t>n</a:t>
              </a:r>
            </a:p>
          </p:txBody>
        </p:sp>
        <p:sp>
          <p:nvSpPr>
            <p:cNvPr id="45066" name="Text Box 14"/>
            <p:cNvSpPr txBox="1">
              <a:spLocks noChangeArrowheads="1"/>
            </p:cNvSpPr>
            <p:nvPr/>
          </p:nvSpPr>
          <p:spPr bwMode="auto">
            <a:xfrm>
              <a:off x="5294768" y="1365085"/>
              <a:ext cx="1462376" cy="476227"/>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defRPr/>
              </a:pPr>
              <a:r>
                <a:rPr lang="en-US" altLang="zh-CN" sz="1600" smtClean="0">
                  <a:latin typeface="+mn-lt"/>
                </a:rPr>
                <a:t>ret_addr </a:t>
              </a:r>
            </a:p>
          </p:txBody>
        </p:sp>
        <p:sp>
          <p:nvSpPr>
            <p:cNvPr id="45067" name="Text Box 13"/>
            <p:cNvSpPr txBox="1">
              <a:spLocks noChangeArrowheads="1"/>
            </p:cNvSpPr>
            <p:nvPr/>
          </p:nvSpPr>
          <p:spPr bwMode="auto">
            <a:xfrm>
              <a:off x="5294768" y="1841312"/>
              <a:ext cx="1462376" cy="474641"/>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defRPr/>
              </a:pPr>
              <a:r>
                <a:rPr lang="en-US" altLang="zh-CN" sz="1600" smtClean="0">
                  <a:latin typeface="+mn-lt"/>
                </a:rPr>
                <a:t>ESI</a:t>
              </a:r>
            </a:p>
          </p:txBody>
        </p:sp>
        <p:sp>
          <p:nvSpPr>
            <p:cNvPr id="45068" name="Text Box 12"/>
            <p:cNvSpPr txBox="1">
              <a:spLocks noChangeArrowheads="1"/>
            </p:cNvSpPr>
            <p:nvPr/>
          </p:nvSpPr>
          <p:spPr bwMode="auto">
            <a:xfrm>
              <a:off x="5294768" y="2317539"/>
              <a:ext cx="1462376" cy="474641"/>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defRPr/>
              </a:pPr>
              <a:r>
                <a:rPr lang="en-US" altLang="zh-CN" sz="1600" smtClean="0">
                  <a:latin typeface="+mn-lt"/>
                </a:rPr>
                <a:t>EDI</a:t>
              </a:r>
            </a:p>
          </p:txBody>
        </p:sp>
        <p:sp>
          <p:nvSpPr>
            <p:cNvPr id="45069" name="Text Box 11"/>
            <p:cNvSpPr txBox="1">
              <a:spLocks noChangeArrowheads="1"/>
            </p:cNvSpPr>
            <p:nvPr/>
          </p:nvSpPr>
          <p:spPr bwMode="auto">
            <a:xfrm>
              <a:off x="5294768" y="2792180"/>
              <a:ext cx="1462376" cy="474640"/>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defRPr/>
              </a:pPr>
              <a:r>
                <a:rPr lang="en-US" altLang="zh-CN" sz="1600" smtClean="0">
                  <a:latin typeface="+mn-lt"/>
                </a:rPr>
                <a:t>EAX</a:t>
              </a:r>
            </a:p>
          </p:txBody>
        </p:sp>
        <p:sp>
          <p:nvSpPr>
            <p:cNvPr id="45070" name="Text Box 10"/>
            <p:cNvSpPr txBox="1">
              <a:spLocks noChangeArrowheads="1"/>
            </p:cNvSpPr>
            <p:nvPr/>
          </p:nvSpPr>
          <p:spPr bwMode="auto">
            <a:xfrm>
              <a:off x="5294768" y="3266820"/>
              <a:ext cx="1462376" cy="474641"/>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defRPr/>
              </a:pPr>
              <a:r>
                <a:rPr lang="en-US" altLang="zh-CN" sz="1600" smtClean="0">
                  <a:latin typeface="+mn-lt"/>
                </a:rPr>
                <a:t>String ADDR</a:t>
              </a:r>
            </a:p>
          </p:txBody>
        </p:sp>
        <p:sp>
          <p:nvSpPr>
            <p:cNvPr id="45071" name="Line 9"/>
            <p:cNvSpPr>
              <a:spLocks noChangeShapeType="1"/>
            </p:cNvSpPr>
            <p:nvPr/>
          </p:nvSpPr>
          <p:spPr bwMode="auto">
            <a:xfrm>
              <a:off x="4319850" y="1841312"/>
              <a:ext cx="973329"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a:defRPr/>
              </a:pPr>
              <a:endParaRPr lang="zh-CN" altLang="en-US">
                <a:latin typeface="+mn-lt"/>
              </a:endParaRPr>
            </a:p>
          </p:txBody>
        </p:sp>
        <p:sp>
          <p:nvSpPr>
            <p:cNvPr id="45072" name="Text Box 8"/>
            <p:cNvSpPr txBox="1">
              <a:spLocks noChangeArrowheads="1"/>
            </p:cNvSpPr>
            <p:nvPr/>
          </p:nvSpPr>
          <p:spPr bwMode="auto">
            <a:xfrm>
              <a:off x="3995936" y="1365085"/>
              <a:ext cx="811372" cy="473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r>
                <a:rPr lang="en-US" altLang="zh-CN" sz="1600" dirty="0" smtClean="0">
                  <a:latin typeface="+mn-lt"/>
                </a:rPr>
                <a:t>ESP0</a:t>
              </a:r>
            </a:p>
          </p:txBody>
        </p:sp>
        <p:sp>
          <p:nvSpPr>
            <p:cNvPr id="45073" name="Line 7"/>
            <p:cNvSpPr>
              <a:spLocks noChangeShapeType="1"/>
            </p:cNvSpPr>
            <p:nvPr/>
          </p:nvSpPr>
          <p:spPr bwMode="auto">
            <a:xfrm>
              <a:off x="4319850" y="2792180"/>
              <a:ext cx="973329"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a:defRPr/>
              </a:pPr>
              <a:endParaRPr lang="zh-CN" altLang="en-US">
                <a:latin typeface="+mn-lt"/>
              </a:endParaRPr>
            </a:p>
          </p:txBody>
        </p:sp>
        <p:sp>
          <p:nvSpPr>
            <p:cNvPr id="45074" name="Text Box 6"/>
            <p:cNvSpPr txBox="1">
              <a:spLocks noChangeArrowheads="1"/>
            </p:cNvSpPr>
            <p:nvPr/>
          </p:nvSpPr>
          <p:spPr bwMode="auto">
            <a:xfrm>
              <a:off x="3995936" y="2317539"/>
              <a:ext cx="811372" cy="474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r>
                <a:rPr lang="en-US" altLang="zh-CN" sz="1600" smtClean="0">
                  <a:latin typeface="+mn-lt"/>
                </a:rPr>
                <a:t>ESP2</a:t>
              </a:r>
            </a:p>
          </p:txBody>
        </p:sp>
        <p:sp>
          <p:nvSpPr>
            <p:cNvPr id="45075" name="Line 5"/>
            <p:cNvSpPr>
              <a:spLocks noChangeShapeType="1"/>
            </p:cNvSpPr>
            <p:nvPr/>
          </p:nvSpPr>
          <p:spPr bwMode="auto">
            <a:xfrm flipH="1">
              <a:off x="6755557" y="2317539"/>
              <a:ext cx="973329"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a:defRPr/>
              </a:pPr>
              <a:endParaRPr lang="zh-CN" altLang="en-US">
                <a:latin typeface="+mn-lt"/>
              </a:endParaRPr>
            </a:p>
          </p:txBody>
        </p:sp>
        <p:sp>
          <p:nvSpPr>
            <p:cNvPr id="45076" name="Text Box 4"/>
            <p:cNvSpPr txBox="1">
              <a:spLocks noChangeArrowheads="1"/>
            </p:cNvSpPr>
            <p:nvPr/>
          </p:nvSpPr>
          <p:spPr bwMode="auto">
            <a:xfrm>
              <a:off x="7241428" y="1841312"/>
              <a:ext cx="811372" cy="473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r>
                <a:rPr lang="en-US" altLang="zh-CN" sz="1600" smtClean="0">
                  <a:latin typeface="+mn-lt"/>
                </a:rPr>
                <a:t>ESP1</a:t>
              </a:r>
            </a:p>
          </p:txBody>
        </p:sp>
        <p:sp>
          <p:nvSpPr>
            <p:cNvPr id="45077" name="Line 3"/>
            <p:cNvSpPr>
              <a:spLocks noChangeShapeType="1"/>
            </p:cNvSpPr>
            <p:nvPr/>
          </p:nvSpPr>
          <p:spPr bwMode="auto">
            <a:xfrm flipH="1">
              <a:off x="6755557" y="3741460"/>
              <a:ext cx="973329" cy="1587"/>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a:defRPr/>
              </a:pPr>
              <a:endParaRPr lang="zh-CN" altLang="en-US">
                <a:latin typeface="+mn-lt"/>
              </a:endParaRPr>
            </a:p>
          </p:txBody>
        </p:sp>
        <p:sp>
          <p:nvSpPr>
            <p:cNvPr id="45078" name="Text Box 2"/>
            <p:cNvSpPr txBox="1">
              <a:spLocks noChangeArrowheads="1"/>
            </p:cNvSpPr>
            <p:nvPr/>
          </p:nvSpPr>
          <p:spPr bwMode="auto">
            <a:xfrm>
              <a:off x="7241428" y="3266820"/>
              <a:ext cx="811372" cy="474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defRPr/>
              </a:pPr>
              <a:r>
                <a:rPr lang="en-US" altLang="zh-CN" sz="1600" smtClean="0">
                  <a:latin typeface="+mn-lt"/>
                </a:rPr>
                <a:t>ESP3</a:t>
              </a:r>
            </a:p>
          </p:txBody>
        </p:sp>
      </p:grpSp>
      <p:sp>
        <p:nvSpPr>
          <p:cNvPr id="5" name="文本框 4"/>
          <p:cNvSpPr txBox="1">
            <a:spLocks noChangeArrowheads="1"/>
          </p:cNvSpPr>
          <p:nvPr/>
        </p:nvSpPr>
        <p:spPr bwMode="auto">
          <a:xfrm>
            <a:off x="515938" y="2014538"/>
            <a:ext cx="7800975"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defRPr/>
            </a:pPr>
            <a:r>
              <a:rPr lang="en-US" altLang="zh-CN" sz="2000" dirty="0" smtClean="0">
                <a:ea typeface="楷体" panose="02010609060101010101" pitchFamily="49" charset="-122"/>
              </a:rPr>
              <a:t>X86</a:t>
            </a:r>
            <a:r>
              <a:rPr lang="zh-CN" altLang="en-US" sz="2000" dirty="0" smtClean="0">
                <a:ea typeface="楷体" panose="02010609060101010101" pitchFamily="49" charset="-122"/>
              </a:rPr>
              <a:t>共有</a:t>
            </a:r>
            <a:r>
              <a:rPr lang="en-US" altLang="zh-CN" sz="2000" dirty="0" smtClean="0">
                <a:ea typeface="楷体" panose="02010609060101010101" pitchFamily="49" charset="-122"/>
              </a:rPr>
              <a:t>8</a:t>
            </a:r>
            <a:r>
              <a:rPr lang="zh-CN" altLang="en-US" sz="2000" dirty="0" smtClean="0">
                <a:ea typeface="楷体" panose="02010609060101010101" pitchFamily="49" charset="-122"/>
              </a:rPr>
              <a:t>个</a:t>
            </a:r>
            <a:r>
              <a:rPr lang="en-US" altLang="zh-CN" sz="2000" dirty="0" err="1" smtClean="0">
                <a:ea typeface="楷体" panose="02010609060101010101" pitchFamily="49" charset="-122"/>
              </a:rPr>
              <a:t>通用寄存器</a:t>
            </a:r>
            <a:r>
              <a:rPr lang="zh-CN" altLang="en-US" sz="2000" dirty="0">
                <a:ea typeface="楷体" panose="02010609060101010101" pitchFamily="49" charset="-122"/>
              </a:rPr>
              <a:t>：</a:t>
            </a:r>
          </a:p>
          <a:p>
            <a:pPr eaLnBrk="1" hangingPunct="1">
              <a:spcBef>
                <a:spcPts val="600"/>
              </a:spcBef>
              <a:defRPr/>
            </a:pPr>
            <a:endParaRPr lang="en-US" altLang="zh-CN" sz="2000" dirty="0" smtClean="0">
              <a:latin typeface="+mn-lt"/>
              <a:ea typeface="楷体" panose="02010609060101010101" pitchFamily="49" charset="-122"/>
            </a:endParaRPr>
          </a:p>
          <a:p>
            <a:pPr eaLnBrk="1" hangingPunct="1">
              <a:spcBef>
                <a:spcPts val="600"/>
              </a:spcBef>
              <a:defRPr/>
            </a:pPr>
            <a:r>
              <a:rPr lang="en-US" altLang="zh-CN" sz="2000" dirty="0" smtClean="0">
                <a:solidFill>
                  <a:srgbClr val="00B050"/>
                </a:solidFill>
                <a:latin typeface="+mn-lt"/>
                <a:ea typeface="楷体" panose="02010609060101010101" pitchFamily="49" charset="-122"/>
              </a:rPr>
              <a:t>EAX</a:t>
            </a:r>
            <a:r>
              <a:rPr lang="en-US" altLang="zh-CN" sz="2000" dirty="0" smtClean="0">
                <a:ea typeface="楷体" panose="02010609060101010101" pitchFamily="49" charset="-122"/>
              </a:rPr>
              <a:t>: </a:t>
            </a:r>
            <a:r>
              <a:rPr lang="zh-CN" altLang="en-US" sz="2000" dirty="0" smtClean="0">
                <a:solidFill>
                  <a:srgbClr val="00B050"/>
                </a:solidFill>
                <a:ea typeface="楷体" panose="02010609060101010101" pitchFamily="49" charset="-122"/>
              </a:rPr>
              <a:t>局部</a:t>
            </a:r>
            <a:r>
              <a:rPr lang="zh-CN" altLang="en-US" sz="2000" dirty="0" smtClean="0">
                <a:ea typeface="楷体" panose="02010609060101010101" pitchFamily="49" charset="-122"/>
              </a:rPr>
              <a:t>寄存器</a:t>
            </a:r>
            <a:endParaRPr lang="en-US" altLang="zh-CN" sz="2000" dirty="0" smtClean="0">
              <a:solidFill>
                <a:srgbClr val="00B050"/>
              </a:solidFill>
              <a:latin typeface="+mn-lt"/>
              <a:ea typeface="楷体" panose="02010609060101010101" pitchFamily="49" charset="-122"/>
            </a:endParaRPr>
          </a:p>
          <a:p>
            <a:pPr eaLnBrk="1" hangingPunct="1">
              <a:spcBef>
                <a:spcPts val="600"/>
              </a:spcBef>
              <a:defRPr/>
            </a:pPr>
            <a:r>
              <a:rPr lang="en-US" altLang="zh-CN" sz="2000" dirty="0" smtClean="0">
                <a:solidFill>
                  <a:srgbClr val="3333CC"/>
                </a:solidFill>
                <a:latin typeface="+mn-lt"/>
                <a:ea typeface="楷体" panose="02010609060101010101" pitchFamily="49" charset="-122"/>
              </a:rPr>
              <a:t>EBX</a:t>
            </a:r>
            <a:r>
              <a:rPr lang="en-US" altLang="zh-CN" sz="2000" dirty="0" smtClean="0">
                <a:ea typeface="楷体" panose="02010609060101010101" pitchFamily="49" charset="-122"/>
              </a:rPr>
              <a:t>: </a:t>
            </a:r>
            <a:r>
              <a:rPr lang="zh-CN" altLang="en-US" sz="2000" dirty="0" smtClean="0">
                <a:solidFill>
                  <a:srgbClr val="3333CC"/>
                </a:solidFill>
                <a:ea typeface="楷体" panose="02010609060101010101" pitchFamily="49" charset="-122"/>
              </a:rPr>
              <a:t>全局</a:t>
            </a:r>
            <a:r>
              <a:rPr lang="zh-CN" altLang="en-US" sz="2000" dirty="0">
                <a:ea typeface="楷体" panose="02010609060101010101" pitchFamily="49" charset="-122"/>
              </a:rPr>
              <a:t>寄存器</a:t>
            </a:r>
            <a:endParaRPr lang="en-US" altLang="zh-CN" sz="2000" dirty="0" smtClean="0">
              <a:solidFill>
                <a:srgbClr val="3333CC"/>
              </a:solidFill>
              <a:latin typeface="+mn-lt"/>
              <a:ea typeface="楷体" panose="02010609060101010101" pitchFamily="49" charset="-122"/>
            </a:endParaRPr>
          </a:p>
          <a:p>
            <a:pPr eaLnBrk="1" hangingPunct="1">
              <a:spcBef>
                <a:spcPts val="600"/>
              </a:spcBef>
              <a:defRPr/>
            </a:pPr>
            <a:r>
              <a:rPr lang="en-US" altLang="zh-CN" sz="2000" dirty="0" smtClean="0">
                <a:solidFill>
                  <a:srgbClr val="00B050"/>
                </a:solidFill>
                <a:latin typeface="+mn-lt"/>
                <a:ea typeface="楷体" panose="02010609060101010101" pitchFamily="49" charset="-122"/>
              </a:rPr>
              <a:t>ECX</a:t>
            </a:r>
            <a:r>
              <a:rPr lang="en-US" altLang="zh-CN" sz="2000" dirty="0" smtClean="0">
                <a:ea typeface="楷体" panose="02010609060101010101" pitchFamily="49" charset="-122"/>
              </a:rPr>
              <a:t>: </a:t>
            </a:r>
            <a:r>
              <a:rPr lang="zh-CN" altLang="en-US" sz="2000" dirty="0">
                <a:solidFill>
                  <a:srgbClr val="00B050"/>
                </a:solidFill>
                <a:ea typeface="楷体" panose="02010609060101010101" pitchFamily="49" charset="-122"/>
              </a:rPr>
              <a:t>局部</a:t>
            </a:r>
            <a:endParaRPr lang="en-US" altLang="zh-CN" sz="2000" dirty="0">
              <a:solidFill>
                <a:srgbClr val="00B050"/>
              </a:solidFill>
              <a:ea typeface="楷体" panose="02010609060101010101" pitchFamily="49" charset="-122"/>
            </a:endParaRPr>
          </a:p>
          <a:p>
            <a:pPr eaLnBrk="1" hangingPunct="1">
              <a:spcBef>
                <a:spcPts val="600"/>
              </a:spcBef>
              <a:defRPr/>
            </a:pPr>
            <a:r>
              <a:rPr lang="en-US" altLang="zh-CN" sz="2000" dirty="0" smtClean="0">
                <a:solidFill>
                  <a:srgbClr val="00B050"/>
                </a:solidFill>
                <a:latin typeface="+mn-lt"/>
                <a:ea typeface="楷体" panose="02010609060101010101" pitchFamily="49" charset="-122"/>
              </a:rPr>
              <a:t>EDX</a:t>
            </a:r>
            <a:r>
              <a:rPr lang="en-US" altLang="zh-CN" sz="2000" dirty="0" smtClean="0">
                <a:ea typeface="楷体" panose="02010609060101010101" pitchFamily="49" charset="-122"/>
              </a:rPr>
              <a:t>: </a:t>
            </a:r>
            <a:r>
              <a:rPr lang="zh-CN" altLang="en-US" sz="2000" dirty="0">
                <a:solidFill>
                  <a:srgbClr val="00B050"/>
                </a:solidFill>
                <a:ea typeface="楷体" panose="02010609060101010101" pitchFamily="49" charset="-122"/>
              </a:rPr>
              <a:t>局部</a:t>
            </a:r>
            <a:endParaRPr lang="en-US" altLang="zh-CN" sz="2000" dirty="0">
              <a:solidFill>
                <a:srgbClr val="00B050"/>
              </a:solidFill>
              <a:ea typeface="楷体" panose="02010609060101010101" pitchFamily="49" charset="-122"/>
            </a:endParaRPr>
          </a:p>
          <a:p>
            <a:pPr eaLnBrk="1" hangingPunct="1">
              <a:spcBef>
                <a:spcPts val="600"/>
              </a:spcBef>
              <a:defRPr/>
            </a:pPr>
            <a:r>
              <a:rPr lang="en-US" altLang="zh-CN" sz="2000" dirty="0" smtClean="0">
                <a:solidFill>
                  <a:srgbClr val="3333CC"/>
                </a:solidFill>
                <a:latin typeface="+mn-lt"/>
                <a:ea typeface="楷体" panose="02010609060101010101" pitchFamily="49" charset="-122"/>
              </a:rPr>
              <a:t>ESI</a:t>
            </a:r>
            <a:r>
              <a:rPr lang="en-US" altLang="zh-CN" sz="2000" dirty="0" smtClean="0">
                <a:ea typeface="楷体" panose="02010609060101010101" pitchFamily="49" charset="-122"/>
              </a:rPr>
              <a:t>:  </a:t>
            </a:r>
            <a:r>
              <a:rPr lang="zh-CN" altLang="en-US" sz="2000" dirty="0">
                <a:solidFill>
                  <a:srgbClr val="3333CC"/>
                </a:solidFill>
                <a:ea typeface="楷体" panose="02010609060101010101" pitchFamily="49" charset="-122"/>
              </a:rPr>
              <a:t>全局</a:t>
            </a:r>
            <a:r>
              <a:rPr lang="zh-CN" altLang="en-US" sz="2000" dirty="0" smtClean="0">
                <a:ea typeface="楷体" panose="02010609060101010101" pitchFamily="49" charset="-122"/>
              </a:rPr>
              <a:t>，</a:t>
            </a:r>
            <a:r>
              <a:rPr lang="zh-CN" altLang="zh-CN" sz="2000" dirty="0" smtClean="0">
                <a:ea typeface="楷体" panose="02010609060101010101" pitchFamily="49" charset="-122"/>
              </a:rPr>
              <a:t>通常</a:t>
            </a:r>
            <a:r>
              <a:rPr lang="zh-CN" altLang="zh-CN" sz="2000" dirty="0">
                <a:ea typeface="楷体" panose="02010609060101010101" pitchFamily="49" charset="-122"/>
              </a:rPr>
              <a:t>在</a:t>
            </a:r>
            <a:r>
              <a:rPr lang="en-US" altLang="zh-CN" sz="2000" dirty="0" err="1">
                <a:ea typeface="楷体" panose="02010609060101010101" pitchFamily="49" charset="-122"/>
              </a:rPr>
              <a:t>内存</a:t>
            </a:r>
            <a:r>
              <a:rPr lang="zh-CN" altLang="zh-CN" sz="2000" dirty="0">
                <a:ea typeface="楷体" panose="02010609060101010101" pitchFamily="49" charset="-122"/>
              </a:rPr>
              <a:t>操作</a:t>
            </a:r>
            <a:r>
              <a:rPr lang="en-US" altLang="zh-CN" sz="2000" dirty="0" err="1">
                <a:ea typeface="楷体" panose="02010609060101010101" pitchFamily="49" charset="-122"/>
              </a:rPr>
              <a:t>指令</a:t>
            </a:r>
            <a:r>
              <a:rPr lang="zh-CN" altLang="zh-CN" sz="2000" dirty="0">
                <a:ea typeface="楷体" panose="02010609060101010101" pitchFamily="49" charset="-122"/>
              </a:rPr>
              <a:t>中作为</a:t>
            </a:r>
            <a:r>
              <a:rPr lang="en-US" altLang="zh-CN" sz="2000" dirty="0">
                <a:ea typeface="楷体" panose="02010609060101010101" pitchFamily="49" charset="-122"/>
              </a:rPr>
              <a:t>“</a:t>
            </a:r>
            <a:r>
              <a:rPr lang="zh-CN" altLang="zh-CN" sz="2000" dirty="0">
                <a:ea typeface="楷体" panose="02010609060101010101" pitchFamily="49" charset="-122"/>
              </a:rPr>
              <a:t>源地址指针</a:t>
            </a:r>
            <a:r>
              <a:rPr lang="en-US" altLang="zh-CN" sz="2000" dirty="0">
                <a:ea typeface="楷体" panose="02010609060101010101" pitchFamily="49" charset="-122"/>
              </a:rPr>
              <a:t>”</a:t>
            </a:r>
            <a:r>
              <a:rPr lang="zh-CN" altLang="zh-CN" sz="2000" dirty="0">
                <a:ea typeface="楷体" panose="02010609060101010101" pitchFamily="49" charset="-122"/>
              </a:rPr>
              <a:t>使用。</a:t>
            </a:r>
            <a:endParaRPr lang="zh-CN" altLang="en-US" sz="2000" dirty="0">
              <a:ea typeface="楷体" panose="02010609060101010101" pitchFamily="49" charset="-122"/>
            </a:endParaRPr>
          </a:p>
          <a:p>
            <a:pPr eaLnBrk="1" hangingPunct="1">
              <a:spcBef>
                <a:spcPts val="600"/>
              </a:spcBef>
              <a:defRPr/>
            </a:pPr>
            <a:r>
              <a:rPr lang="en-US" altLang="zh-CN" sz="2000" dirty="0" smtClean="0">
                <a:solidFill>
                  <a:srgbClr val="3333CC"/>
                </a:solidFill>
                <a:latin typeface="+mn-lt"/>
                <a:ea typeface="楷体" panose="02010609060101010101" pitchFamily="49" charset="-122"/>
              </a:rPr>
              <a:t>EDI</a:t>
            </a:r>
            <a:r>
              <a:rPr lang="en-US" altLang="zh-CN" sz="2000" dirty="0" smtClean="0">
                <a:ea typeface="楷体" panose="02010609060101010101" pitchFamily="49" charset="-122"/>
              </a:rPr>
              <a:t>: </a:t>
            </a:r>
            <a:r>
              <a:rPr lang="zh-CN" altLang="en-US" sz="2000" dirty="0">
                <a:solidFill>
                  <a:srgbClr val="3333CC"/>
                </a:solidFill>
                <a:ea typeface="楷体" panose="02010609060101010101" pitchFamily="49" charset="-122"/>
              </a:rPr>
              <a:t>全局</a:t>
            </a:r>
            <a:r>
              <a:rPr lang="zh-CN" altLang="en-US" sz="2000" dirty="0">
                <a:ea typeface="楷体" panose="02010609060101010101" pitchFamily="49" charset="-122"/>
              </a:rPr>
              <a:t>，</a:t>
            </a:r>
            <a:r>
              <a:rPr lang="zh-CN" altLang="zh-CN" sz="2000" dirty="0" smtClean="0">
                <a:ea typeface="楷体" panose="02010609060101010101" pitchFamily="49" charset="-122"/>
              </a:rPr>
              <a:t>通常</a:t>
            </a:r>
            <a:r>
              <a:rPr lang="zh-CN" altLang="zh-CN" sz="2000" dirty="0">
                <a:ea typeface="楷体" panose="02010609060101010101" pitchFamily="49" charset="-122"/>
              </a:rPr>
              <a:t>在内存操作指令中作为</a:t>
            </a:r>
            <a:r>
              <a:rPr lang="en-US" altLang="zh-CN" sz="2000" dirty="0">
                <a:ea typeface="楷体" panose="02010609060101010101" pitchFamily="49" charset="-122"/>
              </a:rPr>
              <a:t>“</a:t>
            </a:r>
            <a:r>
              <a:rPr lang="zh-CN" altLang="zh-CN" sz="2000" dirty="0">
                <a:ea typeface="楷体" panose="02010609060101010101" pitchFamily="49" charset="-122"/>
              </a:rPr>
              <a:t>目的地址</a:t>
            </a:r>
            <a:r>
              <a:rPr lang="en-US" altLang="zh-CN" sz="2000" dirty="0" err="1">
                <a:ea typeface="楷体" panose="02010609060101010101" pitchFamily="49" charset="-122"/>
              </a:rPr>
              <a:t>指针</a:t>
            </a:r>
            <a:r>
              <a:rPr lang="en-US" altLang="zh-CN" sz="2000" dirty="0">
                <a:ea typeface="楷体" panose="02010609060101010101" pitchFamily="49" charset="-122"/>
              </a:rPr>
              <a:t>”</a:t>
            </a:r>
            <a:r>
              <a:rPr lang="zh-CN" altLang="zh-CN" sz="2000" dirty="0">
                <a:ea typeface="楷体" panose="02010609060101010101" pitchFamily="49" charset="-122"/>
              </a:rPr>
              <a:t>使用。</a:t>
            </a:r>
            <a:endParaRPr lang="zh-CN" altLang="en-US" sz="2000" dirty="0">
              <a:ea typeface="楷体" panose="02010609060101010101" pitchFamily="49" charset="-122"/>
            </a:endParaRPr>
          </a:p>
          <a:p>
            <a:pPr eaLnBrk="1" hangingPunct="1">
              <a:spcBef>
                <a:spcPts val="600"/>
              </a:spcBef>
              <a:defRPr/>
            </a:pPr>
            <a:r>
              <a:rPr lang="en-US" altLang="zh-CN" sz="2000" dirty="0" smtClean="0">
                <a:solidFill>
                  <a:srgbClr val="FF0000"/>
                </a:solidFill>
                <a:ea typeface="楷体" panose="02010609060101010101" pitchFamily="49" charset="-122"/>
              </a:rPr>
              <a:t>ESP</a:t>
            </a:r>
            <a:r>
              <a:rPr lang="en-US" altLang="zh-CN" sz="2000" dirty="0" smtClean="0">
                <a:ea typeface="楷体" panose="02010609060101010101" pitchFamily="49" charset="-122"/>
              </a:rPr>
              <a:t>: </a:t>
            </a:r>
            <a:r>
              <a:rPr lang="zh-CN" altLang="en-US" sz="2000" dirty="0" smtClean="0">
                <a:ea typeface="楷体" panose="02010609060101010101" pitchFamily="49" charset="-122"/>
              </a:rPr>
              <a:t>栈指针</a:t>
            </a:r>
            <a:endParaRPr lang="en-US" altLang="zh-CN" sz="2000" dirty="0" smtClean="0">
              <a:ea typeface="楷体" panose="02010609060101010101" pitchFamily="49" charset="-122"/>
            </a:endParaRPr>
          </a:p>
          <a:p>
            <a:pPr eaLnBrk="1" hangingPunct="1">
              <a:spcBef>
                <a:spcPts val="600"/>
              </a:spcBef>
              <a:defRPr/>
            </a:pPr>
            <a:r>
              <a:rPr lang="en-US" altLang="zh-CN" sz="2000" dirty="0" smtClean="0">
                <a:solidFill>
                  <a:srgbClr val="CC00CC"/>
                </a:solidFill>
                <a:ea typeface="楷体" panose="02010609060101010101" pitchFamily="49" charset="-122"/>
              </a:rPr>
              <a:t>EBP</a:t>
            </a:r>
            <a:r>
              <a:rPr lang="en-US" altLang="zh-CN" sz="2000" dirty="0" smtClean="0">
                <a:ea typeface="楷体" panose="02010609060101010101" pitchFamily="49" charset="-122"/>
              </a:rPr>
              <a:t>: </a:t>
            </a:r>
            <a:r>
              <a:rPr lang="zh-CN" altLang="en-US" sz="2000" dirty="0" smtClean="0">
                <a:ea typeface="楷体" panose="02010609060101010101" pitchFamily="49" charset="-122"/>
              </a:rPr>
              <a:t>当前函数基地址</a:t>
            </a:r>
            <a:endParaRPr lang="en-US" altLang="zh-CN" sz="2000" dirty="0" smtClean="0">
              <a:latin typeface="+mn-lt"/>
              <a:ea typeface="楷体" panose="02010609060101010101" pitchFamily="49" charset="-122"/>
            </a:endParaRPr>
          </a:p>
        </p:txBody>
      </p:sp>
    </p:spTree>
    <p:extLst>
      <p:ext uri="{BB962C8B-B14F-4D97-AF65-F5344CB8AC3E}">
        <p14:creationId xmlns:p14="http://schemas.microsoft.com/office/powerpoint/2010/main" val="13409888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bwMode="auto">
          <a:xfrm>
            <a:off x="323850" y="671513"/>
            <a:ext cx="8229600" cy="4413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indent="0" eaLnBrk="1" hangingPunct="1">
              <a:buFontTx/>
              <a:buNone/>
            </a:pPr>
            <a:r>
              <a:rPr lang="zh-CN" altLang="en-US" dirty="0" smtClean="0">
                <a:solidFill>
                  <a:schemeClr val="accent2"/>
                </a:solidFill>
                <a:latin typeface="楷体" panose="02010609060101010101" pitchFamily="49" charset="-122"/>
                <a:ea typeface="楷体" panose="02010609060101010101" pitchFamily="49" charset="-122"/>
              </a:rPr>
              <a:t>一个典型的运行栈包括（活动记录）</a:t>
            </a:r>
            <a:endParaRPr lang="en-US" altLang="zh-CN" dirty="0" smtClean="0">
              <a:solidFill>
                <a:schemeClr val="accent2"/>
              </a:solidFill>
              <a:latin typeface="楷体" panose="02010609060101010101" pitchFamily="49" charset="-122"/>
              <a:ea typeface="楷体" panose="02010609060101010101" pitchFamily="49" charset="-122"/>
            </a:endParaRPr>
          </a:p>
          <a:p>
            <a:pPr lvl="1" eaLnBrk="1" hangingPunct="1">
              <a:lnSpc>
                <a:spcPct val="150000"/>
              </a:lnSpc>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rPr>
              <a:t>函数的返回地址</a:t>
            </a:r>
          </a:p>
          <a:p>
            <a:pPr lvl="1" eaLnBrk="1" hangingPunct="1">
              <a:lnSpc>
                <a:spcPct val="150000"/>
              </a:lnSpc>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rPr>
              <a:t>全局寄存器的保存区</a:t>
            </a:r>
          </a:p>
          <a:p>
            <a:pPr lvl="1" eaLnBrk="1" hangingPunct="1">
              <a:lnSpc>
                <a:spcPct val="150000"/>
              </a:lnSpc>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rPr>
              <a:t>临时变量的保存区</a:t>
            </a:r>
          </a:p>
          <a:p>
            <a:pPr lvl="1" eaLnBrk="1" hangingPunct="1">
              <a:lnSpc>
                <a:spcPct val="150000"/>
              </a:lnSpc>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rPr>
              <a:t>未分配到全局寄存器的局部变量的保存区</a:t>
            </a:r>
          </a:p>
          <a:p>
            <a:pPr lvl="1" eaLnBrk="1" hangingPunct="1">
              <a:lnSpc>
                <a:spcPct val="150000"/>
              </a:lnSpc>
              <a:buFont typeface="Wingdings" panose="05000000000000000000" pitchFamily="2" charset="2"/>
              <a:buChar char="Ø"/>
            </a:pPr>
            <a:r>
              <a:rPr lang="zh-CN" altLang="en-US" sz="2400" dirty="0" smtClean="0">
                <a:latin typeface="楷体" panose="02010609060101010101" pitchFamily="49" charset="-122"/>
                <a:ea typeface="楷体" panose="02010609060101010101" pitchFamily="49" charset="-122"/>
              </a:rPr>
              <a:t>其他辅助信息的保存区</a:t>
            </a:r>
          </a:p>
          <a:p>
            <a:pPr marL="914400" lvl="2" indent="0" eaLnBrk="1" hangingPunct="1">
              <a:lnSpc>
                <a:spcPct val="150000"/>
              </a:lnSpc>
              <a:buFontTx/>
              <a:buNone/>
            </a:pPr>
            <a:r>
              <a:rPr lang="zh-CN" altLang="en-US" dirty="0" smtClean="0">
                <a:ea typeface="楷体" panose="02010609060101010101" pitchFamily="49" charset="-122"/>
                <a:cs typeface="Times New Roman" panose="02020603050405020304" pitchFamily="18" charset="0"/>
              </a:rPr>
              <a:t>例，</a:t>
            </a:r>
            <a:r>
              <a:rPr lang="en-US" altLang="zh-CN" dirty="0" smtClean="0">
                <a:latin typeface="+mn-lt"/>
                <a:ea typeface="楷体" panose="02010609060101010101" pitchFamily="49" charset="-122"/>
                <a:cs typeface="Times New Roman" panose="02020603050405020304" pitchFamily="18" charset="0"/>
              </a:rPr>
              <a:t>PASCAL/PL-I</a:t>
            </a:r>
            <a:r>
              <a:rPr lang="zh-CN" altLang="en-US" dirty="0" smtClean="0">
                <a:latin typeface="+mn-lt"/>
                <a:ea typeface="楷体" panose="02010609060101010101" pitchFamily="49" charset="-122"/>
                <a:cs typeface="Times New Roman" panose="02020603050405020304" pitchFamily="18" charset="0"/>
              </a:rPr>
              <a:t>类语言的</a:t>
            </a:r>
            <a:r>
              <a:rPr lang="en-US" altLang="zh-CN" dirty="0" smtClean="0">
                <a:latin typeface="+mn-lt"/>
                <a:ea typeface="楷体" panose="02010609060101010101" pitchFamily="49" charset="-122"/>
                <a:cs typeface="Times New Roman" panose="02020603050405020304" pitchFamily="18" charset="0"/>
              </a:rPr>
              <a:t>DISPLAY</a:t>
            </a:r>
            <a:r>
              <a:rPr lang="zh-CN" altLang="en-US" dirty="0" smtClean="0">
                <a:latin typeface="+mn-lt"/>
                <a:ea typeface="楷体" panose="02010609060101010101" pitchFamily="49" charset="-122"/>
                <a:cs typeface="Times New Roman" panose="02020603050405020304" pitchFamily="18" charset="0"/>
              </a:rPr>
              <a:t>区</a:t>
            </a:r>
            <a:endParaRPr lang="en-US" altLang="zh-CN" sz="3200" dirty="0" smtClean="0">
              <a:latin typeface="+mn-lt"/>
              <a:ea typeface="楷体" panose="02010609060101010101" pitchFamily="49" charset="-122"/>
            </a:endParaRPr>
          </a:p>
        </p:txBody>
      </p:sp>
    </p:spTree>
    <p:extLst>
      <p:ext uri="{BB962C8B-B14F-4D97-AF65-F5344CB8AC3E}">
        <p14:creationId xmlns:p14="http://schemas.microsoft.com/office/powerpoint/2010/main" val="40366694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2254250" y="18700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75" name="Rectangle 3"/>
          <p:cNvSpPr>
            <a:spLocks noChangeArrowheads="1"/>
          </p:cNvSpPr>
          <p:nvPr/>
        </p:nvSpPr>
        <p:spPr bwMode="auto">
          <a:xfrm>
            <a:off x="2254250" y="23272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76" name="Rectangle 4"/>
          <p:cNvSpPr>
            <a:spLocks noChangeArrowheads="1"/>
          </p:cNvSpPr>
          <p:nvPr/>
        </p:nvSpPr>
        <p:spPr bwMode="auto">
          <a:xfrm>
            <a:off x="2254250" y="3698875"/>
            <a:ext cx="1295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77" name="Rectangle 5"/>
          <p:cNvSpPr>
            <a:spLocks noChangeArrowheads="1"/>
          </p:cNvSpPr>
          <p:nvPr/>
        </p:nvSpPr>
        <p:spPr bwMode="auto">
          <a:xfrm>
            <a:off x="2254250" y="4613275"/>
            <a:ext cx="1295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78" name="Rectangle 6"/>
          <p:cNvSpPr>
            <a:spLocks noChangeArrowheads="1"/>
          </p:cNvSpPr>
          <p:nvPr/>
        </p:nvSpPr>
        <p:spPr bwMode="auto">
          <a:xfrm>
            <a:off x="2254250" y="27844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79" name="Rectangle 7"/>
          <p:cNvSpPr>
            <a:spLocks noChangeArrowheads="1"/>
          </p:cNvSpPr>
          <p:nvPr/>
        </p:nvSpPr>
        <p:spPr bwMode="auto">
          <a:xfrm>
            <a:off x="2254250" y="32416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80" name="Text Box 8"/>
          <p:cNvSpPr txBox="1">
            <a:spLocks noChangeArrowheads="1"/>
          </p:cNvSpPr>
          <p:nvPr/>
        </p:nvSpPr>
        <p:spPr bwMode="auto">
          <a:xfrm>
            <a:off x="2254250" y="18446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arg</a:t>
            </a:r>
            <a:r>
              <a:rPr lang="en-US" altLang="zh-CN" baseline="-25000">
                <a:cs typeface="Times New Roman" panose="02020603050405020304" pitchFamily="18" charset="0"/>
              </a:rPr>
              <a:t>i</a:t>
            </a:r>
          </a:p>
        </p:txBody>
      </p:sp>
      <p:sp>
        <p:nvSpPr>
          <p:cNvPr id="54281" name="Text Box 9"/>
          <p:cNvSpPr txBox="1">
            <a:spLocks noChangeArrowheads="1"/>
          </p:cNvSpPr>
          <p:nvPr/>
        </p:nvSpPr>
        <p:spPr bwMode="auto">
          <a:xfrm>
            <a:off x="2254250" y="23272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lr</a:t>
            </a:r>
          </a:p>
        </p:txBody>
      </p:sp>
      <p:sp>
        <p:nvSpPr>
          <p:cNvPr id="54282" name="Text Box 10"/>
          <p:cNvSpPr txBox="1">
            <a:spLocks noChangeArrowheads="1"/>
          </p:cNvSpPr>
          <p:nvPr/>
        </p:nvSpPr>
        <p:spPr bwMode="auto">
          <a:xfrm>
            <a:off x="2254250" y="3951288"/>
            <a:ext cx="129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temp var</a:t>
            </a:r>
          </a:p>
        </p:txBody>
      </p:sp>
      <p:sp>
        <p:nvSpPr>
          <p:cNvPr id="54283" name="Text Box 11"/>
          <p:cNvSpPr txBox="1">
            <a:spLocks noChangeArrowheads="1"/>
          </p:cNvSpPr>
          <p:nvPr/>
        </p:nvSpPr>
        <p:spPr bwMode="auto">
          <a:xfrm>
            <a:off x="2254250" y="4832350"/>
            <a:ext cx="129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local var</a:t>
            </a:r>
          </a:p>
        </p:txBody>
      </p:sp>
      <p:sp>
        <p:nvSpPr>
          <p:cNvPr id="54284" name="Text Box 12"/>
          <p:cNvSpPr txBox="1">
            <a:spLocks noChangeArrowheads="1"/>
          </p:cNvSpPr>
          <p:nvPr/>
        </p:nvSpPr>
        <p:spPr bwMode="auto">
          <a:xfrm>
            <a:off x="2254250" y="268763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a:t>
            </a:r>
          </a:p>
        </p:txBody>
      </p:sp>
      <p:sp>
        <p:nvSpPr>
          <p:cNvPr id="54285" name="Text Box 13"/>
          <p:cNvSpPr txBox="1">
            <a:spLocks noChangeArrowheads="1"/>
          </p:cNvSpPr>
          <p:nvPr/>
        </p:nvSpPr>
        <p:spPr bwMode="auto">
          <a:xfrm>
            <a:off x="2254250" y="32416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r4</a:t>
            </a:r>
          </a:p>
        </p:txBody>
      </p:sp>
      <p:sp>
        <p:nvSpPr>
          <p:cNvPr id="54286" name="Text Box 14"/>
          <p:cNvSpPr txBox="1">
            <a:spLocks noChangeArrowheads="1"/>
          </p:cNvSpPr>
          <p:nvPr/>
        </p:nvSpPr>
        <p:spPr bwMode="auto">
          <a:xfrm>
            <a:off x="730250" y="563562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sp</a:t>
            </a:r>
          </a:p>
        </p:txBody>
      </p:sp>
      <p:sp>
        <p:nvSpPr>
          <p:cNvPr id="54287" name="Line 15"/>
          <p:cNvSpPr>
            <a:spLocks noChangeShapeType="1"/>
          </p:cNvSpPr>
          <p:nvPr/>
        </p:nvSpPr>
        <p:spPr bwMode="auto">
          <a:xfrm>
            <a:off x="1546225" y="5948363"/>
            <a:ext cx="685800"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4288" name="AutoShape 16"/>
          <p:cNvSpPr>
            <a:spLocks/>
          </p:cNvSpPr>
          <p:nvPr/>
        </p:nvSpPr>
        <p:spPr bwMode="auto">
          <a:xfrm>
            <a:off x="3625850" y="2327275"/>
            <a:ext cx="304800" cy="457200"/>
          </a:xfrm>
          <a:prstGeom prst="rightBrace">
            <a:avLst>
              <a:gd name="adj1" fmla="val 12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89" name="AutoShape 17"/>
          <p:cNvSpPr>
            <a:spLocks/>
          </p:cNvSpPr>
          <p:nvPr/>
        </p:nvSpPr>
        <p:spPr bwMode="auto">
          <a:xfrm>
            <a:off x="3625850" y="3684588"/>
            <a:ext cx="304800" cy="838200"/>
          </a:xfrm>
          <a:prstGeom prst="rightBrace">
            <a:avLst>
              <a:gd name="adj1" fmla="val 2285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90" name="AutoShape 18"/>
          <p:cNvSpPr>
            <a:spLocks/>
          </p:cNvSpPr>
          <p:nvPr/>
        </p:nvSpPr>
        <p:spPr bwMode="auto">
          <a:xfrm>
            <a:off x="3625850" y="4598988"/>
            <a:ext cx="304800" cy="838200"/>
          </a:xfrm>
          <a:prstGeom prst="rightBrace">
            <a:avLst>
              <a:gd name="adj1" fmla="val 2285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91" name="AutoShape 19"/>
          <p:cNvSpPr>
            <a:spLocks/>
          </p:cNvSpPr>
          <p:nvPr/>
        </p:nvSpPr>
        <p:spPr bwMode="auto">
          <a:xfrm>
            <a:off x="3625850" y="2784475"/>
            <a:ext cx="304800" cy="914400"/>
          </a:xfrm>
          <a:prstGeom prst="rightBrace">
            <a:avLst>
              <a:gd name="adj1" fmla="val 25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92" name="Text Box 20"/>
          <p:cNvSpPr txBox="1">
            <a:spLocks noChangeArrowheads="1"/>
          </p:cNvSpPr>
          <p:nvPr/>
        </p:nvSpPr>
        <p:spPr bwMode="auto">
          <a:xfrm>
            <a:off x="4006850" y="2327275"/>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楷体" panose="02010609060101010101" pitchFamily="49" charset="-122"/>
                <a:cs typeface="Times New Roman" panose="02020603050405020304" pitchFamily="18" charset="0"/>
              </a:rPr>
              <a:t>调用方（</a:t>
            </a:r>
            <a:r>
              <a:rPr lang="en-US" altLang="zh-CN">
                <a:ea typeface="楷体" panose="02010609060101010101" pitchFamily="49" charset="-122"/>
                <a:cs typeface="Times New Roman" panose="02020603050405020304" pitchFamily="18" charset="0"/>
              </a:rPr>
              <a:t>caller</a:t>
            </a:r>
            <a:r>
              <a:rPr lang="zh-CN" altLang="en-US">
                <a:ea typeface="楷体" panose="02010609060101010101" pitchFamily="49" charset="-122"/>
                <a:cs typeface="Times New Roman" panose="02020603050405020304" pitchFamily="18" charset="0"/>
              </a:rPr>
              <a:t>）的返回地址</a:t>
            </a:r>
          </a:p>
        </p:txBody>
      </p:sp>
      <p:sp>
        <p:nvSpPr>
          <p:cNvPr id="54293" name="Text Box 21"/>
          <p:cNvSpPr txBox="1">
            <a:spLocks noChangeArrowheads="1"/>
          </p:cNvSpPr>
          <p:nvPr/>
        </p:nvSpPr>
        <p:spPr bwMode="auto">
          <a:xfrm>
            <a:off x="4006850" y="3851275"/>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楷体" panose="02010609060101010101" pitchFamily="49" charset="-122"/>
                <a:cs typeface="Times New Roman" panose="02020603050405020304" pitchFamily="18" charset="0"/>
              </a:rPr>
              <a:t>临时变量保存区</a:t>
            </a:r>
          </a:p>
        </p:txBody>
      </p:sp>
      <p:sp>
        <p:nvSpPr>
          <p:cNvPr id="54294" name="Text Box 22"/>
          <p:cNvSpPr txBox="1">
            <a:spLocks noChangeArrowheads="1"/>
          </p:cNvSpPr>
          <p:nvPr/>
        </p:nvSpPr>
        <p:spPr bwMode="auto">
          <a:xfrm>
            <a:off x="4006850" y="4765675"/>
            <a:ext cx="4668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楷体" panose="02010609060101010101" pitchFamily="49" charset="-122"/>
                <a:cs typeface="Times New Roman" panose="02020603050405020304" pitchFamily="18" charset="0"/>
              </a:rPr>
              <a:t>未分配到全局寄存器的局部变量</a:t>
            </a:r>
          </a:p>
        </p:txBody>
      </p:sp>
      <p:sp>
        <p:nvSpPr>
          <p:cNvPr id="54295" name="Text Box 23"/>
          <p:cNvSpPr txBox="1">
            <a:spLocks noChangeArrowheads="1"/>
          </p:cNvSpPr>
          <p:nvPr/>
        </p:nvSpPr>
        <p:spPr bwMode="auto">
          <a:xfrm>
            <a:off x="4006850" y="3165475"/>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楷体" panose="02010609060101010101" pitchFamily="49" charset="-122"/>
                <a:cs typeface="Times New Roman" panose="02020603050405020304" pitchFamily="18" charset="0"/>
              </a:rPr>
              <a:t>全局寄存器保存区</a:t>
            </a:r>
          </a:p>
        </p:txBody>
      </p:sp>
      <p:sp>
        <p:nvSpPr>
          <p:cNvPr id="54296" name="Text Box 24"/>
          <p:cNvSpPr txBox="1">
            <a:spLocks noChangeArrowheads="1"/>
          </p:cNvSpPr>
          <p:nvPr/>
        </p:nvSpPr>
        <p:spPr bwMode="auto">
          <a:xfrm>
            <a:off x="2254250" y="131603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cs typeface="Times New Roman" panose="02020603050405020304" pitchFamily="18" charset="0"/>
              </a:rPr>
              <a:t>…</a:t>
            </a:r>
          </a:p>
        </p:txBody>
      </p:sp>
      <p:sp>
        <p:nvSpPr>
          <p:cNvPr id="54297" name="Rectangle 25"/>
          <p:cNvSpPr>
            <a:spLocks noChangeArrowheads="1"/>
          </p:cNvSpPr>
          <p:nvPr/>
        </p:nvSpPr>
        <p:spPr bwMode="auto">
          <a:xfrm>
            <a:off x="2254250" y="14128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298" name="Text Box 26"/>
          <p:cNvSpPr txBox="1">
            <a:spLocks noChangeArrowheads="1"/>
          </p:cNvSpPr>
          <p:nvPr/>
        </p:nvSpPr>
        <p:spPr bwMode="auto">
          <a:xfrm>
            <a:off x="2254250" y="9302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arg</a:t>
            </a:r>
            <a:r>
              <a:rPr lang="en-US" altLang="zh-CN" baseline="-25000">
                <a:cs typeface="Times New Roman" panose="02020603050405020304" pitchFamily="18" charset="0"/>
              </a:rPr>
              <a:t>n</a:t>
            </a:r>
          </a:p>
        </p:txBody>
      </p:sp>
      <p:sp>
        <p:nvSpPr>
          <p:cNvPr id="54299" name="Rectangle 27"/>
          <p:cNvSpPr>
            <a:spLocks noChangeArrowheads="1"/>
          </p:cNvSpPr>
          <p:nvPr/>
        </p:nvSpPr>
        <p:spPr bwMode="auto">
          <a:xfrm>
            <a:off x="2254250" y="9556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300" name="AutoShape 28"/>
          <p:cNvSpPr>
            <a:spLocks/>
          </p:cNvSpPr>
          <p:nvPr/>
        </p:nvSpPr>
        <p:spPr bwMode="auto">
          <a:xfrm>
            <a:off x="3625850" y="955675"/>
            <a:ext cx="304800" cy="1295400"/>
          </a:xfrm>
          <a:prstGeom prst="rightBrace">
            <a:avLst>
              <a:gd name="adj1" fmla="val 3531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301" name="Text Box 29"/>
          <p:cNvSpPr txBox="1">
            <a:spLocks noChangeArrowheads="1"/>
          </p:cNvSpPr>
          <p:nvPr/>
        </p:nvSpPr>
        <p:spPr bwMode="auto">
          <a:xfrm>
            <a:off x="4006850" y="1336675"/>
            <a:ext cx="3373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楷体" panose="02010609060101010101" pitchFamily="49" charset="-122"/>
                <a:cs typeface="Times New Roman" panose="02020603050405020304" pitchFamily="18" charset="0"/>
              </a:rPr>
              <a:t>参数（大于</a:t>
            </a:r>
            <a:r>
              <a:rPr lang="en-US" altLang="zh-CN">
                <a:ea typeface="楷体" panose="02010609060101010101" pitchFamily="49" charset="-122"/>
                <a:cs typeface="Times New Roman" panose="02020603050405020304" pitchFamily="18" charset="0"/>
              </a:rPr>
              <a:t>4</a:t>
            </a:r>
            <a:r>
              <a:rPr lang="zh-CN" altLang="en-US">
                <a:ea typeface="楷体" panose="02010609060101010101" pitchFamily="49" charset="-122"/>
                <a:cs typeface="Times New Roman" panose="02020603050405020304" pitchFamily="18" charset="0"/>
              </a:rPr>
              <a:t>的参数）</a:t>
            </a:r>
          </a:p>
        </p:txBody>
      </p:sp>
      <p:sp>
        <p:nvSpPr>
          <p:cNvPr id="54302" name="Text Box 30"/>
          <p:cNvSpPr txBox="1">
            <a:spLocks noChangeArrowheads="1"/>
          </p:cNvSpPr>
          <p:nvPr/>
        </p:nvSpPr>
        <p:spPr bwMode="auto">
          <a:xfrm>
            <a:off x="730250" y="1870075"/>
            <a:ext cx="12954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sp</a:t>
            </a:r>
          </a:p>
          <a:p>
            <a:pPr algn="ctr" eaLnBrk="1" hangingPunct="1">
              <a:spcBef>
                <a:spcPct val="50000"/>
              </a:spcBef>
            </a:pPr>
            <a:r>
              <a:rPr lang="en-US" altLang="zh-CN" sz="1200">
                <a:cs typeface="Times New Roman" panose="02020603050405020304" pitchFamily="18" charset="0"/>
              </a:rPr>
              <a:t>(incoming)</a:t>
            </a:r>
          </a:p>
        </p:txBody>
      </p:sp>
      <p:sp>
        <p:nvSpPr>
          <p:cNvPr id="54303" name="Line 31"/>
          <p:cNvSpPr>
            <a:spLocks noChangeShapeType="1"/>
          </p:cNvSpPr>
          <p:nvPr/>
        </p:nvSpPr>
        <p:spPr bwMode="auto">
          <a:xfrm>
            <a:off x="1568450" y="2327275"/>
            <a:ext cx="685800"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4304" name="Rectangle 32"/>
          <p:cNvSpPr>
            <a:spLocks noGrp="1" noChangeArrowheads="1"/>
          </p:cNvSpPr>
          <p:nvPr>
            <p:ph type="title"/>
          </p:nvPr>
        </p:nvSpPr>
        <p:spPr bwMode="auto">
          <a:xfrm>
            <a:off x="2627313" y="0"/>
            <a:ext cx="6516687" cy="633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1" hangingPunct="1"/>
            <a:r>
              <a:rPr lang="zh-CN" altLang="en-US" sz="2800" smtClean="0">
                <a:latin typeface="Times New Roman" panose="02020603050405020304" pitchFamily="18" charset="0"/>
                <a:cs typeface="Times New Roman" panose="02020603050405020304" pitchFamily="18" charset="0"/>
              </a:rPr>
              <a:t>一个典型的</a:t>
            </a:r>
            <a:r>
              <a:rPr lang="en-US" altLang="zh-CN" sz="2800" smtClean="0">
                <a:latin typeface="Times New Roman" panose="02020603050405020304" pitchFamily="18" charset="0"/>
                <a:cs typeface="Times New Roman" panose="02020603050405020304" pitchFamily="18" charset="0"/>
              </a:rPr>
              <a:t>RISC</a:t>
            </a:r>
            <a:r>
              <a:rPr lang="zh-CN" altLang="en-US" sz="2800" smtClean="0">
                <a:latin typeface="Times New Roman" panose="02020603050405020304" pitchFamily="18" charset="0"/>
                <a:cs typeface="Times New Roman" panose="02020603050405020304" pitchFamily="18" charset="0"/>
              </a:rPr>
              <a:t>架构上的运行栈</a:t>
            </a:r>
          </a:p>
        </p:txBody>
      </p:sp>
      <p:sp>
        <p:nvSpPr>
          <p:cNvPr id="54305" name="Text Box 33"/>
          <p:cNvSpPr txBox="1">
            <a:spLocks noChangeArrowheads="1"/>
          </p:cNvSpPr>
          <p:nvPr/>
        </p:nvSpPr>
        <p:spPr bwMode="auto">
          <a:xfrm>
            <a:off x="2254250" y="543083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a:cs typeface="Times New Roman" panose="02020603050405020304" pitchFamily="18" charset="0"/>
              </a:rPr>
              <a:t>…</a:t>
            </a:r>
          </a:p>
        </p:txBody>
      </p:sp>
      <p:sp>
        <p:nvSpPr>
          <p:cNvPr id="54306" name="Rectangle 34"/>
          <p:cNvSpPr>
            <a:spLocks noChangeArrowheads="1"/>
          </p:cNvSpPr>
          <p:nvPr/>
        </p:nvSpPr>
        <p:spPr bwMode="auto">
          <a:xfrm>
            <a:off x="2254250" y="5527675"/>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307" name="AutoShape 35"/>
          <p:cNvSpPr>
            <a:spLocks/>
          </p:cNvSpPr>
          <p:nvPr/>
        </p:nvSpPr>
        <p:spPr bwMode="auto">
          <a:xfrm>
            <a:off x="3625850" y="5527675"/>
            <a:ext cx="304800" cy="457200"/>
          </a:xfrm>
          <a:prstGeom prst="rightBrace">
            <a:avLst>
              <a:gd name="adj1" fmla="val 125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4308" name="Text Box 36"/>
          <p:cNvSpPr txBox="1">
            <a:spLocks noChangeArrowheads="1"/>
          </p:cNvSpPr>
          <p:nvPr/>
        </p:nvSpPr>
        <p:spPr bwMode="auto">
          <a:xfrm>
            <a:off x="4006850" y="5527675"/>
            <a:ext cx="186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楷体" panose="02010609060101010101" pitchFamily="49" charset="-122"/>
                <a:cs typeface="Times New Roman" panose="02020603050405020304" pitchFamily="18" charset="0"/>
              </a:rPr>
              <a:t>保留区</a:t>
            </a:r>
          </a:p>
        </p:txBody>
      </p:sp>
    </p:spTree>
    <p:extLst>
      <p:ext uri="{BB962C8B-B14F-4D97-AF65-F5344CB8AC3E}">
        <p14:creationId xmlns:p14="http://schemas.microsoft.com/office/powerpoint/2010/main" val="3129181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dirty="0" smtClean="0"/>
              <a:t>第八章 源程序</a:t>
            </a:r>
            <a:r>
              <a:rPr lang="zh-CN" altLang="en-US" sz="3600" dirty="0"/>
              <a:t>的中间形式</a:t>
            </a:r>
          </a:p>
        </p:txBody>
      </p:sp>
      <p:sp>
        <p:nvSpPr>
          <p:cNvPr id="3" name="内容占位符 2"/>
          <p:cNvSpPr>
            <a:spLocks noGrp="1"/>
          </p:cNvSpPr>
          <p:nvPr>
            <p:ph idx="1"/>
          </p:nvPr>
        </p:nvSpPr>
        <p:spPr>
          <a:xfrm>
            <a:off x="649288" y="1268413"/>
            <a:ext cx="7983537" cy="2172903"/>
          </a:xfrm>
        </p:spPr>
        <p:txBody>
          <a:bodyPr>
            <a:spAutoFit/>
          </a:bodyPr>
          <a:lstStyle/>
          <a:p>
            <a:pPr marL="0" indent="0" eaLnBrk="1">
              <a:lnSpc>
                <a:spcPct val="130000"/>
              </a:lnSpc>
              <a:spcBef>
                <a:spcPts val="0"/>
              </a:spcBef>
              <a:buFontTx/>
              <a:buNone/>
              <a:defRPr/>
            </a:pPr>
            <a:r>
              <a:rPr lang="en-US" altLang="zh-CN" sz="2800" dirty="0" smtClean="0">
                <a:latin typeface="+mn-lt"/>
              </a:rPr>
              <a:t>1. </a:t>
            </a:r>
            <a:r>
              <a:rPr lang="zh-CN" altLang="en-US" sz="2800" dirty="0" smtClean="0">
                <a:latin typeface="+mn-lt"/>
              </a:rPr>
              <a:t>主要内容</a:t>
            </a:r>
          </a:p>
          <a:p>
            <a:pPr eaLnBrk="1">
              <a:lnSpc>
                <a:spcPct val="130000"/>
              </a:lnSpc>
              <a:spcBef>
                <a:spcPts val="0"/>
              </a:spcBef>
              <a:buFont typeface="Wingdings" panose="05000000000000000000" pitchFamily="2" charset="2"/>
              <a:buChar char="Ø"/>
              <a:defRPr/>
            </a:pPr>
            <a:r>
              <a:rPr lang="zh-CN" altLang="en-US" sz="2400" b="0" dirty="0" smtClean="0">
                <a:latin typeface="+mn-lt"/>
              </a:rPr>
              <a:t>波兰表示</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en-US" altLang="zh-CN" sz="2400" b="0" dirty="0" smtClean="0">
                <a:latin typeface="+mn-lt"/>
              </a:rPr>
              <a:t>N-</a:t>
            </a:r>
            <a:r>
              <a:rPr lang="zh-CN" altLang="en-US" sz="2400" b="0" dirty="0" smtClean="0">
                <a:latin typeface="+mn-lt"/>
              </a:rPr>
              <a:t>元表示（三元、</a:t>
            </a:r>
            <a:r>
              <a:rPr lang="zh-CN" altLang="en-US" sz="2400" dirty="0" smtClean="0">
                <a:solidFill>
                  <a:srgbClr val="FF0000"/>
                </a:solidFill>
                <a:latin typeface="+mn-lt"/>
              </a:rPr>
              <a:t>四元式</a:t>
            </a:r>
            <a:r>
              <a:rPr lang="zh-CN" altLang="en-US" sz="2400" b="0" dirty="0" smtClean="0">
                <a:latin typeface="+mn-lt"/>
              </a:rPr>
              <a:t>）</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抽象机代码（专属于栈式指令集</a:t>
            </a:r>
            <a:r>
              <a:rPr lang="en-US" altLang="zh-CN" sz="2400" b="0" dirty="0" smtClean="0">
                <a:latin typeface="+mn-lt"/>
              </a:rPr>
              <a:t>CPU</a:t>
            </a:r>
            <a:r>
              <a:rPr lang="zh-CN" altLang="en-US" sz="2400" b="0" dirty="0" smtClean="0">
                <a:latin typeface="+mn-lt"/>
              </a:rPr>
              <a:t>体系架构）</a:t>
            </a:r>
            <a:endParaRPr lang="zh-CN" altLang="en-US" sz="28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33</a:t>
            </a:fld>
            <a:endParaRPr lang="en-US" altLang="zh-CN" sz="1400" smtClean="0">
              <a:ea typeface="仿宋_GB2312" panose="02010609030101010101" pitchFamily="49" charset="-122"/>
            </a:endParaRPr>
          </a:p>
        </p:txBody>
      </p:sp>
      <p:sp>
        <p:nvSpPr>
          <p:cNvPr id="5" name="内容占位符 2"/>
          <p:cNvSpPr txBox="1">
            <a:spLocks/>
          </p:cNvSpPr>
          <p:nvPr/>
        </p:nvSpPr>
        <p:spPr bwMode="auto">
          <a:xfrm>
            <a:off x="649287" y="3789040"/>
            <a:ext cx="7983537" cy="16927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kumimoji="1" sz="3200" b="1">
                <a:solidFill>
                  <a:schemeClr val="tx1"/>
                </a:solidFill>
                <a:latin typeface="宋体" panose="02010600030101010101" pitchFamily="2" charset="-122"/>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b="1">
                <a:solidFill>
                  <a:schemeClr val="tx1"/>
                </a:solidFill>
                <a:latin typeface="宋体" panose="02010600030101010101" pitchFamily="2" charset="-122"/>
                <a:ea typeface="宋体" panose="02010600030101010101" pitchFamily="2" charset="-122"/>
              </a:defRPr>
            </a:lvl2pPr>
            <a:lvl3pPr marL="1143000" indent="-228600" algn="l" rtl="0" eaLnBrk="0" fontAlgn="base" hangingPunct="0">
              <a:spcBef>
                <a:spcPct val="20000"/>
              </a:spcBef>
              <a:spcAft>
                <a:spcPct val="0"/>
              </a:spcAft>
              <a:buChar char="•"/>
              <a:defRPr kumimoji="1" sz="2400" b="1">
                <a:solidFill>
                  <a:schemeClr val="tx1"/>
                </a:solidFill>
                <a:latin typeface="宋体" panose="02010600030101010101" pitchFamily="2" charset="-122"/>
                <a:ea typeface="宋体" panose="02010600030101010101" pitchFamily="2" charset="-122"/>
              </a:defRPr>
            </a:lvl3pPr>
            <a:lvl4pPr marL="16002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4pPr>
            <a:lvl5pPr marL="20574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marL="0" indent="0" eaLnBrk="1">
              <a:lnSpc>
                <a:spcPct val="130000"/>
              </a:lnSpc>
              <a:spcBef>
                <a:spcPts val="0"/>
              </a:spcBef>
              <a:buFontTx/>
              <a:buNone/>
              <a:defRPr/>
            </a:pPr>
            <a:r>
              <a:rPr lang="en-US" altLang="zh-CN" sz="2800" kern="0" dirty="0" smtClean="0">
                <a:latin typeface="+mn-lt"/>
              </a:rPr>
              <a:t>2. </a:t>
            </a:r>
            <a:r>
              <a:rPr lang="zh-CN" altLang="en-US" sz="2800" kern="0" dirty="0" smtClean="0">
                <a:latin typeface="+mn-lt"/>
              </a:rPr>
              <a:t>学习要求</a:t>
            </a:r>
            <a:endParaRPr lang="en-US" altLang="zh-CN" sz="2800" kern="0" dirty="0" smtClean="0">
              <a:latin typeface="+mn-lt"/>
            </a:endParaRPr>
          </a:p>
          <a:p>
            <a:pPr marL="0" indent="0" eaLnBrk="1">
              <a:lnSpc>
                <a:spcPct val="130000"/>
              </a:lnSpc>
              <a:spcBef>
                <a:spcPts val="0"/>
              </a:spcBef>
              <a:buFontTx/>
              <a:buNone/>
              <a:defRPr/>
            </a:pPr>
            <a:r>
              <a:rPr lang="en-US" altLang="zh-CN" sz="2800" b="0" kern="0" dirty="0" smtClean="0">
                <a:latin typeface="+mn-lt"/>
              </a:rPr>
              <a:t>        </a:t>
            </a:r>
            <a:r>
              <a:rPr lang="zh-CN" altLang="en-US" sz="2400" b="0" kern="0" dirty="0" smtClean="0">
                <a:latin typeface="+mn-lt"/>
              </a:rPr>
              <a:t>了解中间代码的作用，各种中间代码形式的特点和区别。理解栈式抽象机的工作原理。</a:t>
            </a:r>
            <a:endParaRPr lang="en-US" altLang="zh-CN" sz="2400" b="0" kern="0" dirty="0">
              <a:latin typeface="+mn-lt"/>
            </a:endParaRPr>
          </a:p>
        </p:txBody>
      </p:sp>
    </p:spTree>
    <p:extLst>
      <p:ext uri="{BB962C8B-B14F-4D97-AF65-F5344CB8AC3E}">
        <p14:creationId xmlns:p14="http://schemas.microsoft.com/office/powerpoint/2010/main" val="17543771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z="3600" dirty="0" smtClean="0"/>
              <a:t>第九章 错误处理</a:t>
            </a:r>
            <a:endParaRPr lang="zh-CN" altLang="en-US" sz="3600" dirty="0"/>
          </a:p>
        </p:txBody>
      </p:sp>
      <p:sp>
        <p:nvSpPr>
          <p:cNvPr id="3" name="内容占位符 2"/>
          <p:cNvSpPr>
            <a:spLocks noGrp="1"/>
          </p:cNvSpPr>
          <p:nvPr>
            <p:ph idx="1"/>
          </p:nvPr>
        </p:nvSpPr>
        <p:spPr>
          <a:xfrm>
            <a:off x="649288" y="1268413"/>
            <a:ext cx="7983537" cy="2172903"/>
          </a:xfrm>
        </p:spPr>
        <p:txBody>
          <a:bodyPr>
            <a:spAutoFit/>
          </a:bodyPr>
          <a:lstStyle/>
          <a:p>
            <a:pPr marL="0" indent="0" eaLnBrk="1">
              <a:lnSpc>
                <a:spcPct val="130000"/>
              </a:lnSpc>
              <a:spcBef>
                <a:spcPts val="0"/>
              </a:spcBef>
              <a:buNone/>
              <a:defRPr/>
            </a:pPr>
            <a:r>
              <a:rPr lang="en-US" altLang="zh-CN" sz="2800" dirty="0" smtClean="0">
                <a:latin typeface="+mn-lt"/>
              </a:rPr>
              <a:t>1. </a:t>
            </a:r>
            <a:r>
              <a:rPr lang="zh-CN" altLang="en-US" sz="2800" dirty="0" smtClean="0">
                <a:latin typeface="+mn-lt"/>
              </a:rPr>
              <a:t>主要内容</a:t>
            </a:r>
            <a:endParaRPr lang="en-US" altLang="zh-CN" sz="280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错误处理程序的作用</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如何诊察和报告语法、语义错误</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错误处理技术</a:t>
            </a:r>
            <a:endParaRPr lang="en-US" altLang="zh-CN"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34</a:t>
            </a:fld>
            <a:endParaRPr lang="en-US" altLang="zh-CN" sz="1400" smtClean="0">
              <a:ea typeface="仿宋_GB2312" panose="02010609030101010101" pitchFamily="49" charset="-122"/>
            </a:endParaRPr>
          </a:p>
        </p:txBody>
      </p:sp>
      <p:sp>
        <p:nvSpPr>
          <p:cNvPr id="5" name="内容占位符 2"/>
          <p:cNvSpPr txBox="1">
            <a:spLocks/>
          </p:cNvSpPr>
          <p:nvPr/>
        </p:nvSpPr>
        <p:spPr bwMode="auto">
          <a:xfrm>
            <a:off x="649287" y="3789040"/>
            <a:ext cx="7983537" cy="1612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kumimoji="1" sz="3200" b="1">
                <a:solidFill>
                  <a:schemeClr val="tx1"/>
                </a:solidFill>
                <a:latin typeface="宋体" panose="02010600030101010101" pitchFamily="2" charset="-122"/>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b="1">
                <a:solidFill>
                  <a:schemeClr val="tx1"/>
                </a:solidFill>
                <a:latin typeface="宋体" panose="02010600030101010101" pitchFamily="2" charset="-122"/>
                <a:ea typeface="宋体" panose="02010600030101010101" pitchFamily="2" charset="-122"/>
              </a:defRPr>
            </a:lvl2pPr>
            <a:lvl3pPr marL="1143000" indent="-228600" algn="l" rtl="0" eaLnBrk="0" fontAlgn="base" hangingPunct="0">
              <a:spcBef>
                <a:spcPct val="20000"/>
              </a:spcBef>
              <a:spcAft>
                <a:spcPct val="0"/>
              </a:spcAft>
              <a:buChar char="•"/>
              <a:defRPr kumimoji="1" sz="2400" b="1">
                <a:solidFill>
                  <a:schemeClr val="tx1"/>
                </a:solidFill>
                <a:latin typeface="宋体" panose="02010600030101010101" pitchFamily="2" charset="-122"/>
                <a:ea typeface="宋体" panose="02010600030101010101" pitchFamily="2" charset="-122"/>
              </a:defRPr>
            </a:lvl3pPr>
            <a:lvl4pPr marL="16002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4pPr>
            <a:lvl5pPr marL="20574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marL="0" indent="0" eaLnBrk="1">
              <a:lnSpc>
                <a:spcPct val="130000"/>
              </a:lnSpc>
              <a:spcBef>
                <a:spcPts val="0"/>
              </a:spcBef>
              <a:buFontTx/>
              <a:buNone/>
              <a:defRPr/>
            </a:pPr>
            <a:r>
              <a:rPr lang="en-US" altLang="zh-CN" sz="2800" kern="0" dirty="0" smtClean="0">
                <a:latin typeface="+mn-lt"/>
              </a:rPr>
              <a:t>2. </a:t>
            </a:r>
            <a:r>
              <a:rPr lang="zh-CN" altLang="en-US" sz="2800" kern="0" dirty="0" smtClean="0">
                <a:latin typeface="+mn-lt"/>
              </a:rPr>
              <a:t>学习要求</a:t>
            </a:r>
            <a:endParaRPr lang="en-US" altLang="zh-CN" sz="2800" kern="0" dirty="0" smtClean="0">
              <a:latin typeface="+mn-lt"/>
            </a:endParaRPr>
          </a:p>
          <a:p>
            <a:pPr marL="0" indent="0" eaLnBrk="1">
              <a:lnSpc>
                <a:spcPct val="130000"/>
              </a:lnSpc>
              <a:spcBef>
                <a:spcPts val="0"/>
              </a:spcBef>
              <a:buNone/>
              <a:defRPr/>
            </a:pPr>
            <a:r>
              <a:rPr lang="zh-CN" altLang="en-US" sz="2400" b="0" dirty="0" smtClean="0"/>
              <a:t>    了解</a:t>
            </a:r>
            <a:r>
              <a:rPr lang="zh-CN" altLang="en-US" sz="2400" b="0" dirty="0"/>
              <a:t>错误处理程序的作用，掌握如何诊察和报告语法错误，了解语义错误的处理方式。</a:t>
            </a:r>
            <a:endParaRPr lang="en-US" altLang="zh-CN" sz="2400" b="0" dirty="0"/>
          </a:p>
        </p:txBody>
      </p:sp>
    </p:spTree>
    <p:extLst>
      <p:ext uri="{BB962C8B-B14F-4D97-AF65-F5344CB8AC3E}">
        <p14:creationId xmlns:p14="http://schemas.microsoft.com/office/powerpoint/2010/main" val="30366543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17588" y="609600"/>
            <a:ext cx="7154812" cy="685800"/>
          </a:xfrm>
        </p:spPr>
        <p:txBody>
          <a:bodyPr/>
          <a:lstStyle/>
          <a:p>
            <a:r>
              <a:rPr lang="zh-CN" altLang="en-US" sz="3600" dirty="0"/>
              <a:t>第十章  语义分析</a:t>
            </a:r>
            <a:r>
              <a:rPr lang="zh-CN" altLang="en-US" sz="3600" dirty="0" smtClean="0"/>
              <a:t>和</a:t>
            </a:r>
            <a:r>
              <a:rPr lang="zh-CN" altLang="en-US" sz="3600" dirty="0" smtClean="0">
                <a:solidFill>
                  <a:srgbClr val="FF0000"/>
                </a:solidFill>
              </a:rPr>
              <a:t>中间</a:t>
            </a:r>
            <a:r>
              <a:rPr lang="zh-CN" altLang="en-US" sz="3600" dirty="0" smtClean="0"/>
              <a:t>代码</a:t>
            </a:r>
            <a:r>
              <a:rPr lang="zh-CN" altLang="en-US" sz="3600" dirty="0"/>
              <a:t>生成</a:t>
            </a:r>
          </a:p>
        </p:txBody>
      </p:sp>
      <p:sp>
        <p:nvSpPr>
          <p:cNvPr id="3" name="内容占位符 2"/>
          <p:cNvSpPr>
            <a:spLocks noGrp="1"/>
          </p:cNvSpPr>
          <p:nvPr>
            <p:ph idx="1"/>
          </p:nvPr>
        </p:nvSpPr>
        <p:spPr>
          <a:xfrm>
            <a:off x="649288" y="1268413"/>
            <a:ext cx="7983537" cy="2573012"/>
          </a:xfrm>
        </p:spPr>
        <p:txBody>
          <a:bodyPr>
            <a:spAutoFit/>
          </a:bodyPr>
          <a:lstStyle/>
          <a:p>
            <a:pPr marL="0" indent="0" eaLnBrk="1">
              <a:lnSpc>
                <a:spcPct val="130000"/>
              </a:lnSpc>
              <a:spcBef>
                <a:spcPts val="0"/>
              </a:spcBef>
              <a:buNone/>
              <a:defRPr/>
            </a:pPr>
            <a:r>
              <a:rPr lang="en-US" altLang="zh-CN" sz="2800" dirty="0" smtClean="0">
                <a:latin typeface="+mn-lt"/>
              </a:rPr>
              <a:t>1. </a:t>
            </a:r>
            <a:r>
              <a:rPr lang="zh-CN" altLang="en-US" sz="2800" dirty="0" smtClean="0">
                <a:latin typeface="+mn-lt"/>
              </a:rPr>
              <a:t>主要内容</a:t>
            </a:r>
            <a:endParaRPr lang="en-US" altLang="zh-CN" sz="280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a:latin typeface="+mn-lt"/>
              </a:rPr>
              <a:t>语义分析的概念</a:t>
            </a:r>
          </a:p>
          <a:p>
            <a:pPr eaLnBrk="1">
              <a:lnSpc>
                <a:spcPct val="130000"/>
              </a:lnSpc>
              <a:spcBef>
                <a:spcPts val="0"/>
              </a:spcBef>
              <a:buFont typeface="Wingdings" panose="05000000000000000000" pitchFamily="2" charset="2"/>
              <a:buChar char="Ø"/>
              <a:defRPr/>
            </a:pPr>
            <a:r>
              <a:rPr lang="zh-CN" altLang="en-US" sz="2400" b="0" dirty="0" smtClean="0">
                <a:latin typeface="+mn-lt"/>
              </a:rPr>
              <a:t>栈</a:t>
            </a:r>
            <a:r>
              <a:rPr lang="zh-CN" altLang="en-US" sz="2400" b="0" dirty="0">
                <a:latin typeface="+mn-lt"/>
              </a:rPr>
              <a:t>式抽象机及其汇编指令</a:t>
            </a:r>
          </a:p>
          <a:p>
            <a:pPr eaLnBrk="1">
              <a:lnSpc>
                <a:spcPct val="130000"/>
              </a:lnSpc>
              <a:spcBef>
                <a:spcPts val="0"/>
              </a:spcBef>
              <a:buFont typeface="Wingdings" panose="05000000000000000000" pitchFamily="2" charset="2"/>
              <a:buChar char="Ø"/>
              <a:defRPr/>
            </a:pPr>
            <a:r>
              <a:rPr lang="zh-CN" altLang="en-US" sz="2400" b="0" dirty="0" smtClean="0">
                <a:latin typeface="+mn-lt"/>
              </a:rPr>
              <a:t>声明</a:t>
            </a:r>
            <a:r>
              <a:rPr lang="zh-CN" altLang="en-US" sz="2400" b="0" dirty="0">
                <a:latin typeface="+mn-lt"/>
              </a:rPr>
              <a:t>的</a:t>
            </a:r>
            <a:r>
              <a:rPr lang="zh-CN" altLang="en-US" sz="2400" b="0" dirty="0" smtClean="0">
                <a:latin typeface="+mn-lt"/>
              </a:rPr>
              <a:t>处理</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数组信息向量</a:t>
            </a:r>
            <a:endParaRPr lang="zh-CN" altLang="en-US"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35</a:t>
            </a:fld>
            <a:endParaRPr lang="en-US" altLang="zh-CN" sz="1400" smtClean="0">
              <a:ea typeface="仿宋_GB2312" panose="02010609030101010101" pitchFamily="49" charset="-122"/>
            </a:endParaRPr>
          </a:p>
        </p:txBody>
      </p:sp>
      <p:sp>
        <p:nvSpPr>
          <p:cNvPr id="5" name="内容占位符 2"/>
          <p:cNvSpPr txBox="1">
            <a:spLocks/>
          </p:cNvSpPr>
          <p:nvPr/>
        </p:nvSpPr>
        <p:spPr bwMode="auto">
          <a:xfrm>
            <a:off x="649287" y="3976491"/>
            <a:ext cx="7983537" cy="1612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kumimoji="1" sz="3200" b="1">
                <a:solidFill>
                  <a:schemeClr val="tx1"/>
                </a:solidFill>
                <a:latin typeface="宋体" panose="02010600030101010101" pitchFamily="2" charset="-122"/>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b="1">
                <a:solidFill>
                  <a:schemeClr val="tx1"/>
                </a:solidFill>
                <a:latin typeface="宋体" panose="02010600030101010101" pitchFamily="2" charset="-122"/>
                <a:ea typeface="宋体" panose="02010600030101010101" pitchFamily="2" charset="-122"/>
              </a:defRPr>
            </a:lvl2pPr>
            <a:lvl3pPr marL="1143000" indent="-228600" algn="l" rtl="0" eaLnBrk="0" fontAlgn="base" hangingPunct="0">
              <a:spcBef>
                <a:spcPct val="20000"/>
              </a:spcBef>
              <a:spcAft>
                <a:spcPct val="0"/>
              </a:spcAft>
              <a:buChar char="•"/>
              <a:defRPr kumimoji="1" sz="2400" b="1">
                <a:solidFill>
                  <a:schemeClr val="tx1"/>
                </a:solidFill>
                <a:latin typeface="宋体" panose="02010600030101010101" pitchFamily="2" charset="-122"/>
                <a:ea typeface="宋体" panose="02010600030101010101" pitchFamily="2" charset="-122"/>
              </a:defRPr>
            </a:lvl3pPr>
            <a:lvl4pPr marL="16002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4pPr>
            <a:lvl5pPr marL="2057400" indent="-228600" algn="l" rtl="0" eaLnBrk="0" fontAlgn="base" hangingPunct="0">
              <a:spcBef>
                <a:spcPct val="20000"/>
              </a:spcBef>
              <a:spcAft>
                <a:spcPct val="0"/>
              </a:spcAft>
              <a:buChar char="»"/>
              <a:defRPr kumimoji="1" sz="2000" b="1">
                <a:solidFill>
                  <a:schemeClr val="tx1"/>
                </a:solidFill>
                <a:latin typeface="宋体" panose="02010600030101010101" pitchFamily="2" charset="-122"/>
                <a:ea typeface="宋体" panose="02010600030101010101" pitchFamily="2"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marL="0" indent="0" eaLnBrk="1">
              <a:lnSpc>
                <a:spcPct val="130000"/>
              </a:lnSpc>
              <a:spcBef>
                <a:spcPts val="0"/>
              </a:spcBef>
              <a:buFontTx/>
              <a:buNone/>
              <a:defRPr/>
            </a:pPr>
            <a:r>
              <a:rPr lang="en-US" altLang="zh-CN" sz="2800" kern="0" dirty="0" smtClean="0">
                <a:latin typeface="+mn-lt"/>
              </a:rPr>
              <a:t>2. </a:t>
            </a:r>
            <a:r>
              <a:rPr lang="zh-CN" altLang="en-US" sz="2800" kern="0" dirty="0" smtClean="0">
                <a:latin typeface="+mn-lt"/>
              </a:rPr>
              <a:t>学习要求</a:t>
            </a:r>
            <a:endParaRPr lang="en-US" altLang="zh-CN" sz="2800" kern="0" dirty="0" smtClean="0">
              <a:latin typeface="+mn-lt"/>
            </a:endParaRPr>
          </a:p>
          <a:p>
            <a:pPr marL="0" indent="0" eaLnBrk="1">
              <a:lnSpc>
                <a:spcPct val="130000"/>
              </a:lnSpc>
              <a:spcBef>
                <a:spcPts val="0"/>
              </a:spcBef>
              <a:buNone/>
              <a:defRPr/>
            </a:pPr>
            <a:r>
              <a:rPr lang="zh-CN" altLang="en-US" sz="2400" b="0" dirty="0" smtClean="0"/>
              <a:t>了解语义分析的概念。重点是和语法分析的区别。</a:t>
            </a:r>
            <a:endParaRPr lang="en-US" altLang="zh-CN" sz="2400" b="0" dirty="0" smtClean="0"/>
          </a:p>
          <a:p>
            <a:pPr marL="0" indent="0" eaLnBrk="1">
              <a:lnSpc>
                <a:spcPct val="130000"/>
              </a:lnSpc>
              <a:spcBef>
                <a:spcPts val="0"/>
              </a:spcBef>
              <a:buNone/>
              <a:defRPr/>
            </a:pPr>
            <a:r>
              <a:rPr lang="zh-CN" altLang="en-US" sz="2400" b="0" dirty="0" smtClean="0"/>
              <a:t>掌握数组信息向量，理解数组变量的寻址方式。</a:t>
            </a:r>
            <a:endParaRPr lang="en-US" altLang="zh-CN" sz="2400" b="0" dirty="0"/>
          </a:p>
        </p:txBody>
      </p:sp>
    </p:spTree>
    <p:extLst>
      <p:ext uri="{BB962C8B-B14F-4D97-AF65-F5344CB8AC3E}">
        <p14:creationId xmlns:p14="http://schemas.microsoft.com/office/powerpoint/2010/main" val="16706103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17588" y="609600"/>
            <a:ext cx="7154812" cy="685800"/>
          </a:xfrm>
        </p:spPr>
        <p:txBody>
          <a:bodyPr/>
          <a:lstStyle/>
          <a:p>
            <a:r>
              <a:rPr lang="zh-CN" altLang="en-US" sz="3600" dirty="0" smtClean="0"/>
              <a:t>第十一章  中间代码优化</a:t>
            </a:r>
            <a:endParaRPr lang="zh-CN" altLang="en-US" sz="3600" dirty="0"/>
          </a:p>
        </p:txBody>
      </p:sp>
      <p:sp>
        <p:nvSpPr>
          <p:cNvPr id="3" name="内容占位符 2"/>
          <p:cNvSpPr>
            <a:spLocks noGrp="1"/>
          </p:cNvSpPr>
          <p:nvPr>
            <p:ph idx="1"/>
          </p:nvPr>
        </p:nvSpPr>
        <p:spPr>
          <a:xfrm>
            <a:off x="649288" y="1268413"/>
            <a:ext cx="7983537" cy="2573012"/>
          </a:xfrm>
        </p:spPr>
        <p:txBody>
          <a:bodyPr>
            <a:spAutoFit/>
          </a:bodyPr>
          <a:lstStyle/>
          <a:p>
            <a:pPr marL="0" indent="0" eaLnBrk="1">
              <a:lnSpc>
                <a:spcPct val="130000"/>
              </a:lnSpc>
              <a:spcBef>
                <a:spcPts val="0"/>
              </a:spcBef>
              <a:buNone/>
              <a:defRPr/>
            </a:pPr>
            <a:r>
              <a:rPr lang="en-US" altLang="zh-CN" sz="2800" dirty="0" smtClean="0">
                <a:latin typeface="+mn-lt"/>
              </a:rPr>
              <a:t>1. </a:t>
            </a:r>
            <a:r>
              <a:rPr lang="zh-CN" altLang="en-US" sz="2800" dirty="0" smtClean="0">
                <a:latin typeface="+mn-lt"/>
              </a:rPr>
              <a:t>主要内容</a:t>
            </a:r>
            <a:endParaRPr lang="en-US" altLang="zh-CN" sz="280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与机器有关的优化和与机器无关的优化</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局部优化、全局优化、循环优化、跨函数优化（未讲）</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基本块</a:t>
            </a:r>
            <a:endParaRPr lang="en-US" altLang="zh-CN" sz="2400" b="0" dirty="0" smtClean="0">
              <a:latin typeface="+mn-lt"/>
            </a:endParaRPr>
          </a:p>
          <a:p>
            <a:pPr eaLnBrk="1">
              <a:lnSpc>
                <a:spcPct val="130000"/>
              </a:lnSpc>
              <a:spcBef>
                <a:spcPts val="0"/>
              </a:spcBef>
              <a:buFont typeface="Wingdings" panose="05000000000000000000" pitchFamily="2" charset="2"/>
              <a:buChar char="Ø"/>
              <a:defRPr/>
            </a:pPr>
            <a:r>
              <a:rPr lang="zh-CN" altLang="en-US" sz="2400" b="0" dirty="0" smtClean="0">
                <a:latin typeface="+mn-lt"/>
              </a:rPr>
              <a:t>全局数据流分析</a:t>
            </a:r>
            <a:endParaRPr lang="zh-CN" altLang="en-US" sz="2400" b="0" dirty="0">
              <a:latin typeface="+mn-lt"/>
            </a:endParaRPr>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36</a:t>
            </a:fld>
            <a:endParaRPr lang="en-US" altLang="zh-CN" sz="1400" smtClean="0">
              <a:ea typeface="仿宋_GB2312" panose="02010609030101010101" pitchFamily="49" charset="-122"/>
            </a:endParaRPr>
          </a:p>
        </p:txBody>
      </p:sp>
    </p:spTree>
    <p:extLst>
      <p:ext uri="{BB962C8B-B14F-4D97-AF65-F5344CB8AC3E}">
        <p14:creationId xmlns:p14="http://schemas.microsoft.com/office/powerpoint/2010/main" val="22697526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17588" y="609600"/>
            <a:ext cx="7154812" cy="685800"/>
          </a:xfrm>
        </p:spPr>
        <p:txBody>
          <a:bodyPr/>
          <a:lstStyle/>
          <a:p>
            <a:r>
              <a:rPr lang="zh-CN" altLang="en-US" sz="3600" dirty="0" smtClean="0"/>
              <a:t>第十一章  中间代码优化</a:t>
            </a:r>
            <a:endParaRPr lang="zh-CN" altLang="en-US" sz="3600" dirty="0"/>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37</a:t>
            </a:fld>
            <a:endParaRPr lang="en-US" altLang="zh-CN" sz="1400" smtClean="0">
              <a:ea typeface="仿宋_GB2312" panose="02010609030101010101" pitchFamily="49" charset="-122"/>
            </a:endParaRPr>
          </a:p>
        </p:txBody>
      </p:sp>
      <p:sp>
        <p:nvSpPr>
          <p:cNvPr id="2" name="内容占位符 1"/>
          <p:cNvSpPr>
            <a:spLocks noGrp="1"/>
          </p:cNvSpPr>
          <p:nvPr>
            <p:ph idx="1"/>
          </p:nvPr>
        </p:nvSpPr>
        <p:spPr/>
        <p:txBody>
          <a:bodyPr/>
          <a:lstStyle/>
          <a:p>
            <a:r>
              <a:rPr lang="zh-CN" altLang="en-US" dirty="0" smtClean="0"/>
              <a:t>第一种优化分类方法（与机器有关否）：</a:t>
            </a:r>
            <a:endParaRPr lang="zh-CN" altLang="en-US" dirty="0"/>
          </a:p>
        </p:txBody>
      </p:sp>
      <p:sp>
        <p:nvSpPr>
          <p:cNvPr id="13" name="灯片编号占位符 1"/>
          <p:cNvSpPr txBox="1">
            <a:spLocks/>
          </p:cNvSpPr>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仿宋_GB2312" panose="02010609030101010101" pitchFamily="49"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仿宋_GB2312" panose="02010609030101010101" pitchFamily="49"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仿宋_GB2312" panose="02010609030101010101" pitchFamily="49"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仿宋_GB2312" panose="02010609030101010101" pitchFamily="49"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仿宋_GB2312" panose="02010609030101010101" pitchFamily="49"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仿宋_GB2312" panose="02010609030101010101" pitchFamily="49"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仿宋_GB2312" panose="02010609030101010101" pitchFamily="49"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仿宋_GB2312" panose="02010609030101010101" pitchFamily="49"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仿宋_GB2312" panose="02010609030101010101" pitchFamily="49" charset="-122"/>
                <a:cs typeface="+mn-cs"/>
              </a:defRPr>
            </a:lvl9pPr>
          </a:lstStyle>
          <a:p>
            <a:pPr>
              <a:spcBef>
                <a:spcPct val="0"/>
              </a:spcBef>
              <a:buFontTx/>
              <a:buNone/>
            </a:pPr>
            <a:fld id="{41B78ED4-816F-4138-8AD8-FF3CB639E491}" type="slidenum">
              <a:rPr lang="en-US" altLang="zh-CN" sz="1400" smtClean="0"/>
              <a:pPr>
                <a:spcBef>
                  <a:spcPct val="0"/>
                </a:spcBef>
                <a:buFontTx/>
                <a:buNone/>
              </a:pPr>
              <a:t>37</a:t>
            </a:fld>
            <a:endParaRPr lang="en-US" altLang="zh-CN" sz="1400" smtClean="0"/>
          </a:p>
        </p:txBody>
      </p:sp>
      <p:grpSp>
        <p:nvGrpSpPr>
          <p:cNvPr id="4" name="组合 3"/>
          <p:cNvGrpSpPr/>
          <p:nvPr/>
        </p:nvGrpSpPr>
        <p:grpSpPr>
          <a:xfrm>
            <a:off x="313075" y="2132856"/>
            <a:ext cx="8374439" cy="4031898"/>
            <a:chOff x="112713" y="788988"/>
            <a:chExt cx="9123362" cy="5527675"/>
          </a:xfrm>
        </p:grpSpPr>
        <p:grpSp>
          <p:nvGrpSpPr>
            <p:cNvPr id="15" name="Group 13"/>
            <p:cNvGrpSpPr>
              <a:grpSpLocks/>
            </p:cNvGrpSpPr>
            <p:nvPr/>
          </p:nvGrpSpPr>
          <p:grpSpPr bwMode="auto">
            <a:xfrm>
              <a:off x="2627313" y="788988"/>
              <a:ext cx="6608762" cy="5527675"/>
              <a:chOff x="1655" y="497"/>
              <a:chExt cx="4163" cy="3482"/>
            </a:xfrm>
          </p:grpSpPr>
          <p:grpSp>
            <p:nvGrpSpPr>
              <p:cNvPr id="16" name="Group 12"/>
              <p:cNvGrpSpPr>
                <a:grpSpLocks/>
              </p:cNvGrpSpPr>
              <p:nvPr/>
            </p:nvGrpSpPr>
            <p:grpSpPr bwMode="auto">
              <a:xfrm>
                <a:off x="1655" y="497"/>
                <a:ext cx="4163" cy="3482"/>
                <a:chOff x="1655" y="497"/>
                <a:chExt cx="4163" cy="3482"/>
              </a:xfrm>
            </p:grpSpPr>
            <p:sp>
              <p:nvSpPr>
                <p:cNvPr id="19" name="AutoShape 4"/>
                <p:cNvSpPr>
                  <a:spLocks/>
                </p:cNvSpPr>
                <p:nvPr/>
              </p:nvSpPr>
              <p:spPr bwMode="auto">
                <a:xfrm>
                  <a:off x="1655" y="621"/>
                  <a:ext cx="140" cy="2860"/>
                </a:xfrm>
                <a:prstGeom prst="leftBrace">
                  <a:avLst>
                    <a:gd name="adj1" fmla="val 203038"/>
                    <a:gd name="adj2" fmla="val 50000"/>
                  </a:avLst>
                </a:prstGeom>
                <a:noFill/>
                <a:ln w="19050">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a:spcBef>
                      <a:spcPct val="0"/>
                    </a:spcBef>
                    <a:buFontTx/>
                    <a:buNone/>
                  </a:pPr>
                  <a:endParaRPr lang="zh-CN" altLang="en-US" sz="1600">
                    <a:ea typeface="楷体_GB2312" panose="02010609030101010101" pitchFamily="49" charset="-122"/>
                  </a:endParaRPr>
                </a:p>
              </p:txBody>
            </p:sp>
            <p:sp>
              <p:nvSpPr>
                <p:cNvPr id="20" name="Rectangle 5"/>
                <p:cNvSpPr>
                  <a:spLocks noChangeArrowheads="1"/>
                </p:cNvSpPr>
                <p:nvPr/>
              </p:nvSpPr>
              <p:spPr bwMode="auto">
                <a:xfrm>
                  <a:off x="1795" y="497"/>
                  <a:ext cx="4023" cy="3482"/>
                </a:xfrm>
                <a:prstGeom prst="rect">
                  <a:avLst/>
                </a:prstGeom>
                <a:solidFill>
                  <a:srgbClr val="FFFF99"/>
                </a:solidFill>
                <a:ln>
                  <a:noFill/>
                </a:ln>
                <a:effectLst>
                  <a:outerShdw dist="107763" dir="2700000" algn="ctr" rotWithShape="0">
                    <a:srgbClr val="777777"/>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eaLnBrk="1" hangingPunct="1">
                    <a:spcBef>
                      <a:spcPct val="50000"/>
                    </a:spcBef>
                    <a:buFontTx/>
                    <a:buNone/>
                  </a:pPr>
                  <a:r>
                    <a:rPr lang="zh-CN" altLang="en-US" sz="1600" b="1" dirty="0">
                      <a:ea typeface="楷体_GB2312" panose="02010609030101010101" pitchFamily="49" charset="-122"/>
                    </a:rPr>
                    <a:t>局部优化</a:t>
                  </a:r>
                  <a:r>
                    <a:rPr lang="en-US" altLang="zh-CN" sz="1600" b="1" dirty="0">
                      <a:ea typeface="楷体_GB2312" panose="02010609030101010101" pitchFamily="49" charset="-122"/>
                      <a:sym typeface="Wingdings" panose="05000000000000000000" pitchFamily="2" charset="2"/>
                    </a:rPr>
                    <a:t>: </a:t>
                  </a:r>
                  <a:r>
                    <a:rPr lang="zh-CN" altLang="en-US" sz="1600" b="1" dirty="0">
                      <a:ea typeface="楷体_GB2312" panose="02010609030101010101" pitchFamily="49" charset="-122"/>
                      <a:sym typeface="Wingdings" panose="05000000000000000000" pitchFamily="2" charset="2"/>
                    </a:rPr>
                    <a:t>（一个入口，一个出口，线性）</a:t>
                  </a:r>
                  <a:r>
                    <a:rPr lang="en-US" altLang="zh-CN" sz="1600" b="1" dirty="0">
                      <a:ea typeface="楷体_GB2312" panose="02010609030101010101" pitchFamily="49" charset="-122"/>
                      <a:sym typeface="Wingdings" panose="05000000000000000000" pitchFamily="2" charset="2"/>
                    </a:rPr>
                    <a:t>——</a:t>
                  </a:r>
                  <a:r>
                    <a:rPr lang="zh-CN" altLang="en-US" sz="1600" b="1" dirty="0">
                      <a:ea typeface="楷体_GB2312" panose="02010609030101010101" pitchFamily="49" charset="-122"/>
                    </a:rPr>
                    <a:t>基本块</a:t>
                  </a:r>
                </a:p>
                <a:p>
                  <a:pPr eaLnBrk="1" hangingPunct="1">
                    <a:spcBef>
                      <a:spcPct val="50000"/>
                    </a:spcBef>
                    <a:buFontTx/>
                    <a:buNone/>
                  </a:pPr>
                  <a:r>
                    <a:rPr lang="zh-CN" altLang="en-US" sz="1600" b="1" dirty="0">
                      <a:ea typeface="楷体_GB2312" panose="02010609030101010101" pitchFamily="49" charset="-122"/>
                    </a:rPr>
                    <a:t>                    方法：常数合并</a:t>
                  </a:r>
                </a:p>
                <a:p>
                  <a:pPr eaLnBrk="1" hangingPunct="1">
                    <a:spcBef>
                      <a:spcPct val="50000"/>
                    </a:spcBef>
                    <a:buFontTx/>
                    <a:buNone/>
                  </a:pPr>
                  <a:r>
                    <a:rPr lang="zh-CN" altLang="en-US" sz="1600" b="1" dirty="0">
                      <a:ea typeface="楷体_GB2312" panose="02010609030101010101" pitchFamily="49" charset="-122"/>
                    </a:rPr>
                    <a:t>                                冗余子表达式的削除等</a:t>
                  </a:r>
                </a:p>
                <a:p>
                  <a:pPr eaLnBrk="1" hangingPunct="1">
                    <a:spcBef>
                      <a:spcPct val="50000"/>
                    </a:spcBef>
                    <a:buFontTx/>
                    <a:buNone/>
                  </a:pPr>
                  <a:r>
                    <a:rPr lang="zh-CN" altLang="en-US" sz="1600" b="1" dirty="0">
                      <a:ea typeface="楷体_GB2312" panose="02010609030101010101" pitchFamily="49" charset="-122"/>
                    </a:rPr>
                    <a:t>循环优化：对循环语句所生成的中间代码序列上所进行</a:t>
                  </a:r>
                  <a:r>
                    <a:rPr lang="zh-CN" altLang="en-US" sz="1600" b="1" dirty="0" smtClean="0">
                      <a:ea typeface="楷体_GB2312" panose="02010609030101010101" pitchFamily="49" charset="-122"/>
                    </a:rPr>
                    <a:t>的优化</a:t>
                  </a:r>
                  <a:endParaRPr lang="zh-CN" altLang="en-US" sz="1600" b="1" dirty="0">
                    <a:ea typeface="楷体_GB2312" panose="02010609030101010101" pitchFamily="49" charset="-122"/>
                  </a:endParaRPr>
                </a:p>
                <a:p>
                  <a:pPr eaLnBrk="1" hangingPunct="1">
                    <a:spcBef>
                      <a:spcPct val="50000"/>
                    </a:spcBef>
                    <a:buFontTx/>
                    <a:buNone/>
                  </a:pPr>
                  <a:r>
                    <a:rPr lang="zh-CN" altLang="en-US" sz="1600" b="1" dirty="0">
                      <a:ea typeface="楷体_GB2312" panose="02010609030101010101" pitchFamily="49" charset="-122"/>
                    </a:rPr>
                    <a:t>                     方法：循环展开</a:t>
                  </a:r>
                </a:p>
                <a:p>
                  <a:pPr eaLnBrk="1" hangingPunct="1">
                    <a:spcBef>
                      <a:spcPct val="50000"/>
                    </a:spcBef>
                    <a:buFontTx/>
                    <a:buNone/>
                  </a:pPr>
                  <a:r>
                    <a:rPr lang="zh-CN" altLang="en-US" sz="1600" b="1" dirty="0">
                      <a:ea typeface="楷体_GB2312" panose="02010609030101010101" pitchFamily="49" charset="-122"/>
                    </a:rPr>
                    <a:t>                                 频度削弱</a:t>
                  </a:r>
                </a:p>
                <a:p>
                  <a:pPr eaLnBrk="1" hangingPunct="1">
                    <a:spcBef>
                      <a:spcPct val="50000"/>
                    </a:spcBef>
                    <a:buFontTx/>
                    <a:buNone/>
                  </a:pPr>
                  <a:r>
                    <a:rPr lang="zh-CN" altLang="en-US" sz="1600" b="1" dirty="0" smtClean="0">
                      <a:ea typeface="楷体_GB2312" panose="02010609030101010101" pitchFamily="49" charset="-122"/>
                    </a:rPr>
                    <a:t>                                 </a:t>
                  </a:r>
                  <a:r>
                    <a:rPr lang="zh-CN" altLang="en-US" sz="1600" b="1" dirty="0">
                      <a:ea typeface="楷体_GB2312" panose="02010609030101010101" pitchFamily="49" charset="-122"/>
                    </a:rPr>
                    <a:t>循环不变表达式的外提</a:t>
                  </a:r>
                </a:p>
                <a:p>
                  <a:pPr eaLnBrk="1" hangingPunct="1">
                    <a:spcBef>
                      <a:spcPct val="50000"/>
                    </a:spcBef>
                    <a:buFontTx/>
                    <a:buNone/>
                  </a:pPr>
                  <a:r>
                    <a:rPr lang="zh-CN" altLang="en-US" sz="1600" b="1" dirty="0">
                      <a:ea typeface="楷体_GB2312" panose="02010609030101010101" pitchFamily="49" charset="-122"/>
                    </a:rPr>
                    <a:t>                                 强度削弱</a:t>
                  </a:r>
                </a:p>
                <a:p>
                  <a:pPr eaLnBrk="1" hangingPunct="1">
                    <a:spcBef>
                      <a:spcPct val="50000"/>
                    </a:spcBef>
                    <a:buFontTx/>
                    <a:buNone/>
                  </a:pPr>
                  <a:r>
                    <a:rPr lang="zh-CN" altLang="en-US" sz="1600" b="1" dirty="0">
                      <a:ea typeface="楷体_GB2312" panose="02010609030101010101" pitchFamily="49" charset="-122"/>
                    </a:rPr>
                    <a:t>全局优化：顾名思义，跨越多个基本块的全局范围内的</a:t>
                  </a:r>
                  <a:r>
                    <a:rPr lang="zh-CN" altLang="en-US" sz="1600" b="1" dirty="0" smtClean="0">
                      <a:ea typeface="楷体_GB2312" panose="02010609030101010101" pitchFamily="49" charset="-122"/>
                    </a:rPr>
                    <a:t>优化。</a:t>
                  </a:r>
                  <a:endParaRPr lang="en-US" altLang="zh-CN" sz="1600" b="1" dirty="0" smtClean="0">
                    <a:ea typeface="楷体_GB2312" panose="02010609030101010101" pitchFamily="49" charset="-122"/>
                  </a:endParaRPr>
                </a:p>
                <a:p>
                  <a:pPr eaLnBrk="1" hangingPunct="1">
                    <a:spcBef>
                      <a:spcPct val="50000"/>
                    </a:spcBef>
                    <a:buFontTx/>
                    <a:buNone/>
                  </a:pPr>
                  <a:r>
                    <a:rPr lang="en-US" altLang="zh-CN" sz="1600" b="1" dirty="0">
                      <a:ea typeface="楷体_GB2312" panose="02010609030101010101" pitchFamily="49" charset="-122"/>
                    </a:rPr>
                    <a:t>	 </a:t>
                  </a:r>
                  <a:r>
                    <a:rPr lang="zh-CN" altLang="en-US" sz="1600" b="1" dirty="0" smtClean="0">
                      <a:ea typeface="楷体_GB2312" panose="02010609030101010101" pitchFamily="49" charset="-122"/>
                    </a:rPr>
                    <a:t>因此</a:t>
                  </a:r>
                  <a:r>
                    <a:rPr lang="zh-CN" altLang="en-US" sz="1600" b="1" dirty="0">
                      <a:ea typeface="楷体_GB2312" panose="02010609030101010101" pitchFamily="49" charset="-122"/>
                    </a:rPr>
                    <a:t>它是在非线性程序段上（包括多个</a:t>
                  </a:r>
                  <a:r>
                    <a:rPr lang="zh-CN" altLang="en-US" sz="1600" b="1" dirty="0" smtClean="0">
                      <a:ea typeface="楷体_GB2312" panose="02010609030101010101" pitchFamily="49" charset="-122"/>
                    </a:rPr>
                    <a:t>基本</a:t>
                  </a:r>
                  <a:r>
                    <a:rPr lang="zh-CN" altLang="en-US" sz="1600" b="1" dirty="0">
                      <a:ea typeface="楷体_GB2312" panose="02010609030101010101" pitchFamily="49" charset="-122"/>
                    </a:rPr>
                    <a:t>块</a:t>
                  </a:r>
                  <a:r>
                    <a:rPr lang="en-US" altLang="zh-CN" sz="1600" b="1" dirty="0" smtClean="0">
                      <a:ea typeface="楷体_GB2312" panose="02010609030101010101" pitchFamily="49" charset="-122"/>
                    </a:rPr>
                    <a:t>,</a:t>
                  </a:r>
                </a:p>
                <a:p>
                  <a:pPr eaLnBrk="1" hangingPunct="1">
                    <a:spcBef>
                      <a:spcPct val="50000"/>
                    </a:spcBef>
                    <a:buFontTx/>
                    <a:buNone/>
                  </a:pPr>
                  <a:r>
                    <a:rPr lang="en-US" altLang="zh-CN" sz="1600" b="1" dirty="0">
                      <a:ea typeface="楷体_GB2312" panose="02010609030101010101" pitchFamily="49" charset="-122"/>
                    </a:rPr>
                    <a:t> </a:t>
                  </a:r>
                  <a:r>
                    <a:rPr lang="en-US" altLang="zh-CN" sz="1600" b="1" dirty="0" smtClean="0">
                      <a:ea typeface="楷体_GB2312" panose="02010609030101010101" pitchFamily="49" charset="-122"/>
                    </a:rPr>
                    <a:t>                  </a:t>
                  </a:r>
                  <a:r>
                    <a:rPr lang="en-US" altLang="zh-CN" sz="1600" b="1" dirty="0">
                      <a:ea typeface="楷体_GB2312" panose="02010609030101010101" pitchFamily="49" charset="-122"/>
                    </a:rPr>
                    <a:t>GOTO</a:t>
                  </a:r>
                  <a:r>
                    <a:rPr lang="zh-CN" altLang="en-US" sz="1600" b="1" dirty="0">
                      <a:ea typeface="楷体_GB2312" panose="02010609030101010101" pitchFamily="49" charset="-122"/>
                    </a:rPr>
                    <a:t>循环）的优化。</a:t>
                  </a:r>
                </a:p>
              </p:txBody>
            </p:sp>
          </p:grpSp>
          <p:sp>
            <p:nvSpPr>
              <p:cNvPr id="17" name="AutoShape 6"/>
              <p:cNvSpPr>
                <a:spLocks/>
              </p:cNvSpPr>
              <p:nvPr/>
            </p:nvSpPr>
            <p:spPr bwMode="auto">
              <a:xfrm>
                <a:off x="2907" y="934"/>
                <a:ext cx="37" cy="309"/>
              </a:xfrm>
              <a:prstGeom prst="leftBrace">
                <a:avLst>
                  <a:gd name="adj1" fmla="val 68919"/>
                  <a:gd name="adj2" fmla="val 50000"/>
                </a:avLst>
              </a:prstGeom>
              <a:solidFill>
                <a:srgbClr val="FFFF66"/>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a:spcBef>
                    <a:spcPct val="0"/>
                  </a:spcBef>
                  <a:buFontTx/>
                  <a:buNone/>
                </a:pPr>
                <a:endParaRPr lang="zh-CN" altLang="en-US" sz="1600">
                  <a:ea typeface="楷体_GB2312" panose="02010609030101010101" pitchFamily="49" charset="-122"/>
                </a:endParaRPr>
              </a:p>
            </p:txBody>
          </p:sp>
          <p:sp>
            <p:nvSpPr>
              <p:cNvPr id="18" name="AutoShape 7"/>
              <p:cNvSpPr>
                <a:spLocks/>
              </p:cNvSpPr>
              <p:nvPr/>
            </p:nvSpPr>
            <p:spPr bwMode="auto">
              <a:xfrm>
                <a:off x="2914" y="1865"/>
                <a:ext cx="80" cy="990"/>
              </a:xfrm>
              <a:prstGeom prst="leftBrace">
                <a:avLst>
                  <a:gd name="adj1" fmla="val 184649"/>
                  <a:gd name="adj2" fmla="val 50000"/>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a:spcBef>
                    <a:spcPct val="0"/>
                  </a:spcBef>
                  <a:buFontTx/>
                  <a:buNone/>
                </a:pPr>
                <a:endParaRPr lang="zh-CN" altLang="en-US" sz="1600">
                  <a:ea typeface="楷体_GB2312" panose="02010609030101010101" pitchFamily="49" charset="-122"/>
                </a:endParaRPr>
              </a:p>
            </p:txBody>
          </p:sp>
        </p:grpSp>
        <p:grpSp>
          <p:nvGrpSpPr>
            <p:cNvPr id="21" name="Group 11"/>
            <p:cNvGrpSpPr>
              <a:grpSpLocks/>
            </p:cNvGrpSpPr>
            <p:nvPr/>
          </p:nvGrpSpPr>
          <p:grpSpPr bwMode="auto">
            <a:xfrm>
              <a:off x="112713" y="1701800"/>
              <a:ext cx="2376487" cy="4319588"/>
              <a:chOff x="71" y="1072"/>
              <a:chExt cx="1497" cy="2721"/>
            </a:xfrm>
          </p:grpSpPr>
          <p:sp>
            <p:nvSpPr>
              <p:cNvPr id="22" name="Rectangle 3"/>
              <p:cNvSpPr>
                <a:spLocks noChangeArrowheads="1"/>
              </p:cNvSpPr>
              <p:nvPr/>
            </p:nvSpPr>
            <p:spPr bwMode="auto">
              <a:xfrm>
                <a:off x="71" y="1755"/>
                <a:ext cx="336" cy="1269"/>
              </a:xfrm>
              <a:prstGeom prst="rect">
                <a:avLst/>
              </a:prstGeom>
              <a:solidFill>
                <a:srgbClr val="CCFFFF"/>
              </a:solidFill>
              <a:ln>
                <a:noFill/>
              </a:ln>
              <a:effectLst>
                <a:outerShdw dist="107763" dir="2700000" algn="ctr" rotWithShape="0">
                  <a:srgbClr val="777777"/>
                </a:outerShdw>
              </a:effectLst>
              <a:extLst>
                <a:ext uri="{91240B29-F687-4F45-9708-019B960494DF}">
                  <a14:hiddenLine xmlns:a14="http://schemas.microsoft.com/office/drawing/2010/main" w="9525">
                    <a:solidFill>
                      <a:schemeClr val="tx1"/>
                    </a:solidFill>
                    <a:miter lim="800000"/>
                    <a:headEnd/>
                    <a:tailEnd/>
                  </a14:hiddenLine>
                </a:ext>
              </a:extLst>
            </p:spPr>
            <p:txBody>
              <a:bodyPr lIns="36000" rIns="36000" anchor="ct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algn="ctr" eaLnBrk="1" hangingPunct="1">
                  <a:spcBef>
                    <a:spcPct val="0"/>
                  </a:spcBef>
                  <a:buFontTx/>
                  <a:buNone/>
                </a:pPr>
                <a:r>
                  <a:rPr lang="zh-CN" altLang="en-US" sz="1600" b="1">
                    <a:ea typeface="楷体_GB2312" panose="02010609030101010101" pitchFamily="49" charset="-122"/>
                  </a:rPr>
                  <a:t>优化</a:t>
                </a:r>
              </a:p>
              <a:p>
                <a:pPr algn="ctr" eaLnBrk="1" hangingPunct="1">
                  <a:spcBef>
                    <a:spcPct val="0"/>
                  </a:spcBef>
                  <a:buFontTx/>
                  <a:buNone/>
                </a:pPr>
                <a:r>
                  <a:rPr lang="zh-CN" altLang="en-US" sz="1600" b="1">
                    <a:ea typeface="楷体_GB2312" panose="02010609030101010101" pitchFamily="49" charset="-122"/>
                  </a:rPr>
                  <a:t>分为</a:t>
                </a:r>
              </a:p>
              <a:p>
                <a:pPr algn="ctr" eaLnBrk="1" hangingPunct="1">
                  <a:spcBef>
                    <a:spcPct val="0"/>
                  </a:spcBef>
                  <a:buFontTx/>
                  <a:buNone/>
                </a:pPr>
                <a:r>
                  <a:rPr lang="zh-CN" altLang="en-US" sz="1600" b="1">
                    <a:ea typeface="楷体_GB2312" panose="02010609030101010101" pitchFamily="49" charset="-122"/>
                  </a:rPr>
                  <a:t>两大</a:t>
                </a:r>
              </a:p>
              <a:p>
                <a:pPr algn="ctr" eaLnBrk="1" hangingPunct="1">
                  <a:spcBef>
                    <a:spcPct val="0"/>
                  </a:spcBef>
                  <a:buFontTx/>
                  <a:buNone/>
                </a:pPr>
                <a:r>
                  <a:rPr lang="zh-CN" altLang="en-US" sz="1600" b="1">
                    <a:ea typeface="楷体_GB2312" panose="02010609030101010101" pitchFamily="49" charset="-122"/>
                  </a:rPr>
                  <a:t>类</a:t>
                </a:r>
              </a:p>
            </p:txBody>
          </p:sp>
          <p:sp>
            <p:nvSpPr>
              <p:cNvPr id="23" name="Rectangle 8"/>
              <p:cNvSpPr>
                <a:spLocks noChangeArrowheads="1"/>
              </p:cNvSpPr>
              <p:nvPr/>
            </p:nvSpPr>
            <p:spPr bwMode="auto">
              <a:xfrm>
                <a:off x="591" y="1072"/>
                <a:ext cx="977" cy="1036"/>
              </a:xfrm>
              <a:prstGeom prst="rect">
                <a:avLst/>
              </a:prstGeom>
              <a:solidFill>
                <a:srgbClr val="CCFFFF"/>
              </a:solidFill>
              <a:ln>
                <a:noFill/>
              </a:ln>
              <a:effectLst>
                <a:outerShdw dist="107763" dir="2700000" algn="ctr" rotWithShape="0">
                  <a:srgbClr val="777777"/>
                </a:outerShdw>
              </a:effectLst>
              <a:extLst>
                <a:ext uri="{91240B29-F687-4F45-9708-019B960494DF}">
                  <a14:hiddenLine xmlns:a14="http://schemas.microsoft.com/office/drawing/2010/main" w="9525">
                    <a:solidFill>
                      <a:schemeClr val="tx1"/>
                    </a:solidFill>
                    <a:miter lim="800000"/>
                    <a:headEnd/>
                    <a:tailEnd/>
                  </a14:hiddenLine>
                </a:ext>
              </a:extLst>
            </p:spPr>
            <p:txBody>
              <a:bodyPr lIns="36000" rIns="36000" anchor="ct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eaLnBrk="1" hangingPunct="1">
                  <a:spcBef>
                    <a:spcPct val="0"/>
                  </a:spcBef>
                  <a:buFontTx/>
                  <a:buNone/>
                </a:pPr>
                <a:r>
                  <a:rPr lang="zh-CN" altLang="en-US" sz="1600" b="1">
                    <a:ea typeface="楷体_GB2312" panose="02010609030101010101" pitchFamily="49" charset="-122"/>
                  </a:rPr>
                  <a:t>与机器无关的优化，即独立于机器的（中间）代码优化</a:t>
                </a:r>
              </a:p>
            </p:txBody>
          </p:sp>
          <p:sp>
            <p:nvSpPr>
              <p:cNvPr id="24" name="Rectangle 9"/>
              <p:cNvSpPr>
                <a:spLocks noChangeArrowheads="1"/>
              </p:cNvSpPr>
              <p:nvPr/>
            </p:nvSpPr>
            <p:spPr bwMode="auto">
              <a:xfrm>
                <a:off x="591" y="2524"/>
                <a:ext cx="977" cy="1269"/>
              </a:xfrm>
              <a:prstGeom prst="rect">
                <a:avLst/>
              </a:prstGeom>
              <a:solidFill>
                <a:srgbClr val="CCFFFF"/>
              </a:solidFill>
              <a:ln>
                <a:noFill/>
              </a:ln>
              <a:effectLst>
                <a:outerShdw dist="107763" dir="2700000" algn="ctr" rotWithShape="0">
                  <a:srgbClr val="777777"/>
                </a:outerShdw>
              </a:effectLst>
              <a:extLst>
                <a:ext uri="{91240B29-F687-4F45-9708-019B960494DF}">
                  <a14:hiddenLine xmlns:a14="http://schemas.microsoft.com/office/drawing/2010/main" w="9525" algn="ctr">
                    <a:solidFill>
                      <a:schemeClr val="tx1"/>
                    </a:solidFill>
                    <a:miter lim="800000"/>
                    <a:headEnd/>
                    <a:tailEnd/>
                  </a14:hiddenLine>
                </a:ext>
              </a:extLst>
            </p:spPr>
            <p:txBody>
              <a:bodyPr lIns="36000" rIns="36000" anchor="ct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eaLnBrk="1" hangingPunct="1">
                  <a:spcBef>
                    <a:spcPct val="0"/>
                  </a:spcBef>
                  <a:buFontTx/>
                  <a:buNone/>
                </a:pPr>
                <a:r>
                  <a:rPr lang="zh-CN" altLang="en-US" sz="1600" b="1">
                    <a:ea typeface="楷体_GB2312" panose="02010609030101010101" pitchFamily="49" charset="-122"/>
                  </a:rPr>
                  <a:t>与机器有关的优化，即目标代码上的优化（与具体机器有关）</a:t>
                </a:r>
              </a:p>
            </p:txBody>
          </p:sp>
          <p:sp>
            <p:nvSpPr>
              <p:cNvPr id="25" name="AutoShape 10"/>
              <p:cNvSpPr>
                <a:spLocks/>
              </p:cNvSpPr>
              <p:nvPr/>
            </p:nvSpPr>
            <p:spPr bwMode="auto">
              <a:xfrm>
                <a:off x="476" y="1595"/>
                <a:ext cx="90" cy="1511"/>
              </a:xfrm>
              <a:prstGeom prst="leftBrace">
                <a:avLst>
                  <a:gd name="adj1" fmla="val 139907"/>
                  <a:gd name="adj2" fmla="val 50000"/>
                </a:avLst>
              </a:prstGeom>
              <a:noFill/>
              <a:ln w="19050">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har char="–"/>
                  <a:defRPr kumimoji="1" sz="2800">
                    <a:solidFill>
                      <a:schemeClr val="tx1"/>
                    </a:solidFill>
                    <a:latin typeface="Times New Roman" panose="02020603050405020304" pitchFamily="18" charset="0"/>
                    <a:ea typeface="仿宋_GB2312" panose="0201060903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仿宋_GB2312" panose="02010609030101010101" pitchFamily="49" charset="-122"/>
                  </a:defRPr>
                </a:lvl3pPr>
                <a:lvl4pPr marL="16002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4pPr>
                <a:lvl5pPr marL="2057400" indent="-228600">
                  <a:spcBef>
                    <a:spcPct val="20000"/>
                  </a:spcBef>
                  <a:buChar char="»"/>
                  <a:defRPr kumimoji="1" sz="2000">
                    <a:solidFill>
                      <a:schemeClr val="tx1"/>
                    </a:solidFill>
                    <a:latin typeface="Times New Roman" panose="02020603050405020304" pitchFamily="18" charset="0"/>
                    <a:ea typeface="仿宋_GB2312" panose="02010609030101010101" pitchFamily="49"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仿宋_GB2312" panose="02010609030101010101" pitchFamily="49" charset="-122"/>
                  </a:defRPr>
                </a:lvl9pPr>
              </a:lstStyle>
              <a:p>
                <a:pPr algn="ctr" eaLnBrk="1" hangingPunct="1">
                  <a:spcBef>
                    <a:spcPct val="0"/>
                  </a:spcBef>
                  <a:buFontTx/>
                  <a:buNone/>
                </a:pPr>
                <a:endParaRPr lang="zh-CN" altLang="zh-CN" sz="1600">
                  <a:solidFill>
                    <a:srgbClr val="FF00FF"/>
                  </a:solidFill>
                  <a:ea typeface="楷体_GB2312" panose="02010609030101010101" pitchFamily="49" charset="-122"/>
                </a:endParaRPr>
              </a:p>
            </p:txBody>
          </p:sp>
        </p:grpSp>
      </p:grpSp>
    </p:spTree>
    <p:extLst>
      <p:ext uri="{BB962C8B-B14F-4D97-AF65-F5344CB8AC3E}">
        <p14:creationId xmlns:p14="http://schemas.microsoft.com/office/powerpoint/2010/main" val="5734178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17588" y="609600"/>
            <a:ext cx="7154812" cy="685800"/>
          </a:xfrm>
        </p:spPr>
        <p:txBody>
          <a:bodyPr/>
          <a:lstStyle/>
          <a:p>
            <a:r>
              <a:rPr lang="zh-CN" altLang="en-US" sz="3600" dirty="0" smtClean="0"/>
              <a:t>第十一章  中间代码优化</a:t>
            </a:r>
            <a:endParaRPr lang="zh-CN" altLang="en-US" sz="3600" dirty="0"/>
          </a:p>
        </p:txBody>
      </p:sp>
      <p:sp>
        <p:nvSpPr>
          <p:cNvPr id="16388" name="灯片编号占位符 3"/>
          <p:cNvSpPr>
            <a:spLocks noGrp="1"/>
          </p:cNvSpPr>
          <p:nvPr>
            <p:ph type="sldNum" sz="quarter" idx="10"/>
          </p:nvPr>
        </p:nvSpPr>
        <p:spPr>
          <a:noFill/>
        </p:spPr>
        <p:txBody>
          <a:bodyPr/>
          <a:lstStyle>
            <a:lvl1pPr>
              <a:defRPr kumimoji="1" sz="2400">
                <a:solidFill>
                  <a:schemeClr val="tx1"/>
                </a:solidFill>
                <a:latin typeface="Times New Roman" panose="02020603050405020304" pitchFamily="18" charset="0"/>
                <a:ea typeface="楷体_GB2312" panose="02010609030101010101" pitchFamily="49" charset="-122"/>
              </a:defRPr>
            </a:lvl1pPr>
            <a:lvl2pPr marL="742950" indent="-285750">
              <a:defRPr kumimoji="1" sz="2400">
                <a:solidFill>
                  <a:schemeClr val="tx1"/>
                </a:solidFill>
                <a:latin typeface="Times New Roman" panose="02020603050405020304" pitchFamily="18" charset="0"/>
                <a:ea typeface="楷体_GB2312" panose="02010609030101010101" pitchFamily="49" charset="-122"/>
              </a:defRPr>
            </a:lvl2pPr>
            <a:lvl3pPr marL="1143000" indent="-228600">
              <a:defRPr kumimoji="1" sz="2400">
                <a:solidFill>
                  <a:schemeClr val="tx1"/>
                </a:solidFill>
                <a:latin typeface="Times New Roman" panose="02020603050405020304" pitchFamily="18" charset="0"/>
                <a:ea typeface="楷体_GB2312" panose="02010609030101010101" pitchFamily="49" charset="-122"/>
              </a:defRPr>
            </a:lvl3pPr>
            <a:lvl4pPr marL="1600200" indent="-228600">
              <a:defRPr kumimoji="1" sz="2400">
                <a:solidFill>
                  <a:schemeClr val="tx1"/>
                </a:solidFill>
                <a:latin typeface="Times New Roman" panose="02020603050405020304" pitchFamily="18" charset="0"/>
                <a:ea typeface="楷体_GB2312" panose="02010609030101010101" pitchFamily="49" charset="-122"/>
              </a:defRPr>
            </a:lvl4pPr>
            <a:lvl5pPr marL="2057400" indent="-228600">
              <a:defRPr kumimoji="1"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楷体_GB2312" panose="02010609030101010101" pitchFamily="49" charset="-122"/>
              </a:defRPr>
            </a:lvl9pPr>
          </a:lstStyle>
          <a:p>
            <a:fld id="{9EBEF95D-061C-483A-AB90-721C95A23463}" type="slidenum">
              <a:rPr lang="en-US" altLang="zh-CN" sz="1400" smtClean="0">
                <a:ea typeface="仿宋_GB2312" panose="02010609030101010101" pitchFamily="49" charset="-122"/>
              </a:rPr>
              <a:pPr/>
              <a:t>38</a:t>
            </a:fld>
            <a:endParaRPr lang="en-US" altLang="zh-CN" sz="1400" smtClean="0">
              <a:ea typeface="仿宋_GB2312" panose="02010609030101010101" pitchFamily="49" charset="-122"/>
            </a:endParaRPr>
          </a:p>
        </p:txBody>
      </p:sp>
      <p:sp>
        <p:nvSpPr>
          <p:cNvPr id="2" name="内容占位符 1"/>
          <p:cNvSpPr>
            <a:spLocks noGrp="1"/>
          </p:cNvSpPr>
          <p:nvPr>
            <p:ph idx="1"/>
          </p:nvPr>
        </p:nvSpPr>
        <p:spPr/>
        <p:txBody>
          <a:bodyPr/>
          <a:lstStyle/>
          <a:p>
            <a:r>
              <a:rPr lang="zh-CN" altLang="en-US" dirty="0" smtClean="0"/>
              <a:t>第二种优化分类方法</a:t>
            </a:r>
            <a:r>
              <a:rPr lang="en-US" altLang="zh-CN" dirty="0" smtClean="0"/>
              <a:t>(</a:t>
            </a:r>
            <a:r>
              <a:rPr lang="zh-CN" altLang="en-US" dirty="0" smtClean="0"/>
              <a:t>优化范围</a:t>
            </a:r>
            <a:r>
              <a:rPr lang="en-US" altLang="zh-CN" dirty="0" smtClean="0"/>
              <a:t>)</a:t>
            </a:r>
            <a:r>
              <a:rPr lang="zh-CN" altLang="en-US" dirty="0" smtClean="0"/>
              <a:t>：</a:t>
            </a:r>
            <a:endParaRPr lang="en-US" altLang="zh-CN" dirty="0" smtClean="0"/>
          </a:p>
          <a:p>
            <a:pPr eaLnBrk="1" hangingPunct="1">
              <a:lnSpc>
                <a:spcPct val="90000"/>
              </a:lnSpc>
              <a:spcAft>
                <a:spcPts val="600"/>
              </a:spcAft>
            </a:pPr>
            <a:r>
              <a:rPr lang="zh-CN" altLang="en-US" sz="2800" dirty="0">
                <a:solidFill>
                  <a:srgbClr val="3333CC"/>
                </a:solidFill>
                <a:latin typeface="楷体_GB2312" panose="02010609030101010101" pitchFamily="49" charset="-122"/>
                <a:ea typeface="楷体_GB2312" panose="02010609030101010101" pitchFamily="49" charset="-122"/>
              </a:rPr>
              <a:t>局部优化技术 </a:t>
            </a:r>
          </a:p>
          <a:p>
            <a:pPr lvl="1" eaLnBrk="1" hangingPunct="1">
              <a:lnSpc>
                <a:spcPct val="90000"/>
              </a:lnSpc>
              <a:buFont typeface="Wingdings" panose="05000000000000000000" pitchFamily="2" charset="2"/>
              <a:buChar char="Ø"/>
            </a:pPr>
            <a:r>
              <a:rPr lang="zh-CN" altLang="en-US" sz="2400" dirty="0">
                <a:latin typeface="楷体_GB2312" panose="02010609030101010101" pitchFamily="49" charset="-122"/>
                <a:ea typeface="楷体_GB2312" panose="02010609030101010101" pitchFamily="49" charset="-122"/>
              </a:rPr>
              <a:t>指在</a:t>
            </a:r>
            <a:r>
              <a:rPr lang="zh-CN" altLang="en-US" sz="2400" dirty="0">
                <a:solidFill>
                  <a:srgbClr val="C00000"/>
                </a:solidFill>
                <a:latin typeface="楷体_GB2312" panose="02010609030101010101" pitchFamily="49" charset="-122"/>
                <a:ea typeface="楷体_GB2312" panose="02010609030101010101" pitchFamily="49" charset="-122"/>
              </a:rPr>
              <a:t>基本块内</a:t>
            </a:r>
            <a:r>
              <a:rPr lang="zh-CN" altLang="en-US" sz="2400" dirty="0">
                <a:latin typeface="楷体_GB2312" panose="02010609030101010101" pitchFamily="49" charset="-122"/>
                <a:ea typeface="楷体_GB2312" panose="02010609030101010101" pitchFamily="49" charset="-122"/>
              </a:rPr>
              <a:t>进行的优化</a:t>
            </a:r>
          </a:p>
          <a:p>
            <a:pPr lvl="1" eaLnBrk="1" hangingPunct="1">
              <a:lnSpc>
                <a:spcPct val="90000"/>
              </a:lnSpc>
              <a:buFont typeface="Wingdings" panose="05000000000000000000" pitchFamily="2" charset="2"/>
              <a:buChar char="Ø"/>
            </a:pPr>
            <a:r>
              <a:rPr lang="zh-CN" altLang="en-US" sz="2400" dirty="0">
                <a:latin typeface="楷体_GB2312" panose="02010609030101010101" pitchFamily="49" charset="-122"/>
                <a:ea typeface="楷体_GB2312" panose="02010609030101010101" pitchFamily="49" charset="-122"/>
              </a:rPr>
              <a:t>例如</a:t>
            </a:r>
            <a:r>
              <a:rPr lang="zh-CN" altLang="en-US" sz="2400" dirty="0" smtClean="0">
                <a:latin typeface="楷体_GB2312" panose="02010609030101010101" pitchFamily="49" charset="-122"/>
                <a:ea typeface="楷体_GB2312" panose="02010609030101010101" pitchFamily="49" charset="-122"/>
              </a:rPr>
              <a:t>，代数变换、</a:t>
            </a:r>
            <a:r>
              <a:rPr lang="zh-CN" altLang="en-US" sz="2400" dirty="0">
                <a:solidFill>
                  <a:schemeClr val="accent2"/>
                </a:solidFill>
                <a:ea typeface="楷体_GB2312" panose="02010609030101010101" pitchFamily="49" charset="-122"/>
              </a:rPr>
              <a:t>复写</a:t>
            </a:r>
            <a:r>
              <a:rPr lang="en-US" altLang="zh-CN" sz="2400" dirty="0">
                <a:solidFill>
                  <a:schemeClr val="accent2"/>
                </a:solidFill>
                <a:ea typeface="楷体_GB2312" panose="02010609030101010101" pitchFamily="49" charset="-122"/>
              </a:rPr>
              <a:t>(copy)</a:t>
            </a:r>
            <a:r>
              <a:rPr lang="zh-CN" altLang="en-US" sz="2400" dirty="0" smtClean="0">
                <a:solidFill>
                  <a:schemeClr val="accent2"/>
                </a:solidFill>
                <a:ea typeface="楷体_GB2312" panose="02010609030101010101" pitchFamily="49" charset="-122"/>
              </a:rPr>
              <a:t>传播、</a:t>
            </a:r>
            <a:r>
              <a:rPr lang="zh-CN" altLang="en-US" sz="2400" dirty="0" smtClean="0">
                <a:solidFill>
                  <a:srgbClr val="3333FF"/>
                </a:solidFill>
                <a:ea typeface="楷体_GB2312" panose="02010609030101010101" pitchFamily="49" charset="-122"/>
              </a:rPr>
              <a:t>运算</a:t>
            </a:r>
            <a:r>
              <a:rPr lang="zh-CN" altLang="en-US" sz="2400" dirty="0">
                <a:solidFill>
                  <a:srgbClr val="3333FF"/>
                </a:solidFill>
                <a:ea typeface="楷体_GB2312" panose="02010609030101010101" pitchFamily="49" charset="-122"/>
              </a:rPr>
              <a:t>强度</a:t>
            </a:r>
            <a:r>
              <a:rPr lang="zh-CN" altLang="en-US" sz="2400" dirty="0" smtClean="0">
                <a:solidFill>
                  <a:srgbClr val="3333FF"/>
                </a:solidFill>
                <a:ea typeface="楷体_GB2312" panose="02010609030101010101" pitchFamily="49" charset="-122"/>
              </a:rPr>
              <a:t>削弱</a:t>
            </a:r>
            <a:r>
              <a:rPr lang="zh-CN" altLang="en-US" sz="2400" dirty="0">
                <a:latin typeface="楷体_GB2312" panose="02010609030101010101" pitchFamily="49" charset="-122"/>
                <a:ea typeface="楷体_GB2312" panose="02010609030101010101" pitchFamily="49" charset="-122"/>
              </a:rPr>
              <a:t>删除</a:t>
            </a:r>
            <a:r>
              <a:rPr lang="zh-CN" altLang="en-US" sz="2400" dirty="0" smtClean="0">
                <a:latin typeface="楷体_GB2312" panose="02010609030101010101" pitchFamily="49" charset="-122"/>
                <a:ea typeface="楷体_GB2312" panose="02010609030101010101" pitchFamily="49" charset="-122"/>
              </a:rPr>
              <a:t>局部</a:t>
            </a:r>
            <a:r>
              <a:rPr lang="zh-CN" altLang="en-US" sz="2400" dirty="0">
                <a:latin typeface="楷体_GB2312" panose="02010609030101010101" pitchFamily="49" charset="-122"/>
                <a:ea typeface="楷体_GB2312" panose="02010609030101010101" pitchFamily="49" charset="-122"/>
              </a:rPr>
              <a:t>公共子</a:t>
            </a:r>
            <a:r>
              <a:rPr lang="zh-CN" altLang="en-US" sz="2400" dirty="0" smtClean="0">
                <a:latin typeface="楷体_GB2312" panose="02010609030101010101" pitchFamily="49" charset="-122"/>
                <a:ea typeface="楷体_GB2312" panose="02010609030101010101" pitchFamily="49" charset="-122"/>
              </a:rPr>
              <a:t>表达式</a:t>
            </a:r>
            <a:r>
              <a:rPr lang="zh-CN" altLang="en-US" sz="2400" dirty="0">
                <a:solidFill>
                  <a:schemeClr val="accent2"/>
                </a:solidFill>
                <a:ea typeface="楷体_GB2312" panose="02010609030101010101" pitchFamily="49" charset="-122"/>
              </a:rPr>
              <a:t>删除冗余代码</a:t>
            </a: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spcAft>
                <a:spcPts val="600"/>
              </a:spcAft>
            </a:pPr>
            <a:r>
              <a:rPr lang="zh-CN" altLang="en-US" sz="2800" dirty="0">
                <a:solidFill>
                  <a:srgbClr val="3333CC"/>
                </a:solidFill>
                <a:latin typeface="楷体_GB2312" panose="02010609030101010101" pitchFamily="49" charset="-122"/>
                <a:ea typeface="楷体_GB2312" panose="02010609030101010101" pitchFamily="49" charset="-122"/>
              </a:rPr>
              <a:t>全局优化技术 </a:t>
            </a:r>
          </a:p>
          <a:p>
            <a:pPr lvl="1" eaLnBrk="1" hangingPunct="1">
              <a:lnSpc>
                <a:spcPct val="90000"/>
              </a:lnSpc>
              <a:buClr>
                <a:schemeClr val="tx1"/>
              </a:buClr>
              <a:buFont typeface="Wingdings" panose="05000000000000000000" pitchFamily="2" charset="2"/>
              <a:buChar char="Ø"/>
            </a:pPr>
            <a:r>
              <a:rPr lang="zh-CN" altLang="en-US" sz="2400" dirty="0">
                <a:solidFill>
                  <a:srgbClr val="C00000"/>
                </a:solidFill>
                <a:latin typeface="楷体_GB2312" panose="02010609030101010101" pitchFamily="49" charset="-122"/>
                <a:ea typeface="楷体_GB2312" panose="02010609030101010101" pitchFamily="49" charset="-122"/>
              </a:rPr>
              <a:t>函数</a:t>
            </a:r>
            <a:r>
              <a:rPr lang="en-US" altLang="zh-CN" sz="2400" dirty="0">
                <a:solidFill>
                  <a:srgbClr val="C00000"/>
                </a:solidFill>
                <a:latin typeface="楷体_GB2312" panose="02010609030101010101" pitchFamily="49" charset="-122"/>
                <a:ea typeface="楷体_GB2312" panose="02010609030101010101" pitchFamily="49" charset="-122"/>
              </a:rPr>
              <a:t>/</a:t>
            </a:r>
            <a:r>
              <a:rPr lang="zh-CN" altLang="en-US" sz="2400" dirty="0">
                <a:solidFill>
                  <a:srgbClr val="C00000"/>
                </a:solidFill>
                <a:latin typeface="楷体_GB2312" panose="02010609030101010101" pitchFamily="49" charset="-122"/>
                <a:ea typeface="楷体_GB2312" panose="02010609030101010101" pitchFamily="49" charset="-122"/>
              </a:rPr>
              <a:t>过程内</a:t>
            </a:r>
            <a:r>
              <a:rPr lang="zh-CN" altLang="en-US" sz="2400" dirty="0">
                <a:latin typeface="楷体_GB2312" panose="02010609030101010101" pitchFamily="49" charset="-122"/>
                <a:ea typeface="楷体_GB2312" panose="02010609030101010101" pitchFamily="49" charset="-122"/>
              </a:rPr>
              <a:t>进行的优化</a:t>
            </a:r>
            <a:endParaRPr lang="zh-CN" altLang="en-US" sz="2400" dirty="0">
              <a:solidFill>
                <a:srgbClr val="C00000"/>
              </a:solidFill>
              <a:latin typeface="楷体_GB2312" panose="02010609030101010101" pitchFamily="49" charset="-122"/>
              <a:ea typeface="楷体_GB2312" panose="02010609030101010101" pitchFamily="49" charset="-122"/>
            </a:endParaRPr>
          </a:p>
          <a:p>
            <a:pPr lvl="1" eaLnBrk="1" hangingPunct="1">
              <a:lnSpc>
                <a:spcPct val="90000"/>
              </a:lnSpc>
              <a:buFont typeface="Wingdings" panose="05000000000000000000" pitchFamily="2" charset="2"/>
              <a:buChar char="Ø"/>
            </a:pPr>
            <a:r>
              <a:rPr lang="zh-CN" altLang="en-US" sz="2400" dirty="0">
                <a:latin typeface="楷体_GB2312" panose="02010609030101010101" pitchFamily="49" charset="-122"/>
                <a:ea typeface="楷体_GB2312" panose="02010609030101010101" pitchFamily="49" charset="-122"/>
              </a:rPr>
              <a:t>跨越基本块</a:t>
            </a:r>
          </a:p>
          <a:p>
            <a:pPr lvl="1" eaLnBrk="1" hangingPunct="1">
              <a:lnSpc>
                <a:spcPct val="90000"/>
              </a:lnSpc>
              <a:buFont typeface="Wingdings" panose="05000000000000000000" pitchFamily="2" charset="2"/>
              <a:buChar char="Ø"/>
            </a:pPr>
            <a:r>
              <a:rPr lang="zh-CN" altLang="en-US" sz="2400" dirty="0">
                <a:latin typeface="楷体_GB2312" panose="02010609030101010101" pitchFamily="49" charset="-122"/>
                <a:ea typeface="楷体_GB2312" panose="02010609030101010101" pitchFamily="49" charset="-122"/>
              </a:rPr>
              <a:t>例如，全局数据流分析</a:t>
            </a:r>
          </a:p>
          <a:p>
            <a:pPr eaLnBrk="1" hangingPunct="1">
              <a:lnSpc>
                <a:spcPct val="90000"/>
              </a:lnSpc>
              <a:spcAft>
                <a:spcPts val="600"/>
              </a:spcAft>
            </a:pPr>
            <a:r>
              <a:rPr lang="zh-CN" altLang="en-US" sz="2800" dirty="0">
                <a:solidFill>
                  <a:srgbClr val="3333CC"/>
                </a:solidFill>
                <a:latin typeface="楷体_GB2312" panose="02010609030101010101" pitchFamily="49" charset="-122"/>
                <a:ea typeface="楷体_GB2312" panose="02010609030101010101" pitchFamily="49" charset="-122"/>
              </a:rPr>
              <a:t>跨函数优化技术 </a:t>
            </a:r>
          </a:p>
          <a:p>
            <a:pPr lvl="1" eaLnBrk="1" hangingPunct="1">
              <a:lnSpc>
                <a:spcPct val="90000"/>
              </a:lnSpc>
              <a:buFont typeface="Wingdings" panose="05000000000000000000" pitchFamily="2" charset="2"/>
              <a:buChar char="Ø"/>
            </a:pPr>
            <a:r>
              <a:rPr lang="zh-CN" altLang="en-US" sz="2400" dirty="0">
                <a:latin typeface="楷体_GB2312" panose="02010609030101010101" pitchFamily="49" charset="-122"/>
                <a:ea typeface="楷体_GB2312" panose="02010609030101010101" pitchFamily="49" charset="-122"/>
              </a:rPr>
              <a:t>整个</a:t>
            </a:r>
            <a:r>
              <a:rPr lang="zh-CN" altLang="en-US" sz="2400" dirty="0" smtClean="0">
                <a:latin typeface="楷体_GB2312" panose="02010609030101010101" pitchFamily="49" charset="-122"/>
                <a:ea typeface="楷体_GB2312" panose="02010609030101010101" pitchFamily="49" charset="-122"/>
              </a:rPr>
              <a:t>程序。例如</a:t>
            </a:r>
            <a:r>
              <a:rPr lang="zh-CN" altLang="en-US" sz="2400" dirty="0">
                <a:latin typeface="楷体_GB2312" panose="02010609030101010101" pitchFamily="49" charset="-122"/>
                <a:ea typeface="楷体_GB2312" panose="02010609030101010101" pitchFamily="49" charset="-122"/>
              </a:rPr>
              <a:t>，跨函数别名分析，逃逸分析等</a:t>
            </a:r>
          </a:p>
          <a:p>
            <a:endParaRPr lang="zh-CN" altLang="en-US" dirty="0"/>
          </a:p>
        </p:txBody>
      </p:sp>
    </p:spTree>
    <p:extLst>
      <p:ext uri="{BB962C8B-B14F-4D97-AF65-F5344CB8AC3E}">
        <p14:creationId xmlns:p14="http://schemas.microsoft.com/office/powerpoint/2010/main" val="8044680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type="body" idx="4294967295"/>
          </p:nvPr>
        </p:nvSpPr>
        <p:spPr bwMode="auto">
          <a:xfrm>
            <a:off x="179388" y="1557338"/>
            <a:ext cx="8258175" cy="502906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66700" indent="-266700" eaLnBrk="1" hangingPunct="1"/>
            <a:r>
              <a:rPr lang="en-US" altLang="zh-CN" sz="28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DAG</a:t>
            </a:r>
            <a:r>
              <a:rPr lang="zh-CN" altLang="en-US" sz="28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图</a:t>
            </a:r>
          </a:p>
          <a:p>
            <a:pPr lvl="1" eaLnBrk="1" hangingPunct="1">
              <a:buFont typeface="Wingdings" panose="05000000000000000000" pitchFamily="2" charset="2"/>
              <a:buChar char="Ø"/>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作用：消除局部公共子表达式</a:t>
            </a:r>
          </a:p>
          <a:p>
            <a:pPr lvl="1" eaLnBrk="1" hangingPunct="1">
              <a:buFont typeface="Wingdings" panose="05000000000000000000" pitchFamily="2" charset="2"/>
              <a:buChar char="Ø"/>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从</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DAG</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图导出中间代码的启发式算法</a:t>
            </a:r>
          </a:p>
          <a:p>
            <a:pPr marL="266700" indent="-266700" eaLnBrk="1" hangingPunct="1"/>
            <a:r>
              <a:rPr lang="zh-CN" altLang="en-US" sz="28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数据流分析</a:t>
            </a:r>
          </a:p>
          <a:p>
            <a:pPr lvl="1" eaLnBrk="1" hangingPunct="1">
              <a:buFont typeface="Wingdings" panose="05000000000000000000" pitchFamily="2" charset="2"/>
              <a:buChar char="Ø"/>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到达定义分析（先算</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gen</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kill</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集，然后用</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in</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算</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out</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990600" eaLnBrk="1" hangingPunct="1">
              <a:buFont typeface="Arial" panose="020B0604020202020204" pitchFamily="34" charset="0"/>
              <a:buNone/>
            </a:pPr>
            <a:r>
              <a:rPr lang="en-US" altLang="zh-CN" sz="2400" dirty="0">
                <a:solidFill>
                  <a:schemeClr val="accent2"/>
                </a:solidFill>
                <a:latin typeface="+mn-lt"/>
              </a:rPr>
              <a:t>in[B] = </a:t>
            </a:r>
            <a:r>
              <a:rPr lang="en-US" altLang="zh-CN" sz="2400" dirty="0">
                <a:solidFill>
                  <a:schemeClr val="accent2"/>
                </a:solidFill>
                <a:latin typeface="+mn-lt"/>
                <a:sym typeface="Symbol" panose="05050102010706020507" pitchFamily="18" charset="2"/>
              </a:rPr>
              <a:t>∪</a:t>
            </a:r>
            <a:r>
              <a:rPr lang="en-US" altLang="zh-CN" sz="2400" baseline="-25000" dirty="0">
                <a:solidFill>
                  <a:schemeClr val="accent2"/>
                </a:solidFill>
                <a:latin typeface="+mn-lt"/>
              </a:rPr>
              <a:t>B</a:t>
            </a:r>
            <a:r>
              <a:rPr lang="zh-CN" altLang="en-US" sz="2400" baseline="-25000" dirty="0">
                <a:solidFill>
                  <a:schemeClr val="accent2"/>
                </a:solidFill>
                <a:latin typeface="+mn-lt"/>
                <a:ea typeface="楷体_GB2312" panose="02010609030101010101" pitchFamily="49" charset="-122"/>
                <a:sym typeface="Symbol" panose="05050102010706020507" pitchFamily="18" charset="2"/>
              </a:rPr>
              <a:t>的前驱基本块</a:t>
            </a:r>
            <a:r>
              <a:rPr lang="en-US" altLang="zh-CN" sz="2400" baseline="-25000" dirty="0">
                <a:solidFill>
                  <a:schemeClr val="accent2"/>
                </a:solidFill>
                <a:latin typeface="+mn-lt"/>
                <a:sym typeface="Symbol" panose="05050102010706020507" pitchFamily="18" charset="2"/>
              </a:rPr>
              <a:t>P</a:t>
            </a:r>
            <a:r>
              <a:rPr lang="en-US" altLang="zh-CN" sz="2400" dirty="0">
                <a:solidFill>
                  <a:schemeClr val="accent2"/>
                </a:solidFill>
                <a:latin typeface="+mn-lt"/>
                <a:sym typeface="Symbol" panose="05050102010706020507" pitchFamily="18" charset="2"/>
              </a:rPr>
              <a:t>out[P]</a:t>
            </a:r>
          </a:p>
          <a:p>
            <a:pPr marL="990600" eaLnBrk="1" hangingPunct="1">
              <a:buFont typeface="Arial" panose="020B0604020202020204" pitchFamily="34" charset="0"/>
              <a:buNone/>
            </a:pPr>
            <a:r>
              <a:rPr lang="en-US" altLang="zh-CN" sz="2400" dirty="0">
                <a:solidFill>
                  <a:schemeClr val="accent2"/>
                </a:solidFill>
                <a:latin typeface="+mn-lt"/>
                <a:sym typeface="Symbol" panose="05050102010706020507" pitchFamily="18" charset="2"/>
              </a:rPr>
              <a:t>out[B] = gen[B]∪</a:t>
            </a:r>
            <a:r>
              <a:rPr lang="en-US" altLang="zh-CN" sz="2400" dirty="0">
                <a:solidFill>
                  <a:schemeClr val="accent2"/>
                </a:solidFill>
                <a:latin typeface="+mn-lt"/>
              </a:rPr>
              <a:t>( in[B] – kill[B] )</a:t>
            </a:r>
            <a:r>
              <a:rPr lang="en-US" altLang="zh-CN" sz="2400" dirty="0">
                <a:solidFill>
                  <a:schemeClr val="accent2"/>
                </a:solidFill>
                <a:latin typeface="+mn-lt"/>
                <a:sym typeface="Symbol" panose="05050102010706020507" pitchFamily="18" charset="2"/>
              </a:rPr>
              <a:t> </a:t>
            </a:r>
          </a:p>
          <a:p>
            <a:pPr lvl="1" eaLnBrk="1" hangingPunct="1">
              <a:buFont typeface="Wingdings" panose="05000000000000000000" pitchFamily="2" charset="2"/>
              <a:buChar char="Ø"/>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活跃变量分析（先算</a:t>
            </a:r>
            <a:r>
              <a:rPr lang="en-US" altLang="zh-CN" sz="2400" dirty="0" err="1" smtClean="0">
                <a:latin typeface="Times New Roman" panose="02020603050405020304" pitchFamily="18" charset="0"/>
                <a:ea typeface="楷体" panose="02010609060101010101" pitchFamily="49" charset="-122"/>
                <a:cs typeface="Times New Roman" panose="02020603050405020304" pitchFamily="18" charset="0"/>
              </a:rPr>
              <a:t>def</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use</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集，然后用</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out</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算</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in</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990600" eaLnBrk="1" hangingPunct="1">
              <a:buNone/>
            </a:pPr>
            <a:r>
              <a:rPr lang="en-US" altLang="zh-CN" sz="2400" dirty="0">
                <a:solidFill>
                  <a:schemeClr val="accent2"/>
                </a:solidFill>
                <a:latin typeface="+mn-lt"/>
                <a:sym typeface="Symbol" panose="05050102010706020507" pitchFamily="18" charset="2"/>
              </a:rPr>
              <a:t>out[B] = ∪ </a:t>
            </a:r>
            <a:r>
              <a:rPr lang="en-US" altLang="zh-CN" sz="2400" baseline="-25000" dirty="0">
                <a:solidFill>
                  <a:schemeClr val="accent2"/>
                </a:solidFill>
                <a:latin typeface="+mn-lt"/>
                <a:sym typeface="Symbol" panose="05050102010706020507" pitchFamily="18" charset="2"/>
              </a:rPr>
              <a:t>B</a:t>
            </a:r>
            <a:r>
              <a:rPr lang="zh-CN" altLang="en-US" sz="2400" baseline="-25000" dirty="0">
                <a:solidFill>
                  <a:schemeClr val="accent2"/>
                </a:solidFill>
                <a:latin typeface="楷体_GB2312" panose="02010609030101010101" pitchFamily="49" charset="-122"/>
                <a:ea typeface="楷体_GB2312" panose="02010609030101010101" pitchFamily="49" charset="-122"/>
                <a:sym typeface="Symbol" panose="05050102010706020507" pitchFamily="18" charset="2"/>
              </a:rPr>
              <a:t>的所有后继</a:t>
            </a:r>
            <a:r>
              <a:rPr lang="en-US" altLang="zh-CN" sz="2400" baseline="-25000" dirty="0">
                <a:solidFill>
                  <a:schemeClr val="accent2"/>
                </a:solidFill>
                <a:latin typeface="+mn-lt"/>
                <a:sym typeface="Symbol" panose="05050102010706020507" pitchFamily="18" charset="2"/>
              </a:rPr>
              <a:t>S </a:t>
            </a:r>
            <a:r>
              <a:rPr lang="en-US" altLang="zh-CN" sz="2400" dirty="0" smtClean="0">
                <a:solidFill>
                  <a:schemeClr val="accent2"/>
                </a:solidFill>
                <a:latin typeface="+mn-lt"/>
                <a:sym typeface="Symbol" panose="05050102010706020507" pitchFamily="18" charset="2"/>
              </a:rPr>
              <a:t>in[S]</a:t>
            </a:r>
          </a:p>
          <a:p>
            <a:pPr marL="990600" eaLnBrk="1" hangingPunct="1">
              <a:buNone/>
            </a:pPr>
            <a:r>
              <a:rPr lang="en-US" altLang="zh-CN" sz="2400" dirty="0" smtClean="0">
                <a:solidFill>
                  <a:schemeClr val="accent2"/>
                </a:solidFill>
                <a:latin typeface="+mn-lt"/>
                <a:sym typeface="Symbol" panose="05050102010706020507" pitchFamily="18" charset="2"/>
              </a:rPr>
              <a:t>in[B</a:t>
            </a:r>
            <a:r>
              <a:rPr lang="en-US" altLang="zh-CN" sz="2400" dirty="0">
                <a:solidFill>
                  <a:schemeClr val="accent2"/>
                </a:solidFill>
                <a:latin typeface="+mn-lt"/>
                <a:sym typeface="Symbol" panose="05050102010706020507" pitchFamily="18" charset="2"/>
              </a:rPr>
              <a:t>] = use[B] ∪(out[B] – </a:t>
            </a:r>
            <a:r>
              <a:rPr lang="en-US" altLang="zh-CN" sz="2400" dirty="0" err="1">
                <a:solidFill>
                  <a:schemeClr val="accent2"/>
                </a:solidFill>
                <a:latin typeface="+mn-lt"/>
                <a:sym typeface="Symbol" panose="05050102010706020507" pitchFamily="18" charset="2"/>
              </a:rPr>
              <a:t>def</a:t>
            </a:r>
            <a:r>
              <a:rPr lang="en-US" altLang="zh-CN" sz="2400" dirty="0">
                <a:solidFill>
                  <a:schemeClr val="accent2"/>
                </a:solidFill>
                <a:latin typeface="+mn-lt"/>
                <a:sym typeface="Symbol" panose="05050102010706020507" pitchFamily="18" charset="2"/>
              </a:rPr>
              <a:t>[B])</a:t>
            </a:r>
          </a:p>
          <a:p>
            <a:pPr lvl="1" eaLnBrk="1" hangingPunct="1">
              <a:buFont typeface="Wingdings" panose="05000000000000000000" pitchFamily="2" charset="2"/>
              <a:buChar char="Ø"/>
            </a:pPr>
            <a:endPar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标题 1"/>
          <p:cNvSpPr txBox="1">
            <a:spLocks/>
          </p:cNvSpPr>
          <p:nvPr/>
        </p:nvSpPr>
        <p:spPr>
          <a:xfrm>
            <a:off x="1017588" y="609600"/>
            <a:ext cx="7154812" cy="685800"/>
          </a:xfrm>
          <a:prstGeom prst="rect">
            <a:avLst/>
          </a:prstGeom>
        </p:spPr>
        <p:txBody>
          <a:bodyPr/>
          <a:lstStyle>
            <a:lvl1pPr algn="ctr" rtl="0" eaLnBrk="0" fontAlgn="base" hangingPunct="0">
              <a:spcBef>
                <a:spcPct val="0"/>
              </a:spcBef>
              <a:spcAft>
                <a:spcPct val="0"/>
              </a:spcAft>
              <a:defRPr kumimoji="1" sz="3200" b="1">
                <a:solidFill>
                  <a:schemeClr val="accent2"/>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5pPr>
            <a:lvl6pPr marL="4572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6pPr>
            <a:lvl7pPr marL="9144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7pPr>
            <a:lvl8pPr marL="13716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8pPr>
            <a:lvl9pPr marL="18288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9pPr>
          </a:lstStyle>
          <a:p>
            <a:r>
              <a:rPr lang="zh-CN" altLang="en-US" sz="3600" kern="0" smtClean="0"/>
              <a:t>第十一章  中间代码优化</a:t>
            </a:r>
            <a:endParaRPr lang="zh-CN" altLang="en-US" sz="3600" kern="0" dirty="0"/>
          </a:p>
        </p:txBody>
      </p:sp>
    </p:spTree>
    <p:extLst>
      <p:ext uri="{BB962C8B-B14F-4D97-AF65-F5344CB8AC3E}">
        <p14:creationId xmlns:p14="http://schemas.microsoft.com/office/powerpoint/2010/main" val="8182799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type="body" idx="4294967295"/>
          </p:nvPr>
        </p:nvSpPr>
        <p:spPr bwMode="auto">
          <a:xfrm>
            <a:off x="179388" y="1557338"/>
            <a:ext cx="8258175" cy="47336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66700" indent="-266700" eaLnBrk="1" hangingPunct="1"/>
            <a:r>
              <a:rPr lang="zh-CN" altLang="en-US" sz="2800" dirty="0">
                <a:solidFill>
                  <a:srgbClr val="FF0000"/>
                </a:solidFill>
                <a:ea typeface="楷体_GB2312" panose="02010609030101010101" pitchFamily="49" charset="-122"/>
              </a:rPr>
              <a:t>定义</a:t>
            </a:r>
            <a:r>
              <a:rPr lang="en-US" altLang="zh-CN" sz="2800" dirty="0">
                <a:solidFill>
                  <a:srgbClr val="FF0000"/>
                </a:solidFill>
                <a:ea typeface="楷体_GB2312" panose="02010609030101010101" pitchFamily="49" charset="-122"/>
              </a:rPr>
              <a:t>-</a:t>
            </a:r>
            <a:r>
              <a:rPr lang="zh-CN" altLang="en-US" sz="2800" dirty="0">
                <a:solidFill>
                  <a:srgbClr val="FF0000"/>
                </a:solidFill>
                <a:ea typeface="楷体_GB2312" panose="02010609030101010101" pitchFamily="49" charset="-122"/>
              </a:rPr>
              <a:t>使用链、网和冲突</a:t>
            </a:r>
            <a:r>
              <a:rPr lang="zh-CN" altLang="en-US" sz="2800" dirty="0" smtClean="0">
                <a:solidFill>
                  <a:srgbClr val="FF0000"/>
                </a:solidFill>
                <a:ea typeface="楷体_GB2312" panose="02010609030101010101" pitchFamily="49" charset="-122"/>
              </a:rPr>
              <a:t>图</a:t>
            </a:r>
            <a:endParaRPr lang="en-US" altLang="zh-CN" sz="2800" dirty="0" smtClean="0">
              <a:solidFill>
                <a:srgbClr val="FF0000"/>
              </a:solidFill>
              <a:ea typeface="楷体_GB2312" panose="02010609030101010101" pitchFamily="49" charset="-122"/>
            </a:endParaRPr>
          </a:p>
          <a:p>
            <a:pPr marL="266700" indent="-266700" eaLnBrk="1" hangingPunct="1"/>
            <a:r>
              <a:rPr lang="en-US" altLang="zh-CN" sz="2800" dirty="0" err="1" smtClean="0">
                <a:latin typeface="Times New Roman" panose="02020603050405020304" pitchFamily="18" charset="0"/>
                <a:ea typeface="楷体_GB2312" panose="02010609030101010101" pitchFamily="49" charset="-122"/>
                <a:cs typeface="Times New Roman" panose="02020603050405020304" pitchFamily="18" charset="0"/>
              </a:rPr>
              <a:t>def</a:t>
            </a:r>
            <a:r>
              <a:rPr lang="en-US" altLang="zh-CN" sz="2800" dirty="0" smtClean="0">
                <a:latin typeface="Times New Roman" panose="02020603050405020304" pitchFamily="18" charset="0"/>
                <a:ea typeface="楷体_GB2312" panose="02010609030101010101" pitchFamily="49" charset="-122"/>
                <a:cs typeface="Times New Roman" panose="02020603050405020304" pitchFamily="18" charset="0"/>
              </a:rPr>
              <a:t>-use</a:t>
            </a:r>
            <a:r>
              <a:rPr lang="zh-CN" altLang="en-US" sz="2800" dirty="0" smtClean="0">
                <a:latin typeface="Times New Roman" panose="02020603050405020304" pitchFamily="18" charset="0"/>
                <a:ea typeface="楷体_GB2312" panose="02010609030101010101" pitchFamily="49" charset="-122"/>
                <a:cs typeface="Times New Roman" panose="02020603050405020304" pitchFamily="18" charset="0"/>
              </a:rPr>
              <a:t>链          网        冲突图</a:t>
            </a:r>
            <a:endParaRPr lang="en-US" altLang="zh-CN" sz="2800" dirty="0" smtClean="0">
              <a:latin typeface="Times New Roman" panose="02020603050405020304" pitchFamily="18" charset="0"/>
              <a:ea typeface="楷体_GB2312" panose="02010609030101010101" pitchFamily="49" charset="-122"/>
              <a:cs typeface="Times New Roman" panose="02020603050405020304" pitchFamily="18" charset="0"/>
            </a:endParaRPr>
          </a:p>
          <a:p>
            <a:pPr marL="266700" indent="-266700" eaLnBrk="1" hangingPunct="1"/>
            <a:endParaRPr lang="en-US" altLang="zh-CN" sz="2800"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endParaRPr>
          </a:p>
          <a:p>
            <a:pPr marL="266700" indent="-266700" eaLnBrk="1" hangingPunct="1"/>
            <a:r>
              <a:rPr lang="zh-CN" altLang="en-US" sz="2800" dirty="0">
                <a:solidFill>
                  <a:srgbClr val="FF0000"/>
                </a:solidFill>
                <a:ea typeface="楷体_GB2312" panose="02010609030101010101" pitchFamily="49" charset="-122"/>
              </a:rPr>
              <a:t>循环优化</a:t>
            </a:r>
          </a:p>
          <a:p>
            <a:pPr marL="533400" eaLnBrk="1" hangingPunct="1">
              <a:buFont typeface="Wingdings" panose="05000000000000000000" pitchFamily="2" charset="2"/>
              <a:buChar char="Ø"/>
            </a:pPr>
            <a:r>
              <a:rPr lang="zh-CN" altLang="en-US" sz="2400" dirty="0">
                <a:ea typeface="楷体_GB2312" panose="02010609030101010101" pitchFamily="49" charset="-122"/>
              </a:rPr>
              <a:t>循环不变式的代码外提 </a:t>
            </a:r>
            <a:endParaRPr lang="zh-CN" altLang="en-US" sz="2400" baseline="-25000" dirty="0">
              <a:ea typeface="楷体_GB2312" panose="02010609030101010101" pitchFamily="49" charset="-122"/>
            </a:endParaRPr>
          </a:p>
          <a:p>
            <a:pPr marL="533400" eaLnBrk="1" hangingPunct="1">
              <a:buFont typeface="Wingdings" panose="05000000000000000000" pitchFamily="2" charset="2"/>
              <a:buChar char="Ø"/>
            </a:pPr>
            <a:r>
              <a:rPr lang="zh-CN" altLang="en-US" sz="2400" dirty="0">
                <a:ea typeface="楷体_GB2312" panose="02010609030101010101" pitchFamily="49" charset="-122"/>
              </a:rPr>
              <a:t>循环展开</a:t>
            </a:r>
          </a:p>
          <a:p>
            <a:pPr marL="533400" eaLnBrk="1" hangingPunct="1">
              <a:buFont typeface="Wingdings" panose="05000000000000000000" pitchFamily="2" charset="2"/>
              <a:buChar char="Ø"/>
            </a:pPr>
            <a:r>
              <a:rPr lang="zh-CN" altLang="en-US" sz="2400" dirty="0">
                <a:ea typeface="楷体_GB2312" panose="02010609030101010101" pitchFamily="49" charset="-122"/>
              </a:rPr>
              <a:t>归纳变量的</a:t>
            </a:r>
            <a:r>
              <a:rPr lang="zh-CN" altLang="en-US" sz="2400" dirty="0" smtClean="0">
                <a:ea typeface="楷体_GB2312" panose="02010609030101010101" pitchFamily="49" charset="-122"/>
              </a:rPr>
              <a:t>优化</a:t>
            </a:r>
            <a:endParaRPr lang="en-US" altLang="zh-CN" sz="2400" dirty="0" smtClean="0">
              <a:ea typeface="楷体_GB2312" panose="02010609030101010101" pitchFamily="49" charset="-122"/>
            </a:endParaRPr>
          </a:p>
          <a:p>
            <a:pPr marL="533400" eaLnBrk="1" hangingPunct="1">
              <a:buFont typeface="Wingdings" panose="05000000000000000000" pitchFamily="2" charset="2"/>
              <a:buChar char="Ø"/>
            </a:pPr>
            <a:r>
              <a:rPr lang="zh-CN" altLang="en-US" sz="2400" dirty="0" smtClean="0">
                <a:ea typeface="楷体_GB2312" panose="02010609030101010101" pitchFamily="49" charset="-122"/>
              </a:rPr>
              <a:t>条件</a:t>
            </a:r>
            <a:r>
              <a:rPr lang="zh-CN" altLang="en-US" sz="2400" dirty="0">
                <a:ea typeface="楷体_GB2312" panose="02010609030101010101" pitchFamily="49" charset="-122"/>
              </a:rPr>
              <a:t>判断的</a:t>
            </a:r>
            <a:r>
              <a:rPr lang="zh-CN" altLang="en-US" sz="2400" dirty="0" smtClean="0">
                <a:ea typeface="楷体_GB2312" panose="02010609030101010101" pitchFamily="49" charset="-122"/>
              </a:rPr>
              <a:t>替换</a:t>
            </a:r>
            <a:endParaRPr lang="en-US" altLang="zh-CN" sz="2400" dirty="0" smtClean="0">
              <a:ea typeface="楷体_GB2312" panose="02010609030101010101" pitchFamily="49" charset="-122"/>
            </a:endParaRPr>
          </a:p>
          <a:p>
            <a:pPr marL="533400" eaLnBrk="1" hangingPunct="1">
              <a:buFont typeface="Wingdings" panose="05000000000000000000" pitchFamily="2" charset="2"/>
              <a:buChar char="Ø"/>
            </a:pPr>
            <a:r>
              <a:rPr lang="en-US" altLang="zh-CN" sz="2400" dirty="0" err="1">
                <a:latin typeface="Times New Roman" panose="02020603050405020304" pitchFamily="18" charset="0"/>
                <a:ea typeface="楷体_GB2312" panose="02010609030101010101" pitchFamily="49" charset="-122"/>
                <a:cs typeface="Times New Roman" panose="02020603050405020304" pitchFamily="18" charset="0"/>
              </a:rPr>
              <a:t>in_line</a:t>
            </a:r>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 </a:t>
            </a:r>
            <a:r>
              <a:rPr lang="zh-CN" altLang="en-US" sz="2400" dirty="0">
                <a:latin typeface="Times New Roman" panose="02020603050405020304" pitchFamily="18" charset="0"/>
                <a:ea typeface="楷体_GB2312" panose="02010609030101010101" pitchFamily="49" charset="-122"/>
                <a:cs typeface="Times New Roman" panose="02020603050405020304" pitchFamily="18" charset="0"/>
              </a:rPr>
              <a:t>展开</a:t>
            </a:r>
          </a:p>
          <a:p>
            <a:pPr marL="266700" indent="-266700" eaLnBrk="1" hangingPunct="1"/>
            <a:endParaRPr lang="zh-CN" altLang="en-US" sz="2400"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标题 1"/>
          <p:cNvSpPr txBox="1">
            <a:spLocks/>
          </p:cNvSpPr>
          <p:nvPr/>
        </p:nvSpPr>
        <p:spPr>
          <a:xfrm>
            <a:off x="1017588" y="609600"/>
            <a:ext cx="7154812" cy="685800"/>
          </a:xfrm>
          <a:prstGeom prst="rect">
            <a:avLst/>
          </a:prstGeom>
        </p:spPr>
        <p:txBody>
          <a:bodyPr/>
          <a:lstStyle>
            <a:lvl1pPr algn="ctr" rtl="0" eaLnBrk="0" fontAlgn="base" hangingPunct="0">
              <a:spcBef>
                <a:spcPct val="0"/>
              </a:spcBef>
              <a:spcAft>
                <a:spcPct val="0"/>
              </a:spcAft>
              <a:defRPr kumimoji="1" sz="3200" b="1">
                <a:solidFill>
                  <a:schemeClr val="accent2"/>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5pPr>
            <a:lvl6pPr marL="4572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6pPr>
            <a:lvl7pPr marL="9144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7pPr>
            <a:lvl8pPr marL="13716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8pPr>
            <a:lvl9pPr marL="18288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9pPr>
          </a:lstStyle>
          <a:p>
            <a:r>
              <a:rPr lang="zh-CN" altLang="en-US" sz="3600" kern="0" dirty="0" smtClean="0"/>
              <a:t>第十一章  中间代码优化</a:t>
            </a:r>
            <a:endParaRPr lang="zh-CN" altLang="en-US" sz="3600" kern="0" dirty="0"/>
          </a:p>
        </p:txBody>
      </p:sp>
      <p:sp>
        <p:nvSpPr>
          <p:cNvPr id="2" name="右箭头 1"/>
          <p:cNvSpPr/>
          <p:nvPr/>
        </p:nvSpPr>
        <p:spPr bwMode="auto">
          <a:xfrm>
            <a:off x="2193369" y="2248408"/>
            <a:ext cx="504056" cy="216024"/>
          </a:xfrm>
          <a:prstGeom prst="rightArrow">
            <a:avLst/>
          </a:prstGeom>
          <a:solidFill>
            <a:schemeClr val="bg1">
              <a:lumMod val="25000"/>
            </a:schemeClr>
          </a:solidFill>
          <a:ln>
            <a:noFill/>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endParaRPr>
          </a:p>
        </p:txBody>
      </p:sp>
      <p:sp>
        <p:nvSpPr>
          <p:cNvPr id="5" name="右箭头 4"/>
          <p:cNvSpPr/>
          <p:nvPr/>
        </p:nvSpPr>
        <p:spPr bwMode="auto">
          <a:xfrm>
            <a:off x="3347864" y="2244214"/>
            <a:ext cx="504056" cy="216024"/>
          </a:xfrm>
          <a:prstGeom prst="rightArrow">
            <a:avLst/>
          </a:prstGeom>
          <a:solidFill>
            <a:schemeClr val="bg1">
              <a:lumMod val="25000"/>
            </a:schemeClr>
          </a:solidFill>
          <a:ln>
            <a:noFill/>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8352906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4294967295"/>
          </p:nvPr>
        </p:nvSpPr>
        <p:spPr bwMode="auto">
          <a:xfrm>
            <a:off x="179388" y="1628800"/>
            <a:ext cx="8229600" cy="448738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66700" indent="-266700" eaLnBrk="1" hangingPunct="1"/>
            <a:r>
              <a:rPr lang="zh-CN" altLang="en-US" sz="2800" dirty="0" smtClean="0">
                <a:ea typeface="楷体" panose="02010609060101010101" pitchFamily="49" charset="-122"/>
                <a:cs typeface="Times New Roman" panose="02020603050405020304" pitchFamily="18" charset="0"/>
              </a:rPr>
              <a:t>微处理器体系结构基础知识（</a:t>
            </a:r>
            <a:r>
              <a:rPr lang="en-US" altLang="zh-CN" sz="2800" dirty="0" smtClean="0">
                <a:ea typeface="楷体" panose="02010609060101010101" pitchFamily="49" charset="-122"/>
                <a:cs typeface="Times New Roman" panose="02020603050405020304" pitchFamily="18" charset="0"/>
              </a:rPr>
              <a:t>4</a:t>
            </a:r>
            <a:r>
              <a:rPr lang="zh-CN" altLang="en-US" sz="2800" dirty="0">
                <a:ea typeface="楷体" panose="02010609060101010101" pitchFamily="49" charset="-122"/>
                <a:cs typeface="Times New Roman" panose="02020603050405020304" pitchFamily="18" charset="0"/>
              </a:rPr>
              <a:t>种现代微处理器体系结构</a:t>
            </a:r>
            <a:r>
              <a:rPr lang="zh-CN" altLang="en-US" sz="2800" dirty="0" smtClean="0">
                <a:ea typeface="楷体" panose="02010609060101010101" pitchFamily="49" charset="-122"/>
                <a:cs typeface="Times New Roman" panose="02020603050405020304" pitchFamily="18" charset="0"/>
              </a:rPr>
              <a:t>）</a:t>
            </a:r>
            <a:endParaRPr lang="en-US" altLang="zh-CN" sz="2800" dirty="0" smtClean="0">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2800" dirty="0">
                <a:ea typeface="楷体" panose="02010609060101010101" pitchFamily="49" charset="-122"/>
                <a:cs typeface="Times New Roman" panose="02020603050405020304" pitchFamily="18" charset="0"/>
              </a:rPr>
              <a:t>栈</a:t>
            </a:r>
            <a:r>
              <a:rPr lang="zh-CN" altLang="en-US" sz="2800" dirty="0" smtClean="0">
                <a:ea typeface="楷体" panose="02010609060101010101" pitchFamily="49" charset="-122"/>
                <a:cs typeface="Times New Roman" panose="02020603050405020304" pitchFamily="18" charset="0"/>
              </a:rPr>
              <a:t>式</a:t>
            </a:r>
            <a:endParaRPr lang="en-US" altLang="zh-CN" sz="2800" dirty="0" smtClean="0">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2800" dirty="0">
                <a:ea typeface="楷体" panose="02010609060101010101" pitchFamily="49" charset="-122"/>
                <a:cs typeface="Times New Roman" panose="02020603050405020304" pitchFamily="18" charset="0"/>
              </a:rPr>
              <a:t>累加器</a:t>
            </a:r>
            <a:r>
              <a:rPr lang="zh-CN" altLang="en-US" sz="2800" dirty="0" smtClean="0">
                <a:ea typeface="楷体" panose="02010609060101010101" pitchFamily="49" charset="-122"/>
                <a:cs typeface="Times New Roman" panose="02020603050405020304" pitchFamily="18" charset="0"/>
              </a:rPr>
              <a:t>式</a:t>
            </a:r>
            <a:endParaRPr lang="en-US" altLang="zh-CN" sz="2800" dirty="0" smtClean="0">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2800" dirty="0" smtClean="0">
                <a:ea typeface="楷体" panose="02010609060101010101" pitchFamily="49" charset="-122"/>
                <a:cs typeface="Times New Roman" panose="02020603050405020304" pitchFamily="18" charset="0"/>
              </a:rPr>
              <a:t>寄存器</a:t>
            </a:r>
            <a:r>
              <a:rPr lang="en-US" altLang="zh-CN" sz="2800" dirty="0" smtClean="0">
                <a:ea typeface="楷体" panose="02010609060101010101" pitchFamily="49" charset="-122"/>
                <a:cs typeface="Times New Roman" panose="02020603050405020304" pitchFamily="18" charset="0"/>
              </a:rPr>
              <a:t>-</a:t>
            </a:r>
            <a:r>
              <a:rPr lang="zh-CN" altLang="en-US" sz="2800" dirty="0" smtClean="0">
                <a:ea typeface="楷体" panose="02010609060101010101" pitchFamily="49" charset="-122"/>
                <a:cs typeface="Times New Roman" panose="02020603050405020304" pitchFamily="18" charset="0"/>
              </a:rPr>
              <a:t>内存式 </a:t>
            </a:r>
            <a:r>
              <a:rPr lang="pt-BR" altLang="zh-CN" sz="2800" dirty="0" smtClean="0">
                <a:latin typeface="+mn-lt"/>
                <a:ea typeface="楷体" panose="02010609060101010101" pitchFamily="49" charset="-122"/>
                <a:cs typeface="Times New Roman" panose="02020603050405020304" pitchFamily="18" charset="0"/>
              </a:rPr>
              <a:t>(</a:t>
            </a:r>
            <a:r>
              <a:rPr lang="pt-BR" altLang="zh-CN" sz="2800" dirty="0">
                <a:latin typeface="+mn-lt"/>
                <a:ea typeface="楷体" panose="02010609060101010101" pitchFamily="49" charset="-122"/>
                <a:cs typeface="Times New Roman" panose="02020603050405020304" pitchFamily="18" charset="0"/>
              </a:rPr>
              <a:t>CISC) </a:t>
            </a:r>
            <a:endParaRPr lang="en-US" altLang="zh-CN" sz="2800" dirty="0" smtClean="0">
              <a:latin typeface="+mn-lt"/>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2800" dirty="0" smtClean="0">
                <a:latin typeface="+mn-lt"/>
                <a:ea typeface="楷体" panose="02010609060101010101" pitchFamily="49" charset="-122"/>
                <a:cs typeface="Times New Roman" panose="02020603050405020304" pitchFamily="18" charset="0"/>
              </a:rPr>
              <a:t>寄存器</a:t>
            </a:r>
            <a:r>
              <a:rPr lang="en-US" altLang="zh-CN" sz="2800" dirty="0" smtClean="0">
                <a:latin typeface="+mn-lt"/>
                <a:ea typeface="楷体" panose="02010609060101010101" pitchFamily="49" charset="-122"/>
                <a:cs typeface="Times New Roman" panose="02020603050405020304" pitchFamily="18" charset="0"/>
              </a:rPr>
              <a:t>-</a:t>
            </a:r>
            <a:r>
              <a:rPr lang="zh-CN" altLang="en-US" sz="2800" dirty="0" smtClean="0">
                <a:latin typeface="+mn-lt"/>
                <a:ea typeface="楷体" panose="02010609060101010101" pitchFamily="49" charset="-122"/>
                <a:cs typeface="Times New Roman" panose="02020603050405020304" pitchFamily="18" charset="0"/>
              </a:rPr>
              <a:t>寄存器式 </a:t>
            </a:r>
            <a:r>
              <a:rPr lang="pt-BR" altLang="zh-CN" sz="2800" dirty="0" smtClean="0">
                <a:latin typeface="+mn-lt"/>
                <a:ea typeface="楷体" panose="02010609060101010101" pitchFamily="49" charset="-122"/>
                <a:cs typeface="Times New Roman" panose="02020603050405020304" pitchFamily="18" charset="0"/>
              </a:rPr>
              <a:t>(</a:t>
            </a:r>
            <a:r>
              <a:rPr lang="en-US" altLang="zh-CN" sz="2800" dirty="0" smtClean="0">
                <a:latin typeface="+mn-lt"/>
                <a:ea typeface="楷体" panose="02010609060101010101" pitchFamily="49" charset="-122"/>
                <a:cs typeface="Times New Roman" panose="02020603050405020304" pitchFamily="18" charset="0"/>
              </a:rPr>
              <a:t>R</a:t>
            </a:r>
            <a:r>
              <a:rPr lang="pt-BR" altLang="zh-CN" sz="2800" dirty="0" smtClean="0">
                <a:latin typeface="+mn-lt"/>
                <a:ea typeface="楷体" panose="02010609060101010101" pitchFamily="49" charset="-122"/>
                <a:cs typeface="Times New Roman" panose="02020603050405020304" pitchFamily="18" charset="0"/>
              </a:rPr>
              <a:t>ISC</a:t>
            </a:r>
            <a:r>
              <a:rPr lang="pt-BR" altLang="zh-CN" sz="2800" dirty="0">
                <a:latin typeface="+mn-lt"/>
                <a:ea typeface="楷体" panose="02010609060101010101" pitchFamily="49" charset="-122"/>
                <a:cs typeface="Times New Roman" panose="02020603050405020304" pitchFamily="18" charset="0"/>
              </a:rPr>
              <a:t>) </a:t>
            </a:r>
            <a:endParaRPr lang="pt-BR" altLang="zh-CN" sz="2800" dirty="0" smtClean="0">
              <a:latin typeface="+mn-lt"/>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endParaRPr lang="pt-BR" altLang="zh-CN" sz="2800" dirty="0">
              <a:latin typeface="+mn-lt"/>
              <a:ea typeface="楷体" panose="02010609060101010101" pitchFamily="49" charset="-122"/>
              <a:cs typeface="Times New Roman" panose="02020603050405020304" pitchFamily="18" charset="0"/>
            </a:endParaRPr>
          </a:p>
          <a:p>
            <a:pPr marL="0" indent="0" eaLnBrk="1" hangingPunct="1">
              <a:buNone/>
            </a:pPr>
            <a:r>
              <a:rPr lang="zh-CN" altLang="en-US" sz="2800" dirty="0" smtClean="0">
                <a:latin typeface="+mn-lt"/>
                <a:ea typeface="楷体" panose="02010609060101010101" pitchFamily="49" charset="-122"/>
                <a:cs typeface="Times New Roman" panose="02020603050405020304" pitchFamily="18" charset="0"/>
              </a:rPr>
              <a:t>        关键是要理解使用内存和寄存器</a:t>
            </a:r>
            <a:r>
              <a:rPr lang="zh-CN" altLang="en-US" sz="2800" dirty="0">
                <a:latin typeface="+mn-lt"/>
                <a:ea typeface="楷体" panose="02010609060101010101" pitchFamily="49" charset="-122"/>
                <a:cs typeface="Times New Roman" panose="02020603050405020304" pitchFamily="18" charset="0"/>
              </a:rPr>
              <a:t>的区别。原则是尽可能少地访问寄存器之外的</a:t>
            </a:r>
            <a:r>
              <a:rPr lang="zh-CN" altLang="en-US" sz="2800" dirty="0" smtClean="0">
                <a:latin typeface="+mn-lt"/>
                <a:ea typeface="楷体" panose="02010609060101010101" pitchFamily="49" charset="-122"/>
                <a:cs typeface="Times New Roman" panose="02020603050405020304" pitchFamily="18" charset="0"/>
              </a:rPr>
              <a:t>存储设备！</a:t>
            </a:r>
          </a:p>
        </p:txBody>
      </p:sp>
      <p:sp>
        <p:nvSpPr>
          <p:cNvPr id="4" name="标题 1"/>
          <p:cNvSpPr txBox="1">
            <a:spLocks/>
          </p:cNvSpPr>
          <p:nvPr/>
        </p:nvSpPr>
        <p:spPr>
          <a:xfrm>
            <a:off x="1017588" y="609600"/>
            <a:ext cx="7154812" cy="685800"/>
          </a:xfrm>
          <a:prstGeom prst="rect">
            <a:avLst/>
          </a:prstGeom>
        </p:spPr>
        <p:txBody>
          <a:bodyPr/>
          <a:lstStyle>
            <a:lvl1pPr algn="ctr" rtl="0" eaLnBrk="0" fontAlgn="base" hangingPunct="0">
              <a:spcBef>
                <a:spcPct val="0"/>
              </a:spcBef>
              <a:spcAft>
                <a:spcPct val="0"/>
              </a:spcAft>
              <a:defRPr kumimoji="1" sz="3200" b="1">
                <a:solidFill>
                  <a:schemeClr val="accent2"/>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5pPr>
            <a:lvl6pPr marL="4572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6pPr>
            <a:lvl7pPr marL="9144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7pPr>
            <a:lvl8pPr marL="13716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8pPr>
            <a:lvl9pPr marL="18288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9pPr>
          </a:lstStyle>
          <a:p>
            <a:r>
              <a:rPr lang="zh-CN" altLang="en-US" sz="3600" kern="0" dirty="0" smtClean="0"/>
              <a:t>第十二章 目标代码</a:t>
            </a:r>
            <a:r>
              <a:rPr lang="zh-CN" altLang="en-US" sz="3600" kern="0" dirty="0"/>
              <a:t>生成及优化</a:t>
            </a:r>
          </a:p>
        </p:txBody>
      </p:sp>
    </p:spTree>
    <p:extLst>
      <p:ext uri="{BB962C8B-B14F-4D97-AF65-F5344CB8AC3E}">
        <p14:creationId xmlns:p14="http://schemas.microsoft.com/office/powerpoint/2010/main" val="27644889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4294967295"/>
          </p:nvPr>
        </p:nvSpPr>
        <p:spPr bwMode="auto">
          <a:xfrm>
            <a:off x="179388" y="1628800"/>
            <a:ext cx="8229600" cy="47336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66700" indent="-266700" eaLnBrk="1" hangingPunct="1"/>
            <a:r>
              <a:rPr lang="zh-CN" altLang="en-US" sz="2800"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构建</a:t>
            </a:r>
            <a:r>
              <a:rPr lang="zh-CN" altLang="en-US" sz="2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冲突图</a:t>
            </a:r>
          </a:p>
          <a:p>
            <a:pPr lvl="1" eaLnBrk="1" hangingPunct="1">
              <a:buFont typeface="Wingdings" panose="05000000000000000000" pitchFamily="2" charset="2"/>
              <a:buChar char="Ø"/>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变量冲突的基本概念</a:t>
            </a:r>
          </a:p>
          <a:p>
            <a:pPr lvl="1" eaLnBrk="1" hangingPunct="1">
              <a:buFont typeface="Wingdings" panose="05000000000000000000" pitchFamily="2" charset="2"/>
              <a:buChar char="Ø"/>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通过活跃变量分析构建（精度不太高的）冲突图</a:t>
            </a:r>
          </a:p>
          <a:p>
            <a:pPr marL="266700" indent="-266700" eaLnBrk="1" hangingPunct="1"/>
            <a:r>
              <a:rPr lang="zh-CN" altLang="en-US" sz="2800" dirty="0">
                <a:solidFill>
                  <a:srgbClr val="FF0000"/>
                </a:solidFill>
                <a:ea typeface="楷体" panose="02010609060101010101" pitchFamily="49" charset="-122"/>
                <a:cs typeface="Times New Roman" panose="02020603050405020304" pitchFamily="18" charset="0"/>
              </a:rPr>
              <a:t>寄存器的分配和指派</a:t>
            </a:r>
            <a:endParaRPr lang="en-US" altLang="zh-CN" sz="2800" dirty="0">
              <a:solidFill>
                <a:srgbClr val="FF0000"/>
              </a:solidFill>
              <a:ea typeface="楷体" panose="02010609060101010101" pitchFamily="49" charset="-122"/>
              <a:cs typeface="Times New Roman" panose="02020603050405020304" pitchFamily="18" charset="0"/>
            </a:endParaRPr>
          </a:p>
          <a:p>
            <a:pPr lvl="1" eaLnBrk="1" hangingPunct="1">
              <a:buFont typeface="Wingdings" panose="05000000000000000000" pitchFamily="2" charset="2"/>
              <a:buChar char="Ø"/>
            </a:pPr>
            <a:r>
              <a:rPr lang="zh-CN" altLang="en-US" sz="2400" b="1" dirty="0" smtClean="0">
                <a:ea typeface="楷体" panose="02010609060101010101" pitchFamily="49" charset="-122"/>
                <a:cs typeface="Times New Roman" panose="02020603050405020304" pitchFamily="18" charset="0"/>
              </a:rPr>
              <a:t>全局寄存器分配算法</a:t>
            </a:r>
          </a:p>
          <a:p>
            <a:pPr marL="914400" lvl="1" indent="-457200" eaLnBrk="1" hangingPunct="1">
              <a:buFont typeface="+mj-lt"/>
              <a:buAutoNum type="arabicPeriod"/>
            </a:pPr>
            <a:r>
              <a:rPr lang="zh-CN" altLang="en-US" sz="2400" dirty="0" smtClean="0">
                <a:ea typeface="楷体" panose="02010609060101010101" pitchFamily="49" charset="-122"/>
                <a:cs typeface="Times New Roman" panose="02020603050405020304" pitchFamily="18" charset="0"/>
              </a:rPr>
              <a:t>引用计数</a:t>
            </a:r>
          </a:p>
          <a:p>
            <a:pPr marL="914400" lvl="1" indent="-457200" eaLnBrk="1" hangingPunct="1">
              <a:buClr>
                <a:schemeClr val="tx1"/>
              </a:buClr>
              <a:buFont typeface="+mj-lt"/>
              <a:buAutoNum type="arabicPeriod"/>
            </a:pPr>
            <a:r>
              <a:rPr lang="zh-CN" altLang="en-US" sz="2400" b="1" dirty="0" smtClean="0">
                <a:solidFill>
                  <a:srgbClr val="FF0000"/>
                </a:solidFill>
                <a:ea typeface="楷体" panose="02010609060101010101" pitchFamily="49" charset="-122"/>
                <a:cs typeface="Times New Roman" panose="02020603050405020304" pitchFamily="18" charset="0"/>
              </a:rPr>
              <a:t>图着色</a:t>
            </a:r>
          </a:p>
          <a:p>
            <a:pPr lvl="1" eaLnBrk="1" hangingPunct="1">
              <a:buFont typeface="Wingdings" panose="05000000000000000000" pitchFamily="2" charset="2"/>
              <a:buChar char="Ø"/>
            </a:pPr>
            <a:r>
              <a:rPr lang="zh-CN" altLang="en-US" sz="2400" dirty="0">
                <a:ea typeface="楷体" panose="02010609060101010101" pitchFamily="49" charset="-122"/>
                <a:cs typeface="Times New Roman" panose="02020603050405020304" pitchFamily="18" charset="0"/>
              </a:rPr>
              <a:t>临时寄存器池管理</a:t>
            </a:r>
            <a:r>
              <a:rPr lang="zh-CN" altLang="en-US" sz="2400" dirty="0" smtClean="0">
                <a:ea typeface="楷体" panose="02010609060101010101" pitchFamily="49" charset="-122"/>
                <a:cs typeface="Times New Roman" panose="02020603050405020304" pitchFamily="18" charset="0"/>
              </a:rPr>
              <a:t>方法</a:t>
            </a:r>
            <a:endParaRPr lang="en-US" altLang="zh-CN" sz="2400" dirty="0" smtClean="0">
              <a:ea typeface="楷体" panose="02010609060101010101" pitchFamily="49" charset="-122"/>
              <a:cs typeface="Times New Roman" panose="02020603050405020304" pitchFamily="18" charset="0"/>
            </a:endParaRPr>
          </a:p>
          <a:p>
            <a:pPr marL="457200" lvl="1" indent="-457200" eaLnBrk="1" hangingPunct="1">
              <a:buSzPct val="60000"/>
              <a:buFont typeface="Wingdings" panose="05000000000000000000" pitchFamily="2" charset="2"/>
              <a:buChar char="l"/>
            </a:pPr>
            <a:r>
              <a:rPr lang="zh-CN" altLang="en-US" dirty="0">
                <a:solidFill>
                  <a:srgbClr val="FF0000"/>
                </a:solidFill>
                <a:ea typeface="楷体" panose="02010609060101010101" pitchFamily="49" charset="-122"/>
                <a:cs typeface="Times New Roman" panose="02020603050405020304" pitchFamily="18" charset="0"/>
              </a:rPr>
              <a:t>指令</a:t>
            </a:r>
            <a:r>
              <a:rPr lang="zh-CN" altLang="en-US" dirty="0" smtClean="0">
                <a:solidFill>
                  <a:srgbClr val="FF0000"/>
                </a:solidFill>
                <a:ea typeface="楷体" panose="02010609060101010101" pitchFamily="49" charset="-122"/>
                <a:cs typeface="Times New Roman" panose="02020603050405020304" pitchFamily="18" charset="0"/>
              </a:rPr>
              <a:t>选择</a:t>
            </a:r>
            <a:endParaRPr lang="en-US" altLang="zh-CN" dirty="0" smtClean="0">
              <a:solidFill>
                <a:srgbClr val="FF0000"/>
              </a:solidFill>
              <a:ea typeface="楷体" panose="02010609060101010101" pitchFamily="49" charset="-122"/>
              <a:cs typeface="Times New Roman" panose="02020603050405020304" pitchFamily="18" charset="0"/>
            </a:endParaRPr>
          </a:p>
          <a:p>
            <a:pPr lvl="1" eaLnBrk="1" hangingPunct="1">
              <a:buSzPct val="100000"/>
              <a:buFont typeface="Wingdings" panose="05000000000000000000" pitchFamily="2" charset="2"/>
              <a:buChar char="Ø"/>
            </a:pPr>
            <a:r>
              <a:rPr lang="zh-CN" altLang="en-US" sz="2400" dirty="0">
                <a:ea typeface="楷体" panose="02010609060101010101" pitchFamily="49" charset="-122"/>
                <a:cs typeface="Times New Roman" panose="02020603050405020304" pitchFamily="18" charset="0"/>
              </a:rPr>
              <a:t>套用模板、窥孔优化</a:t>
            </a:r>
          </a:p>
        </p:txBody>
      </p:sp>
      <p:sp>
        <p:nvSpPr>
          <p:cNvPr id="4" name="标题 1"/>
          <p:cNvSpPr txBox="1">
            <a:spLocks/>
          </p:cNvSpPr>
          <p:nvPr/>
        </p:nvSpPr>
        <p:spPr>
          <a:xfrm>
            <a:off x="1017588" y="609600"/>
            <a:ext cx="7154812" cy="685800"/>
          </a:xfrm>
          <a:prstGeom prst="rect">
            <a:avLst/>
          </a:prstGeom>
        </p:spPr>
        <p:txBody>
          <a:bodyPr/>
          <a:lstStyle>
            <a:lvl1pPr algn="ctr" rtl="0" eaLnBrk="0" fontAlgn="base" hangingPunct="0">
              <a:spcBef>
                <a:spcPct val="0"/>
              </a:spcBef>
              <a:spcAft>
                <a:spcPct val="0"/>
              </a:spcAft>
              <a:defRPr kumimoji="1" sz="3200" b="1">
                <a:solidFill>
                  <a:schemeClr val="accent2"/>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kumimoji="1" sz="3200" b="1">
                <a:solidFill>
                  <a:schemeClr val="accent2"/>
                </a:solidFill>
                <a:effectLst>
                  <a:outerShdw blurRad="38100" dist="38100" dir="2700000" algn="tl">
                    <a:srgbClr val="C0C0C0"/>
                  </a:outerShdw>
                </a:effectLst>
                <a:latin typeface="宋体" panose="02010600030101010101" pitchFamily="2" charset="-122"/>
                <a:ea typeface="宋体" panose="02010600030101010101" pitchFamily="2" charset="-122"/>
              </a:defRPr>
            </a:lvl5pPr>
            <a:lvl6pPr marL="4572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6pPr>
            <a:lvl7pPr marL="9144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7pPr>
            <a:lvl8pPr marL="13716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8pPr>
            <a:lvl9pPr marL="18288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itchFamily="18" charset="0"/>
                <a:ea typeface="仿宋_GB2312" pitchFamily="49" charset="-122"/>
              </a:defRPr>
            </a:lvl9pPr>
          </a:lstStyle>
          <a:p>
            <a:r>
              <a:rPr lang="zh-CN" altLang="en-US" sz="3600" kern="0" dirty="0" smtClean="0"/>
              <a:t>第十二章 目标代码</a:t>
            </a:r>
            <a:r>
              <a:rPr lang="zh-CN" altLang="en-US" sz="3600" kern="0" dirty="0"/>
              <a:t>生成及优化</a:t>
            </a:r>
          </a:p>
        </p:txBody>
      </p:sp>
    </p:spTree>
    <p:extLst>
      <p:ext uri="{BB962C8B-B14F-4D97-AF65-F5344CB8AC3E}">
        <p14:creationId xmlns:p14="http://schemas.microsoft.com/office/powerpoint/2010/main" val="3512326728"/>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
      <a:dk1>
        <a:srgbClr val="000000"/>
      </a:dk1>
      <a:lt1>
        <a:srgbClr val="FEFFFF"/>
      </a:lt1>
      <a:dk2>
        <a:srgbClr val="000000"/>
      </a:dk2>
      <a:lt2>
        <a:srgbClr val="969696"/>
      </a:lt2>
      <a:accent1>
        <a:srgbClr val="00CC99"/>
      </a:accent1>
      <a:accent2>
        <a:srgbClr val="3333CC"/>
      </a:accent2>
      <a:accent3>
        <a:srgbClr val="FE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仿宋_GB2312"/>
        <a:cs typeface=""/>
      </a:majorFont>
      <a:minorFont>
        <a:latin typeface="Times New Roman"/>
        <a:ea typeface="仿宋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00"/>
        </a:solidFill>
        <a:ln>
          <a:noFill/>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rgbClr val="FFFF00"/>
        </a:solidFill>
        <a:ln>
          <a:noFill/>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4128</TotalTime>
  <Words>5020</Words>
  <Application>Microsoft Office PowerPoint</Application>
  <PresentationFormat>全屏显示(4:3)</PresentationFormat>
  <Paragraphs>568</Paragraphs>
  <Slides>42</Slides>
  <Notes>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54" baseType="lpstr">
      <vt:lpstr>仿宋_GB2312</vt:lpstr>
      <vt:lpstr>华文行楷</vt:lpstr>
      <vt:lpstr>楷体</vt:lpstr>
      <vt:lpstr>楷体_GB2312</vt:lpstr>
      <vt:lpstr>隶书</vt:lpstr>
      <vt:lpstr>宋体</vt:lpstr>
      <vt:lpstr>Arial</vt:lpstr>
      <vt:lpstr>Symbol</vt:lpstr>
      <vt:lpstr>Times New Roman</vt:lpstr>
      <vt:lpstr>Wingdings</vt:lpstr>
      <vt:lpstr>默认设计模板</vt:lpstr>
      <vt:lpstr>剪辑</vt:lpstr>
      <vt:lpstr>编译原理与技术 总结</vt:lpstr>
      <vt:lpstr>第一章 绪论</vt:lpstr>
      <vt:lpstr>第一章 绪论</vt:lpstr>
      <vt:lpstr>第一章 绪论</vt:lpstr>
      <vt:lpstr>第二章 文法和语言</vt:lpstr>
      <vt:lpstr>第二章 文法和语言</vt:lpstr>
      <vt:lpstr>第二章 文法和语言</vt:lpstr>
      <vt:lpstr>第三章 词法分析</vt:lpstr>
      <vt:lpstr>第三章 词法分析</vt:lpstr>
      <vt:lpstr>第三章 词法分析</vt:lpstr>
      <vt:lpstr>第三章 词法分析</vt:lpstr>
      <vt:lpstr>第四章 语法分析</vt:lpstr>
      <vt:lpstr>第四章 语法分析</vt:lpstr>
      <vt:lpstr>第四章 语法分析</vt:lpstr>
      <vt:lpstr>第四章 语法分析</vt:lpstr>
      <vt:lpstr>第四章 语法分析</vt:lpstr>
      <vt:lpstr>第五章 语法制导的翻译</vt:lpstr>
      <vt:lpstr>第六章 符号表管理</vt:lpstr>
      <vt:lpstr>第六章 符号表管理</vt:lpstr>
      <vt:lpstr>第六章 符号表管理</vt:lpstr>
      <vt:lpstr>第七章 运行时的存储组织及管理</vt:lpstr>
      <vt:lpstr>PowerPoint 演示文稿</vt:lpstr>
      <vt:lpstr>PowerPoint 演示文稿</vt:lpstr>
      <vt:lpstr>第七章 运行时的存储组织及管理</vt:lpstr>
      <vt:lpstr>12.2 地址空间</vt:lpstr>
      <vt:lpstr>PowerPoint 演示文稿</vt:lpstr>
      <vt:lpstr>PowerPoint 演示文稿</vt:lpstr>
      <vt:lpstr>12.2.2 程序运行栈的设计</vt:lpstr>
      <vt:lpstr>PowerPoint 演示文稿</vt:lpstr>
      <vt:lpstr>函数foo的运行栈示例</vt:lpstr>
      <vt:lpstr>PowerPoint 演示文稿</vt:lpstr>
      <vt:lpstr>一个典型的RISC架构上的运行栈</vt:lpstr>
      <vt:lpstr>第八章 源程序的中间形式</vt:lpstr>
      <vt:lpstr>第九章 错误处理</vt:lpstr>
      <vt:lpstr>第十章  语义分析和中间代码生成</vt:lpstr>
      <vt:lpstr>第十一章  中间代码优化</vt:lpstr>
      <vt:lpstr>第十一章  中间代码优化</vt:lpstr>
      <vt:lpstr>第十一章  中间代码优化</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概论</dc:title>
  <dc:creator>邵兵</dc:creator>
  <cp:lastModifiedBy>a</cp:lastModifiedBy>
  <cp:revision>310</cp:revision>
  <dcterms:created xsi:type="dcterms:W3CDTF">1996-07-15T15:40:02Z</dcterms:created>
  <dcterms:modified xsi:type="dcterms:W3CDTF">2021-12-27T04:45:38Z</dcterms:modified>
</cp:coreProperties>
</file>